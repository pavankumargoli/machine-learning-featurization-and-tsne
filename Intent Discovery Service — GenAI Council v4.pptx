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Ankur Bhakta and Pavan Kumar Goli from CX Engineering. This is a new proof-of-concept proposal under Policy CP6.55 for the AI-Powered Intent Discovery Service. In one sentence: an AI-assisted interviewer that helps BSAs and engineers turn ambiguous requirements into validated, human-approved specifications. It does not generate source code, and it would run in the development environment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asking for two decisions: approval to build a development-only proof of concept, and confirmation of the preliminary Low Risk classification under CP6.55. The six tiles are the boundaries that make this low risk: development environment only with no production connection; Anthropic Claude models as the primary provider and OpenAI models as an approved alternate, all accessed only through AWS Bedrock Runtime, an existing TMCC-approved channel with no new vendor contract; internal, non-personal requirement text only, with an automated PII screen and Bedrock Guardrails blocking restricted data before it is stored or reaches a model; output is specifications and acceptance criteria, never source code; an IR Author and a domain subject-matter expert must approve before anything is finalized; and use is opt-in, internal to CX Engineering and behind corporate SSO sign-in.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patterns were observed repeatedly on the Titles project. Requirements arrive in vague or technology-centric language; terminology is inconsistent so business and engineering never establish a shared Ubiquitous Language; rules say "usually" or "typically" without spelling out the exceptions; acceptance criteria are weak, which produces weak test coverage; and solutions are built around fragments of a feature. The existing required BSA format has not fixed this, because the underlying issue is that prose requirements are hard to validate, drift over time and leave room for silent assumptions. The Titles example makes it concrete: a requirement that says a record should be routed based on "certain exceptions" cannot be built or tested until those exceptions are explicitly enumerated and tied to business logic. The cost is conflicting interpretations, integration gaps, rework, interpretation burden on engineers, and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"why now," and the core thesis of the proposal: the focus is moving from generation to verification. As teams adopt AI coding assistants, ambiguity in intent gets turned into convincing, polished code faster than ever, which makes the problem harder to spot, not easier. The cheapest place to intervene is upstream, before engineering begins, by making intent explicit, shared and checkable.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 is not just to document requirements, but to make business intent explicit, testable and verifiable before implementation begins. The service is deliberately designed not to generate source code. It uses an LLM as an AI-augmented BSA interviewer that asks one closed question at a time until a requirement is decidable. It uses Event Storming and Domain-Driven Design to establish a Ubiquitous Language, identify Bounded Contexts and their relationships through Context Mapping, and define the Aggregates, invariants, decisions and process boundaries that express business intent. After a human confirms the interrogation results, a staged, schema-validated pipeline produces an Event Storming model, a DDD domain model and a machine-checkable Intent Registry. GenAI drafts these and performs a separate Red Team challenge, meaning an adversarial LLM review of the model, not security testing; deterministic code validates structure and references and generates diagrams and the handoff pack. No artifact can be finalized or published without human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Intent-driven development starts from a simple principle: the goal is not just to document requirements, but to make business intent explicit, testable and verifiable before implementation begins. Each row shows a real pattern from today's requirements and the form it leaves the service in. A rule stated as 'usually' becomes a rule with every exception enumerated and a named point where it is enforced. The Titles example, 'route the record based on certain exceptions', becomes a decision table that deterministic code proves is complete and free of contradictions across every input combination. 'The correct status' becomes explicit states, triggers and transitions. Weak acceptance criteria become testable conditions and edge cases, each tied to the evidence that proves it. The traceability chain runs from business outcome to requirement, to rule or decision table, to acceptance criterion, to test evidence, and the non-AI gates check that every link resolves. That is what makes the specification verifiable rather than open to interpretation, and it is what gives engineering and testing a reliable definition of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reflects where AI-assisted engineering is heading: code review splits into two parts. Stage one, before any code exists, is verification of the specification, and that is what this proof of concept covers. It uses three layers. Deterministic, non-AI gates check structure, decision-table coverage and traceability. A separate LLM-as-judge critique, the step we call the Red Team, challenges the model for gaps, contradictions and hidden assumptions; it only raises flags and never edits. Then the IR Author and a domain SME verify that the business meaning is right. Stage two, after code is written, is AI verification of the implementation against the approved specification, using the acceptance criteria and evaluation rubric in the handoff pack. To be clear with the Panel, stage two is a possible future phase. It is out of scope for this request and would come back to the Panel as a separate submission. The benefit of doing stage one well is that review effort moves earlier: intent is settled once, up front, instead of being reconstructed across many pull requests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GenAI is recommended because the task needs contextual reasoning over ambiguous business language, adaptive follow-up questions, reconciliation of conflicting terminology, and synthesis into structured domain models. We considered four alternatives. Templates enforce format but cannot adapt. Linters validate structure but not meaning. Manual peer review stays essential for approval, and it stays in this design, but on its own it has not surfaced gaps early and does not scale. Keyword analysis finds terms but cannot interrogate or synthesize. Deterministic, non-generative methods remain in the design wherever they are sufficient: all validation gates are non-AI.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Benefits fall into three groups. First, catching gaps early: missing or ambiguous requirements surface before engineering starts, and vague acceptance criteria become explicit, testable states, triggers and rules. Second, one shared model of intent: a Ubiquitous Language across business, architecture and engineering, explicit Bounded Context ownership and Context Map relationships before integration decisions, and clear Aggregates for each rule and invariant. Third, verifiable specifications: decision-table coverage is checked deterministically across every defined input combination, which is impractical to do reliably by hand; every rule names its enforcement point and test; corrections and question feedback carry across sessions; and the output is a durable, versionable spec and a structured handoff that makes downstream implementation reviewable.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are all internal to CX Engineering and its partners in requirements work: roughly 15 to 25 engineers and tech leads who build against the specs; 5 to 10 Business Systems Analysts who author requirements; IR Authors, drawn from the BSA group, who approve specifications; 2 to 4 domain architects or SMEs who attest to business correctness; and 3 to 5 engineering managers or tech leads who review specs and prioritize. The trade-off is that users must engage with a more structured, question-driven process than free-form prose, and must review AI-proposed models before approval. That is why the PoC stays opt-in, internal and development-only.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BSA or engineer creates a session for a feature, for example Account Closure. The AI walks a fixed 12-rung ladder, one question at a time: ownership, scope and boundaries, process and timing, business rules, error scenarios, recorded decisions, decision tables, recovery and fallback, reporting and visibility, regulatory, risk tier, and non-goals. Each question is closed: the AI proposes its own answer with consequences. The user can answer (confirm or refine), defer, contest (reject and supply the correct answer, which creates an answer-correction record), or flag the question itself, for example "wrong premise" or "too technical", which is captured as a cross-session learning. As the conversation progresses the tool drafts the spec sections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tinted rows are the human decision points. A person opens the session, responds to every AI proposal, confirms the draft before modeling starts, and, with a domain SME, attests to the finished model. The AI interrogates, drafts, models and challenges; deterministic code validates each modeling stage and generates the diagrams and handoff pack from the approved models only. The Red Team step is an adversarial LLM review of the model, not security testing. Its blocking findings must be resolved or recorded as explicitly approved gaps; advisory findings stay visible. Finalized artifacts are written as versionable Markdown and YAML under specs/feature-slug.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user confirms the draft, the pipeline runs three LLM-drafted stages. The Event Storming model captures actors, commands, domain events, aggregates, policies, read models, external systems and hotspots. The DDD domain model defines the Ubiquitous Language, subdomains, Bounded Contexts, Context Map relationships, Aggregates with invariants, policies and process managers, reusing existing organizational contexts where appropriate. The Intent Registry is the gate artifact: aggregate states and transitions, invariants with a named enforcement point, decision tables, process flows with timeouts, required test evidence per rule, and bounded gaps and non-goals. The user triggers each stage explicitly and sees its status, errors and repair history. Every stage must pass predefined, non-AI checks before the next can run. Be clear with the Panel: these checks establish structure, traceability and decision-table coverage. They do not prove business correctness; that requires human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left to right. A BSA or engineer signs in through corporate SSO and enters internal, non-personal requirement text through a React and TypeScript (Vite) interface. Every input passes an automated PII screen, built on Bedrock Guardrails sensitive-information filters plus custom VIN and TFS account-number patterns, before it is stored or sent to any model; a match is blocked and the user is asked to rephrase with synthetic values. The interface offers chat, a YAML spec editor, a diagram viewer, a decision-table editor, a gap tracker and export. Approved OKF glossary and domain-context material is reviewed and redacted before use. Inside the development-only boundary, a Python 3.12 and FastAPI backend would host the interrogation agent and the Intent Registry manager, with LangGraph managing the interrogation-ladder state machine and the Red Team agent. Storage is dev-only: SQLite for sessions and interrogation history, the file system for Intent Registry YAML bundles, and ChromaDB as a lightweight vector store so the agent can infer bounded-context and aggregate mappings from the OKF knowledge base instead of asking the user. The ESML, DMML and Intent Registry stages are drafted by the LLM, and each must pass a deterministic, non-AI gate from the Intent Validation Engine before the next stage runs, with bounded repair attempts and any unresolved failure returned to a human. The Red Team step is an adversarial LLM review of the model, not security testing; it raises advisory or blocking findings. The IR Author and a domain SME must then both approve before deterministic code generates the diagrams and handoff pack into specs/feature-slug. All LLM calls go through AWS Bedrock Runtime: Claude Sonnet for high-volume interrogation and drafting, Claude Opus for the Red Team and complex decision-table and invariant reasoning, with OpenAI models on Bedrock as an approved alternate. Bedrock Guardrails apply to model input and output, including a prompt-attack filter. The red band lists what is out of bounds.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AI component has a hard limit. The interrogation agent is read-only with respect to finalized specifications: it asks and proposes but cannot approve, finalize or publish. The modeling pipeline drafts intermediate models that remain AI-generated proposals until humans approve them, and a stage that fails deterministic checks cannot be finalized. The Red Team agent, an adversarial LLM review of the model rather than security testing, raises advisory or blocking flags, never automatic edits. On the human side: users can always contest and correct AI answers, and those corrections are retained so the same mistake is less likely to recur; the IR Author and a domain SME approve business correctness, not just structural validity, and each approval is recorded against their SSO identity with a timestamp, with separation of duties so one person cannot hold both approvals; blocking findings must be resolved or converted into a documented gap they both approve; and an offline evaluation harness makes quality regressions measurable, with the PoC owners reviewing results before any prompt or model change is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finalization the tool writes the validated models, the deterministic diagrams, the Red Team findings, and an implementation handoff pack. AGENTS.md captures the ubiquitous language, bounded-context boundaries, business rules and their enforcement points, failure vocabulary and explicit non-goals. tasks.md is an ordered task breakdown. acceptance-criteria.md maps every rule to the test evidence required to prove it. eval-rubric.md explains how to judge an implementation against the specification. These are specifications, instructions and acceptance criteria, not code. The tool contains no code generator, implementation templates or scaffolding. Implementation happens separately, by engineers or a general-purpose coding assistant that consumes the approved pack, and that downstream use is governed separately under existing approvals. This PoC does not perform code generation, directly or indirectly. Diagrams and the pack are generated deterministically from approved models and introduce no model content of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service would only touch descriptions of what software should do. Inputs are feature requirement text typed or dictated by the user, business rules and decision logic, and glossary and architecture references from the internal OKF knowledge base; outputs are internal work product. The PoC would not be designed or approved to process Personal Data, customer records, production data, account numbers, SSNs, or credit or financial data, and users would be instructed not to enter them. That instruction is backed by technical controls: an automated PII screen blocks restricted data before it is stored or sent to a model, and Bedrock Guardrails filter model input and output. The next slide shows the full set of layers. Before use, internal reference content would be reviewed for embedded customer examples or restricted data and redacted or excluded where necessary. LLM calls go only through AWS Bedrock within the approved cloud boundary, and session data, ChromaDB embeddings and generated artifacts remain in the development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Personal data is kept out by technical controls, not just by asking users to behave. Layer one: only SSO-authenticated users in an allow-listed CX Engineering group can sign in, and approval rights follow their role, so every action is attributable. Layer two is the most important: every user input passes an automated PII screen at the API, before it is stored or sent to any model. It uses Amazon Bedrock Guardrails sensitive-information filters for names, emails, phone numbers, addresses, SSNs and card and bank account numbers, plus custom patterns for VINs and TFS account-number formats, because Titles requirements naturally invite real vehicle and account examples. A match is blocked and the user is asked to rephrase with synthetic values. Layer three applies Bedrock Guardrails to model input and output, including a prompt-attack filter against injection through user text or reference content. Layer four screens and manually reviews OKF reference content before it is indexed into ChromaDB. Layer five screens generated artifacts and exports; outputs are schema-constrained and labeled as proposals until approved. Layer six: calls go only to approved Bedrock models within the approved boundary, and per AWS terms prompts are not used for model training, which we will confirm with the BISO. Layer seven: guardrail events are logged without the flagged content, and sessions, embeddings and learnings have a defined retention period. Before go-live we test the guardrails against a seeded suite of synthetic PII and Titles-style identifiers, report detection and false-positive rates to the BISO, and re-run the suite on every prompt, model or guardrail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Mapping to each Policy 6.55 requirement. Bias and discrimination: the tool produces technical specifications only, with no decisions affecting individuals. Privacy: Personal Data, customer records and production data are prohibited; this is enforced by seven layers of technical controls, including an automated PII screen before storage or any model call, Bedrock Guardrails on model input and output, and screening of reference content before indexing, all tested against a seeded synthetic-PII suite before go-live. Confidentiality: only SSO-authenticated, allow-listed users have access; LLM calls go only through TMCC-approved AWS Bedrock, never public GenAI endpoints; session data, embeddings and artifacts stay in the development environment. Intellectual property: output derives from internal requirements only. Misinformation: AI answers and models are labeled as proposals, deterministic checks reject structural inconsistencies, Red Team findings stay visible, and both the IR Author and a domain SME must approve business correctness. Independent validation: non-AI gates check schema conformance, cross-reference integrity, decision-table coverage and verification mapping; humans separately approve correctness under their SSO identity; an offline harness regression-tests prompt and model changes. Disclosure: AI involvement is explicit in the chat turns, Red Team panel and learnings page. Procurement: Bedrock is an existing approved channel, so no new vendor contract is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preliminary assessment is Low Risk, subject to the Panel's confirmation. That assessment depends on the PoC remaining an internal, development-only productivity tool with no Personal Data, no customer or production data, no autonomous business decisions, no production integration and no source-code generation. Any downstream use of the handoff pack by a coding assistant is governed separately under existing approvals. It also depends on the controls being implemented as described: deterministic validation, layered PII guardrails, SSO-authenticated and identity-stamped approvals, retained review records, and mandatory approval by both the IR Author and a domain SME. Limitations to state openly: no CI/CD integration initially, and automated gates establish structural consistency and defined coverage, not semantic completeness or business correctness. Red Team review supplements, and does not replace, independent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measures we would use to judge the PoC, grouped three ways. Specification quality: how many intents are fully specified, how many decision tables are proven complete, and how many acceptance criteria map to executable verification evidence. Delivery: how many edge cases and missing requirements the interrogation surfaces that were not in the original intake, the reduction in back-and-forth between BSAs and engineering, and time from intake to a decidable spec compared with today's manual process. AI output quality: how often ESML, DMML and IR artifacts pass validation first time without the repair loop, and the offline evaluation harness's counts of invented, omitted and misclassified elements per prompt version. Targets and baselines are not yet set; we can agree them with the Panel as a condition of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Accountability is split three ways. The Use Case Owners, Ankur Bhakta and Pavan Kumar Goli, are responsible for PoC delivery, operation, access and data-handling guidance, model configuration, evaluation reviews, audit records, user onboarding and compliance reporting. The IR Author owns specification review and approval. A designated domain SME independently attests that the Ubiquitous Language, Bounded Contexts, Context Map, Aggregates, business rules, decisions and non-goals reflect the intended business outcome. The owners coordinate with the Domain Architect, BISO, DRL and this Panel on any material change to scope, data, provider or deployment, and changes to the interrogation ladder, prompts, schemas, validation rules or evaluation criteria are versioned and reviewed by the owners and the Domain Architect before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we are asking the Panel for two decisions: approval to build and evaluate the Intent Discovery Service as a development-only proof of concept, covering specification only, since downstream coding use of the handoff pack stays under existing approvals, and confirmation of the preliminary Low Risk classification under CP6.55, conditional on the boundaries and controls we have presented. Any material change to scope, data, provider or deployment would be coordinated with the Domain Architect, BISO, DRL and this Panel before it happens.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6407"/>
            <a:ext cx="10566401" cy="402325"/>
          </a:xfrm>
          <a:prstGeom prst="rect">
            <a:avLst/>
          </a:prstGeom>
          <a:noFill/>
          <a:ln/>
        </p:spPr>
        <p:txBody>
          <a:bodyPr wrap="square" lIns="0" tIns="0" rIns="0" bIns="0" rtlCol="0" anchor="t"/>
          <a:lstStyle>
            <a:lvl1pPr algn="l" indent="0" marL="0">
              <a:lnSpc>
                <a:spcPct val="115000"/>
              </a:lnSpc>
              <a:buNone/>
              <a:defRPr lang="en-US" sz="3200" dirty="0">
                <a:solidFill>
                  <a:srgbClr val="1A1A1A"/>
                </a:solidFill>
                <a:latin typeface="Inter" pitchFamily="34" charset="0"/>
                <a:ea typeface="Inter" pitchFamily="34" charset="-122"/>
                <a:cs typeface="Inter"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13532"/>
            <a:ext cx="10566400" cy="4231668"/>
          </a:xfrm>
          <a:prstGeom prst="rect">
            <a:avLst/>
          </a:prstGeom>
          <a:noFill/>
          <a:ln/>
        </p:spPr>
        <p:txBody>
          <a:bodyPr wrap="square" lIns="0" tIns="0" rIns="0" bIns="0" rtlCol="0" anchor="t"/>
          <a:lstStyle>
            <a:lvl1pPr algn="l" indent="0" marL="0">
              <a:lnSpc>
                <a:spcPct val="140000"/>
              </a:lnSpc>
              <a:buNone/>
              <a:defRPr lang="en-US" sz="1600" dirty="0">
                <a:solidFill>
                  <a:srgbClr val="1A1A1A"/>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6407"/>
            <a:ext cx="10566401" cy="402325"/>
          </a:xfrm>
          <a:prstGeom prst="rect">
            <a:avLst/>
          </a:prstGeom>
          <a:noFill/>
          <a:ln/>
        </p:spPr>
        <p:txBody>
          <a:bodyPr wrap="square" lIns="0" tIns="0" rIns="0" bIns="0" rtlCol="0" anchor="t"/>
          <a:lstStyle>
            <a:lvl1pPr algn="l" indent="0" marL="0">
              <a:lnSpc>
                <a:spcPct val="115000"/>
              </a:lnSpc>
              <a:buNone/>
              <a:defRPr lang="en-US" sz="3200" dirty="0">
                <a:solidFill>
                  <a:srgbClr val="1A1A1A"/>
                </a:solidFill>
                <a:latin typeface="Inter" pitchFamily="34" charset="0"/>
                <a:ea typeface="Inter" pitchFamily="34" charset="-122"/>
                <a:cs typeface="Inter"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13532"/>
            <a:ext cx="10566400" cy="4231668"/>
          </a:xfrm>
          <a:prstGeom prst="rect">
            <a:avLst/>
          </a:prstGeom>
          <a:noFill/>
          <a:ln/>
        </p:spPr>
        <p:txBody>
          <a:bodyPr wrap="square" lIns="0" tIns="0" rIns="0" bIns="0" rtlCol="0" anchor="t"/>
          <a:lstStyle>
            <a:lvl1pPr algn="l" indent="0" marL="0">
              <a:lnSpc>
                <a:spcPct val="140000"/>
              </a:lnSpc>
              <a:buNone/>
              <a:defRPr lang="en-US" sz="1600" dirty="0">
                <a:solidFill>
                  <a:srgbClr val="1A1A1A"/>
                </a:solidFill>
                <a:latin typeface="Inter" pitchFamily="34" charset="0"/>
                <a:ea typeface="Inter" pitchFamily="34" charset="-122"/>
                <a:cs typeface="Inter"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2.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slideLayout" Target="../slideLayouts/slideLayout2.xml"/><Relationship Id="rId1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slideLayout" Target="../slideLayouts/slideLayout2.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slideLayout" Target="../slideLayouts/slideLayout2.xml"/><Relationship Id="rId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slideLayout" Target="../slideLayouts/slideLayout2.xml"/><Relationship Id="rId1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E2E"/>
        </a:solidFill>
      </p:bgPr>
    </p:bg>
    <p:spTree>
      <p:nvGrpSpPr>
        <p:cNvPr id="1" name=""/>
        <p:cNvGrpSpPr/>
        <p:nvPr/>
      </p:nvGrpSpPr>
      <p:grpSpPr>
        <a:xfrm>
          <a:off x="0" y="0"/>
          <a:ext cx="0" cy="0"/>
          <a:chOff x="0" y="0"/>
          <a:chExt cx="0" cy="0"/>
        </a:xfrm>
      </p:grpSpPr>
      <p:sp>
        <p:nvSpPr>
          <p:cNvPr id="2" name="Shape 0"/>
          <p:cNvSpPr/>
          <p:nvPr/>
        </p:nvSpPr>
        <p:spPr>
          <a:xfrm>
            <a:off x="0" y="0"/>
            <a:ext cx="12192001" cy="6858000"/>
          </a:xfrm>
          <a:prstGeom prst="rect">
            <a:avLst/>
          </a:prstGeom>
          <a:gradFill rotWithShape="1">
            <a:gsLst>
              <a:gs pos="0">
                <a:srgbClr val="2E2E2E"/>
              </a:gs>
              <a:gs pos="100000">
                <a:srgbClr val="0F0F0F"/>
              </a:gs>
            </a:gsLst>
            <a:lin ang="2700000" scaled="0"/>
          </a:gradFill>
          <a:ln/>
        </p:spPr>
      </p:sp>
      <p:sp>
        <p:nvSpPr>
          <p:cNvPr id="3" name="Shape 1"/>
          <p:cNvSpPr/>
          <p:nvPr/>
        </p:nvSpPr>
        <p:spPr>
          <a:xfrm>
            <a:off x="0" y="0"/>
            <a:ext cx="12192001" cy="609600"/>
          </a:xfrm>
          <a:prstGeom prst="rect">
            <a:avLst/>
          </a:prstGeom>
          <a:solidFill>
            <a:srgbClr val="FFFFFF"/>
          </a:solidFill>
          <a:ln/>
        </p:spPr>
      </p:sp>
      <p:sp>
        <p:nvSpPr>
          <p:cNvPr id="4" name="Shape 2"/>
          <p:cNvSpPr/>
          <p:nvPr/>
        </p:nvSpPr>
        <p:spPr>
          <a:xfrm>
            <a:off x="0" y="596900"/>
            <a:ext cx="12192001" cy="0"/>
          </a:xfrm>
          <a:prstGeom prst="line">
            <a:avLst/>
          </a:prstGeom>
          <a:noFill/>
          <a:ln w="25400">
            <a:solidFill>
              <a:srgbClr val="EB0A1E"/>
            </a:solidFill>
            <a:prstDash val="solid"/>
          </a:ln>
        </p:spPr>
      </p:sp>
      <p:pic>
        <p:nvPicPr>
          <p:cNvPr id="5" name="Image 0" descr="Twelve ascending ladder rungs representing the interrogation ladder">    </p:cNvPr>
          <p:cNvPicPr>
            <a:picLocks noChangeAspect="1"/>
          </p:cNvPicPr>
          <p:nvPr/>
        </p:nvPicPr>
        <p:blipFill>
          <a:blip r:embed="rId1"/>
          <a:srcRect l="0" r="0" t="0" b="0"/>
          <a:stretch/>
        </p:blipFill>
        <p:spPr>
          <a:xfrm>
            <a:off x="9093201" y="1651000"/>
            <a:ext cx="2286000" cy="3556000"/>
          </a:xfrm>
          <a:prstGeom prst="rect">
            <a:avLst/>
          </a:prstGeom>
        </p:spPr>
      </p:pic>
      <p:sp>
        <p:nvSpPr>
          <p:cNvPr id="6" name="Text 3"/>
          <p:cNvSpPr/>
          <p:nvPr/>
        </p:nvSpPr>
        <p:spPr>
          <a:xfrm>
            <a:off x="812800" y="1905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1111"/>
                </a:solidFill>
                <a:latin typeface="Inter" pitchFamily="34" charset="0"/>
                <a:ea typeface="Inter" pitchFamily="34" charset="-122"/>
                <a:cs typeface="Inter" pitchFamily="34" charset="-120"/>
              </a:rPr>
              <a:t>Intent Discovery Service</a:t>
            </a:r>
            <a:endParaRPr lang="en-US" sz="1200" dirty="0"/>
          </a:p>
        </p:txBody>
      </p:sp>
      <p:sp>
        <p:nvSpPr>
          <p:cNvPr id="7" name="Text 4"/>
          <p:cNvSpPr/>
          <p:nvPr/>
        </p:nvSpPr>
        <p:spPr>
          <a:xfrm>
            <a:off x="6800850" y="190500"/>
            <a:ext cx="457835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nter" pitchFamily="34" charset="0"/>
                <a:ea typeface="Inter" pitchFamily="34" charset="-122"/>
                <a:cs typeface="Inter" pitchFamily="34" charset="-120"/>
              </a:rPr>
              <a:t>GenAI Governance Panel</a:t>
            </a:r>
            <a:endParaRPr lang="en-US" sz="1200" dirty="0"/>
          </a:p>
        </p:txBody>
      </p:sp>
      <p:sp>
        <p:nvSpPr>
          <p:cNvPr id="8" name="Text 5"/>
          <p:cNvSpPr/>
          <p:nvPr/>
        </p:nvSpPr>
        <p:spPr>
          <a:xfrm>
            <a:off x="812800" y="1168400"/>
            <a:ext cx="10883393"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5A67"/>
                </a:solidFill>
                <a:latin typeface="Inter" pitchFamily="34" charset="0"/>
                <a:ea typeface="Inter" pitchFamily="34" charset="-122"/>
                <a:cs typeface="Inter" pitchFamily="34" charset="-120"/>
              </a:rPr>
              <a:t>TFS GENAI GOVERNANCE PANEL · POLICY CP6.55</a:t>
            </a:r>
            <a:endParaRPr lang="en-US" sz="1200" dirty="0"/>
          </a:p>
        </p:txBody>
      </p:sp>
      <p:sp>
        <p:nvSpPr>
          <p:cNvPr id="9" name="Text 6"/>
          <p:cNvSpPr/>
          <p:nvPr>
            <p:ph type="title"/>
          </p:nvPr>
        </p:nvSpPr>
        <p:spPr>
          <a:xfrm>
            <a:off x="812800" y="2309204"/>
            <a:ext cx="7848601" cy="1081511"/>
          </a:xfrm>
          <a:prstGeom prst="rect">
            <a:avLst/>
          </a:prstGeom>
          <a:noFill/>
          <a:ln/>
        </p:spPr>
        <p:txBody>
          <a:bodyPr wrap="square" lIns="0" tIns="0" rIns="0" bIns="0" rtlCol="0" anchor="t">
            <a:normAutofit/>
          </a:bodyPr>
          <a:lstStyle/>
          <a:p>
            <a:pPr algn="l" indent="0" marL="0">
              <a:lnSpc>
                <a:spcPts val="4620"/>
              </a:lnSpc>
              <a:buNone/>
            </a:pPr>
            <a:r>
              <a:rPr lang="en-US" sz="4400" b="1" i="0" spc="-50" kern="0" dirty="0">
                <a:solidFill>
                  <a:srgbClr val="FFFFFF"/>
                </a:solidFill>
                <a:latin typeface="Inter" pitchFamily="34" charset="0"/>
                <a:ea typeface="Inter" pitchFamily="34" charset="-122"/>
                <a:cs typeface="Inter" pitchFamily="34" charset="-120"/>
              </a:rPr>
              <a:t>AI-POWERED INTENT DISCOVERY SERVICE</a:t>
            </a:r>
            <a:endParaRPr lang="en-US" sz="4400" dirty="0"/>
          </a:p>
        </p:txBody>
      </p:sp>
      <p:sp>
        <p:nvSpPr>
          <p:cNvPr id="10" name="Text 7"/>
          <p:cNvSpPr/>
          <p:nvPr/>
        </p:nvSpPr>
        <p:spPr>
          <a:xfrm>
            <a:off x="812800" y="3543115"/>
            <a:ext cx="7848601" cy="32258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D6D6D6"/>
                </a:solidFill>
                <a:latin typeface="Inter" pitchFamily="34" charset="0"/>
                <a:ea typeface="Inter" pitchFamily="34" charset="-122"/>
                <a:cs typeface="Inter" pitchFamily="34" charset="-120"/>
              </a:rPr>
              <a:t>for CX Requirements Engineering</a:t>
            </a:r>
            <a:endParaRPr lang="en-US" sz="2000" dirty="0"/>
          </a:p>
        </p:txBody>
      </p:sp>
      <p:sp>
        <p:nvSpPr>
          <p:cNvPr id="11" name="Text 8"/>
          <p:cNvSpPr/>
          <p:nvPr/>
        </p:nvSpPr>
        <p:spPr>
          <a:xfrm>
            <a:off x="812800" y="4018095"/>
            <a:ext cx="2389532" cy="369808"/>
          </a:xfrm>
          <a:prstGeom prst="roundRect">
            <a:avLst>
              <a:gd name="adj" fmla="val 50000"/>
            </a:avLst>
          </a:prstGeom>
          <a:solidFill>
            <a:srgbClr val="EB0A1E"/>
          </a:solidFill>
          <a:ln/>
        </p:spPr>
        <p:txBody>
          <a:bodyPr wrap="none" lIns="0" tIns="34743" rIns="0" bIns="9343" rtlCol="0" anchor="t">
            <a:normAutofit/>
          </a:bodyPr>
          <a:lstStyle/>
          <a:p>
            <a:pPr algn="ctr" indent="0" marL="0">
              <a:lnSpc>
                <a:spcPts val="1680"/>
              </a:lnSpc>
              <a:buNone/>
            </a:pPr>
            <a:r>
              <a:rPr lang="en-US" sz="1200" b="1" spc="50" kern="0" dirty="0">
                <a:solidFill>
                  <a:srgbClr val="FFFFFF"/>
                </a:solidFill>
                <a:latin typeface="Inter" pitchFamily="34" charset="0"/>
                <a:ea typeface="Inter" pitchFamily="34" charset="-122"/>
                <a:cs typeface="Inter" pitchFamily="34" charset="-120"/>
              </a:rPr>
              <a:t>Proof of concept proposal</a:t>
            </a:r>
            <a:endParaRPr lang="en-US" sz="1200" dirty="0"/>
          </a:p>
        </p:txBody>
      </p:sp>
      <p:sp>
        <p:nvSpPr>
          <p:cNvPr id="12" name="Text 9"/>
          <p:cNvSpPr/>
          <p:nvPr/>
        </p:nvSpPr>
        <p:spPr>
          <a:xfrm>
            <a:off x="812800" y="5336699"/>
            <a:ext cx="2738944"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3A3A3"/>
                </a:solidFill>
                <a:latin typeface="Inter" pitchFamily="34" charset="0"/>
                <a:ea typeface="Inter" pitchFamily="34" charset="-122"/>
                <a:cs typeface="Inter" pitchFamily="34" charset="-120"/>
              </a:rPr>
              <a:t>SUBMITTED BY</a:t>
            </a:r>
            <a:endParaRPr lang="en-US" sz="1200" dirty="0"/>
          </a:p>
        </p:txBody>
      </p:sp>
      <p:sp>
        <p:nvSpPr>
          <p:cNvPr id="13" name="Text 10"/>
          <p:cNvSpPr/>
          <p:nvPr/>
        </p:nvSpPr>
        <p:spPr>
          <a:xfrm>
            <a:off x="812800" y="5579507"/>
            <a:ext cx="3116369" cy="248285"/>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FFFFFF"/>
                </a:solidFill>
                <a:latin typeface="Inter" pitchFamily="34" charset="0"/>
                <a:ea typeface="Inter" pitchFamily="34" charset="-122"/>
                <a:cs typeface="Inter" pitchFamily="34" charset="-120"/>
              </a:rPr>
              <a:t>Ankur Bhakta · Pavan Kumar Goli</a:t>
            </a:r>
            <a:endParaRPr lang="en-US" sz="1500" dirty="0"/>
          </a:p>
        </p:txBody>
      </p:sp>
      <p:sp>
        <p:nvSpPr>
          <p:cNvPr id="14" name="Text 11"/>
          <p:cNvSpPr/>
          <p:nvPr/>
        </p:nvSpPr>
        <p:spPr>
          <a:xfrm>
            <a:off x="812800" y="5853192"/>
            <a:ext cx="2738944"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6"/>
                </a:solidFill>
                <a:latin typeface="Inter" pitchFamily="34" charset="0"/>
                <a:ea typeface="Inter" pitchFamily="34" charset="-122"/>
                <a:cs typeface="Inter" pitchFamily="34" charset="-120"/>
              </a:rPr>
              <a:t>CX Engineering</a:t>
            </a:r>
            <a:endParaRPr lang="en-US" sz="1200" dirty="0"/>
          </a:p>
        </p:txBody>
      </p:sp>
      <p:sp>
        <p:nvSpPr>
          <p:cNvPr id="15" name="Text 12"/>
          <p:cNvSpPr/>
          <p:nvPr/>
        </p:nvSpPr>
        <p:spPr>
          <a:xfrm>
            <a:off x="3929169" y="5336699"/>
            <a:ext cx="2328418"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3A3A3"/>
                </a:solidFill>
                <a:latin typeface="Inter" pitchFamily="34" charset="0"/>
                <a:ea typeface="Inter" pitchFamily="34" charset="-122"/>
                <a:cs typeface="Inter" pitchFamily="34" charset="-120"/>
              </a:rPr>
              <a:t>POLICY REFERENCE</a:t>
            </a:r>
            <a:endParaRPr lang="en-US" sz="1200" dirty="0"/>
          </a:p>
        </p:txBody>
      </p:sp>
      <p:sp>
        <p:nvSpPr>
          <p:cNvPr id="16" name="Text 13"/>
          <p:cNvSpPr/>
          <p:nvPr/>
        </p:nvSpPr>
        <p:spPr>
          <a:xfrm>
            <a:off x="3929169" y="5579507"/>
            <a:ext cx="2712720" cy="248285"/>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FFFFFF"/>
                </a:solidFill>
                <a:latin typeface="Inter" pitchFamily="34" charset="0"/>
                <a:ea typeface="Inter" pitchFamily="34" charset="-122"/>
                <a:cs typeface="Inter" pitchFamily="34" charset="-120"/>
              </a:rPr>
              <a:t>CP6.55 Generative AI Policy</a:t>
            </a:r>
            <a:endParaRPr lang="en-US" sz="1500" dirty="0"/>
          </a:p>
        </p:txBody>
      </p:sp>
      <p:sp>
        <p:nvSpPr>
          <p:cNvPr id="17" name="Text 14"/>
          <p:cNvSpPr/>
          <p:nvPr/>
        </p:nvSpPr>
        <p:spPr>
          <a:xfrm>
            <a:off x="6646969" y="5336699"/>
            <a:ext cx="1827252"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3A3A3"/>
                </a:solidFill>
                <a:latin typeface="Inter" pitchFamily="34" charset="0"/>
                <a:ea typeface="Inter" pitchFamily="34" charset="-122"/>
                <a:cs typeface="Inter" pitchFamily="34" charset="-120"/>
              </a:rPr>
              <a:t>REQUEST TYPE</a:t>
            </a:r>
            <a:endParaRPr lang="en-US" sz="1200" dirty="0"/>
          </a:p>
        </p:txBody>
      </p:sp>
      <p:sp>
        <p:nvSpPr>
          <p:cNvPr id="18" name="Text 15"/>
          <p:cNvSpPr/>
          <p:nvPr/>
        </p:nvSpPr>
        <p:spPr>
          <a:xfrm>
            <a:off x="6646969" y="5579507"/>
            <a:ext cx="2128838" cy="248285"/>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FFFFFF"/>
                </a:solidFill>
                <a:latin typeface="Inter" pitchFamily="34" charset="0"/>
                <a:ea typeface="Inter" pitchFamily="34" charset="-122"/>
                <a:cs typeface="Inter" pitchFamily="34" charset="-120"/>
              </a:rPr>
              <a:t>New proof of concept</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896091"/>
            <a:ext cx="304800" cy="25400"/>
          </a:xfrm>
          <a:prstGeom prst="rect">
            <a:avLst/>
          </a:prstGeom>
          <a:solidFill>
            <a:srgbClr val="EB0A1E"/>
          </a:solidFill>
          <a:ln/>
        </p:spPr>
      </p:sp>
      <p:sp>
        <p:nvSpPr>
          <p:cNvPr id="3" name="Text 1"/>
          <p:cNvSpPr/>
          <p:nvPr/>
        </p:nvSpPr>
        <p:spPr>
          <a:xfrm>
            <a:off x="1219200" y="812801"/>
            <a:ext cx="978503"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SUMMARY</a:t>
            </a:r>
            <a:endParaRPr lang="en-US" sz="1200" dirty="0"/>
          </a:p>
        </p:txBody>
      </p:sp>
      <p:sp>
        <p:nvSpPr>
          <p:cNvPr id="4" name="Text 2"/>
          <p:cNvSpPr/>
          <p:nvPr>
            <p:ph type="title"/>
          </p:nvPr>
        </p:nvSpPr>
        <p:spPr>
          <a:xfrm>
            <a:off x="812800" y="1106408"/>
            <a:ext cx="10883393" cy="427725"/>
          </a:xfrm>
          <a:prstGeom prst="rect">
            <a:avLst/>
          </a:prstGeom>
          <a:noFill/>
          <a:ln/>
        </p:spPr>
        <p:txBody>
          <a:bodyPr wrap="square" lIns="0" tIns="0" rIns="0" bIns="0" rtlCol="0" anchor="t">
            <a:normAutofit/>
          </a:bodyPr>
          <a:lstStyle/>
          <a:p>
            <a:pPr algn="l" indent="0" marL="0">
              <a:lnSpc>
                <a:spcPts val="3520"/>
              </a:lnSpc>
              <a:buNone/>
            </a:pPr>
            <a:r>
              <a:rPr lang="en-US" sz="3200" b="1" i="0" spc="-50" kern="0" dirty="0">
                <a:solidFill>
                  <a:srgbClr val="1A1A1A"/>
                </a:solidFill>
                <a:latin typeface="Inter" pitchFamily="34" charset="0"/>
                <a:ea typeface="Inter" pitchFamily="34" charset="-122"/>
                <a:cs typeface="Inter" pitchFamily="34" charset="-120"/>
              </a:rPr>
              <a:t>What we are asking the Panel to approve</a:t>
            </a:r>
            <a:endParaRPr lang="en-US" sz="3200" dirty="0"/>
          </a:p>
        </p:txBody>
      </p:sp>
      <p:sp>
        <p:nvSpPr>
          <p:cNvPr id="5" name="Shape 3"/>
          <p:cNvSpPr/>
          <p:nvPr/>
        </p:nvSpPr>
        <p:spPr>
          <a:xfrm>
            <a:off x="812800" y="1813534"/>
            <a:ext cx="10566401" cy="1056640"/>
          </a:xfrm>
          <a:prstGeom prst="roundRect">
            <a:avLst>
              <a:gd name="adj" fmla="val 6010"/>
            </a:avLst>
          </a:prstGeom>
          <a:solidFill>
            <a:srgbClr val="1A1A1A"/>
          </a:solidFill>
          <a:ln/>
        </p:spPr>
      </p:sp>
      <p:sp>
        <p:nvSpPr>
          <p:cNvPr id="6" name="Text 4"/>
          <p:cNvSpPr/>
          <p:nvPr/>
        </p:nvSpPr>
        <p:spPr>
          <a:xfrm>
            <a:off x="1117600" y="2067534"/>
            <a:ext cx="2092960" cy="57404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FFFFF"/>
                </a:solidFill>
                <a:latin typeface="Inter" pitchFamily="34" charset="0"/>
                <a:ea typeface="Inter" pitchFamily="34" charset="-122"/>
                <a:cs typeface="Inter" pitchFamily="34" charset="-120"/>
              </a:rPr>
              <a:t>Decision requested</a:t>
            </a:r>
            <a:endParaRPr lang="en-US" sz="2000" dirty="0"/>
          </a:p>
        </p:txBody>
      </p:sp>
      <p:sp>
        <p:nvSpPr>
          <p:cNvPr id="7" name="Text 5"/>
          <p:cNvSpPr/>
          <p:nvPr/>
        </p:nvSpPr>
        <p:spPr>
          <a:xfrm>
            <a:off x="3454400" y="2118969"/>
            <a:ext cx="143272" cy="29972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F5A67"/>
                </a:solidFill>
                <a:latin typeface="Inter" pitchFamily="34" charset="0"/>
                <a:ea typeface="Inter" pitchFamily="34" charset="-122"/>
                <a:cs typeface="Inter" pitchFamily="34" charset="-120"/>
              </a:rPr>
              <a:t>1</a:t>
            </a:r>
            <a:endParaRPr lang="en-US" sz="2000" dirty="0"/>
          </a:p>
        </p:txBody>
      </p:sp>
      <p:sp>
        <p:nvSpPr>
          <p:cNvPr id="8" name="Text 6"/>
          <p:cNvSpPr/>
          <p:nvPr/>
        </p:nvSpPr>
        <p:spPr>
          <a:xfrm>
            <a:off x="3673872" y="2118969"/>
            <a:ext cx="3541272" cy="47117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FFFFFF"/>
                </a:solidFill>
                <a:latin typeface="Inter" pitchFamily="34" charset="0"/>
                <a:ea typeface="Inter" pitchFamily="34" charset="-122"/>
                <a:cs typeface="Inter" pitchFamily="34" charset="-120"/>
              </a:rPr>
              <a:t>Approve a development-only proof of concept</a:t>
            </a:r>
            <a:endParaRPr lang="en-US" sz="1500" dirty="0"/>
          </a:p>
        </p:txBody>
      </p:sp>
      <p:sp>
        <p:nvSpPr>
          <p:cNvPr id="9" name="Text 7"/>
          <p:cNvSpPr/>
          <p:nvPr/>
        </p:nvSpPr>
        <p:spPr>
          <a:xfrm>
            <a:off x="7416800" y="2118969"/>
            <a:ext cx="181663" cy="29972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F5A67"/>
                </a:solidFill>
                <a:latin typeface="Inter" pitchFamily="34" charset="0"/>
                <a:ea typeface="Inter" pitchFamily="34" charset="-122"/>
                <a:cs typeface="Inter" pitchFamily="34" charset="-120"/>
              </a:rPr>
              <a:t>2</a:t>
            </a:r>
            <a:endParaRPr lang="en-US" sz="2000" dirty="0"/>
          </a:p>
        </p:txBody>
      </p:sp>
      <p:sp>
        <p:nvSpPr>
          <p:cNvPr id="10" name="Text 8"/>
          <p:cNvSpPr/>
          <p:nvPr/>
        </p:nvSpPr>
        <p:spPr>
          <a:xfrm>
            <a:off x="7674663" y="2118969"/>
            <a:ext cx="3501730" cy="47117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FFFFFF"/>
                </a:solidFill>
                <a:latin typeface="Inter" pitchFamily="34" charset="0"/>
                <a:ea typeface="Inter" pitchFamily="34" charset="-122"/>
                <a:cs typeface="Inter" pitchFamily="34" charset="-120"/>
              </a:rPr>
              <a:t>Confirm the preliminary Low Risk classification</a:t>
            </a:r>
            <a:endParaRPr lang="en-US" sz="1500" dirty="0"/>
          </a:p>
        </p:txBody>
      </p:sp>
      <p:sp>
        <p:nvSpPr>
          <p:cNvPr id="11" name="Shape 9"/>
          <p:cNvSpPr/>
          <p:nvPr/>
        </p:nvSpPr>
        <p:spPr>
          <a:xfrm>
            <a:off x="815975" y="3076549"/>
            <a:ext cx="3414183" cy="1060688"/>
          </a:xfrm>
          <a:prstGeom prst="roundRect">
            <a:avLst>
              <a:gd name="adj" fmla="val 4490"/>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12" name="Text 10"/>
          <p:cNvSpPr/>
          <p:nvPr/>
        </p:nvSpPr>
        <p:spPr>
          <a:xfrm>
            <a:off x="1021080" y="3256254"/>
            <a:ext cx="3094093"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8595B"/>
                </a:solidFill>
                <a:latin typeface="Inter" pitchFamily="34" charset="0"/>
                <a:ea typeface="Inter" pitchFamily="34" charset="-122"/>
                <a:cs typeface="Inter" pitchFamily="34" charset="-120"/>
              </a:rPr>
              <a:t>ENVIRONMENT</a:t>
            </a:r>
            <a:endParaRPr lang="en-US" sz="1200" dirty="0"/>
          </a:p>
        </p:txBody>
      </p:sp>
      <p:sp>
        <p:nvSpPr>
          <p:cNvPr id="13" name="Text 11"/>
          <p:cNvSpPr/>
          <p:nvPr/>
        </p:nvSpPr>
        <p:spPr>
          <a:xfrm>
            <a:off x="1021080" y="3511762"/>
            <a:ext cx="3094093" cy="47117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A1A1A"/>
                </a:solidFill>
                <a:latin typeface="Inter" pitchFamily="34" charset="0"/>
                <a:ea typeface="Inter" pitchFamily="34" charset="-122"/>
                <a:cs typeface="Inter" pitchFamily="34" charset="-120"/>
              </a:rPr>
              <a:t>Development only; no production connection</a:t>
            </a:r>
            <a:endParaRPr lang="en-US" sz="1500" dirty="0"/>
          </a:p>
        </p:txBody>
      </p:sp>
      <p:sp>
        <p:nvSpPr>
          <p:cNvPr id="14" name="Shape 12"/>
          <p:cNvSpPr/>
          <p:nvPr/>
        </p:nvSpPr>
        <p:spPr>
          <a:xfrm>
            <a:off x="4388908" y="3076549"/>
            <a:ext cx="3414183" cy="1060688"/>
          </a:xfrm>
          <a:prstGeom prst="roundRect">
            <a:avLst>
              <a:gd name="adj" fmla="val 4490"/>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15" name="Text 13"/>
          <p:cNvSpPr/>
          <p:nvPr/>
        </p:nvSpPr>
        <p:spPr>
          <a:xfrm>
            <a:off x="4594013" y="3256254"/>
            <a:ext cx="3094093"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8595B"/>
                </a:solidFill>
                <a:latin typeface="Inter" pitchFamily="34" charset="0"/>
                <a:ea typeface="Inter" pitchFamily="34" charset="-122"/>
                <a:cs typeface="Inter" pitchFamily="34" charset="-120"/>
              </a:rPr>
              <a:t>MODEL ACCESS</a:t>
            </a:r>
            <a:endParaRPr lang="en-US" sz="1200" dirty="0"/>
          </a:p>
        </p:txBody>
      </p:sp>
      <p:sp>
        <p:nvSpPr>
          <p:cNvPr id="16" name="Text 14"/>
          <p:cNvSpPr/>
          <p:nvPr/>
        </p:nvSpPr>
        <p:spPr>
          <a:xfrm>
            <a:off x="4594013" y="3511762"/>
            <a:ext cx="3094093" cy="47117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A1A1A"/>
                </a:solidFill>
                <a:latin typeface="Inter" pitchFamily="34" charset="0"/>
                <a:ea typeface="Inter" pitchFamily="34" charset="-122"/>
                <a:cs typeface="Inter" pitchFamily="34" charset="-120"/>
              </a:rPr>
              <a:t>Claude via AWS Bedrock; OpenAI as alternate</a:t>
            </a:r>
            <a:endParaRPr lang="en-US" sz="1500" dirty="0"/>
          </a:p>
        </p:txBody>
      </p:sp>
      <p:sp>
        <p:nvSpPr>
          <p:cNvPr id="17" name="Shape 15"/>
          <p:cNvSpPr/>
          <p:nvPr/>
        </p:nvSpPr>
        <p:spPr>
          <a:xfrm>
            <a:off x="7961842" y="3076549"/>
            <a:ext cx="3414183" cy="1060688"/>
          </a:xfrm>
          <a:prstGeom prst="roundRect">
            <a:avLst>
              <a:gd name="adj" fmla="val 4490"/>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18" name="Text 16"/>
          <p:cNvSpPr/>
          <p:nvPr/>
        </p:nvSpPr>
        <p:spPr>
          <a:xfrm>
            <a:off x="8166947" y="3256254"/>
            <a:ext cx="3094093"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8595B"/>
                </a:solidFill>
                <a:latin typeface="Inter" pitchFamily="34" charset="0"/>
                <a:ea typeface="Inter" pitchFamily="34" charset="-122"/>
                <a:cs typeface="Inter" pitchFamily="34" charset="-120"/>
              </a:rPr>
              <a:t>DATA</a:t>
            </a:r>
            <a:endParaRPr lang="en-US" sz="1200" dirty="0"/>
          </a:p>
        </p:txBody>
      </p:sp>
      <p:sp>
        <p:nvSpPr>
          <p:cNvPr id="19" name="Text 17"/>
          <p:cNvSpPr/>
          <p:nvPr/>
        </p:nvSpPr>
        <p:spPr>
          <a:xfrm>
            <a:off x="8166947" y="3511762"/>
            <a:ext cx="3094093" cy="47117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A1A1A"/>
                </a:solidFill>
                <a:latin typeface="Inter" pitchFamily="34" charset="0"/>
                <a:ea typeface="Inter" pitchFamily="34" charset="-122"/>
                <a:cs typeface="Inter" pitchFamily="34" charset="-120"/>
              </a:rPr>
              <a:t>Internal, non-personal; PII blocked by guardrails</a:t>
            </a:r>
            <a:endParaRPr lang="en-US" sz="1500" dirty="0"/>
          </a:p>
        </p:txBody>
      </p:sp>
      <p:sp>
        <p:nvSpPr>
          <p:cNvPr id="20" name="Shape 18"/>
          <p:cNvSpPr/>
          <p:nvPr/>
        </p:nvSpPr>
        <p:spPr>
          <a:xfrm>
            <a:off x="815975" y="4295987"/>
            <a:ext cx="3414183" cy="1060688"/>
          </a:xfrm>
          <a:prstGeom prst="roundRect">
            <a:avLst>
              <a:gd name="adj" fmla="val 4490"/>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21" name="Text 19"/>
          <p:cNvSpPr/>
          <p:nvPr/>
        </p:nvSpPr>
        <p:spPr>
          <a:xfrm>
            <a:off x="1021080" y="4475692"/>
            <a:ext cx="3094093"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8595B"/>
                </a:solidFill>
                <a:latin typeface="Inter" pitchFamily="34" charset="0"/>
                <a:ea typeface="Inter" pitchFamily="34" charset="-122"/>
                <a:cs typeface="Inter" pitchFamily="34" charset="-120"/>
              </a:rPr>
              <a:t>OUTPUT</a:t>
            </a:r>
            <a:endParaRPr lang="en-US" sz="1200" dirty="0"/>
          </a:p>
        </p:txBody>
      </p:sp>
      <p:sp>
        <p:nvSpPr>
          <p:cNvPr id="22" name="Text 20"/>
          <p:cNvSpPr/>
          <p:nvPr/>
        </p:nvSpPr>
        <p:spPr>
          <a:xfrm>
            <a:off x="1021080" y="4731200"/>
            <a:ext cx="3094093" cy="248285"/>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A1A1A"/>
                </a:solidFill>
                <a:latin typeface="Inter" pitchFamily="34" charset="0"/>
                <a:ea typeface="Inter" pitchFamily="34" charset="-122"/>
                <a:cs typeface="Inter" pitchFamily="34" charset="-120"/>
              </a:rPr>
              <a:t>Specifications only; no source code</a:t>
            </a:r>
            <a:endParaRPr lang="en-US" sz="1500" dirty="0"/>
          </a:p>
        </p:txBody>
      </p:sp>
      <p:sp>
        <p:nvSpPr>
          <p:cNvPr id="23" name="Shape 21"/>
          <p:cNvSpPr/>
          <p:nvPr/>
        </p:nvSpPr>
        <p:spPr>
          <a:xfrm>
            <a:off x="4388908" y="4295987"/>
            <a:ext cx="3414183" cy="1060688"/>
          </a:xfrm>
          <a:prstGeom prst="roundRect">
            <a:avLst>
              <a:gd name="adj" fmla="val 4490"/>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24" name="Text 22"/>
          <p:cNvSpPr/>
          <p:nvPr/>
        </p:nvSpPr>
        <p:spPr>
          <a:xfrm>
            <a:off x="4594013" y="4475692"/>
            <a:ext cx="3094093"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8595B"/>
                </a:solidFill>
                <a:latin typeface="Inter" pitchFamily="34" charset="0"/>
                <a:ea typeface="Inter" pitchFamily="34" charset="-122"/>
                <a:cs typeface="Inter" pitchFamily="34" charset="-120"/>
              </a:rPr>
              <a:t>APPROVAL</a:t>
            </a:r>
            <a:endParaRPr lang="en-US" sz="1200" dirty="0"/>
          </a:p>
        </p:txBody>
      </p:sp>
      <p:sp>
        <p:nvSpPr>
          <p:cNvPr id="25" name="Text 23"/>
          <p:cNvSpPr/>
          <p:nvPr/>
        </p:nvSpPr>
        <p:spPr>
          <a:xfrm>
            <a:off x="4594013" y="4731200"/>
            <a:ext cx="3094093" cy="47117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A1A1A"/>
                </a:solidFill>
                <a:latin typeface="Inter" pitchFamily="34" charset="0"/>
                <a:ea typeface="Inter" pitchFamily="34" charset="-122"/>
                <a:cs typeface="Inter" pitchFamily="34" charset="-120"/>
              </a:rPr>
              <a:t>IR Author and domain SME approve before finalization</a:t>
            </a:r>
            <a:endParaRPr lang="en-US" sz="1500" dirty="0"/>
          </a:p>
        </p:txBody>
      </p:sp>
      <p:sp>
        <p:nvSpPr>
          <p:cNvPr id="26" name="Shape 24"/>
          <p:cNvSpPr/>
          <p:nvPr/>
        </p:nvSpPr>
        <p:spPr>
          <a:xfrm>
            <a:off x="7961842" y="4295987"/>
            <a:ext cx="3414183" cy="1060688"/>
          </a:xfrm>
          <a:prstGeom prst="roundRect">
            <a:avLst>
              <a:gd name="adj" fmla="val 4490"/>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27" name="Text 25"/>
          <p:cNvSpPr/>
          <p:nvPr/>
        </p:nvSpPr>
        <p:spPr>
          <a:xfrm>
            <a:off x="8166947" y="4475692"/>
            <a:ext cx="3094093"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8595B"/>
                </a:solidFill>
                <a:latin typeface="Inter" pitchFamily="34" charset="0"/>
                <a:ea typeface="Inter" pitchFamily="34" charset="-122"/>
                <a:cs typeface="Inter" pitchFamily="34" charset="-120"/>
              </a:rPr>
              <a:t>USERS</a:t>
            </a:r>
            <a:endParaRPr lang="en-US" sz="1200" dirty="0"/>
          </a:p>
        </p:txBody>
      </p:sp>
      <p:sp>
        <p:nvSpPr>
          <p:cNvPr id="28" name="Text 26"/>
          <p:cNvSpPr/>
          <p:nvPr/>
        </p:nvSpPr>
        <p:spPr>
          <a:xfrm>
            <a:off x="8166947" y="4731200"/>
            <a:ext cx="3094093" cy="47117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A1A1A"/>
                </a:solidFill>
                <a:latin typeface="Inter" pitchFamily="34" charset="0"/>
                <a:ea typeface="Inter" pitchFamily="34" charset="-122"/>
                <a:cs typeface="Inter" pitchFamily="34" charset="-120"/>
              </a:rPr>
              <a:t>Opt-in, SSO sign-in, CX Engineering only</a:t>
            </a:r>
            <a:endParaRPr lang="en-US" sz="1500" dirty="0"/>
          </a:p>
        </p:txBody>
      </p:sp>
      <p:sp>
        <p:nvSpPr>
          <p:cNvPr id="29" name="Text 27"/>
          <p:cNvSpPr/>
          <p:nvPr/>
        </p:nvSpPr>
        <p:spPr>
          <a:xfrm>
            <a:off x="812800" y="6259593"/>
            <a:ext cx="784860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Inter" pitchFamily="34" charset="0"/>
                <a:ea typeface="Inter" pitchFamily="34" charset="-122"/>
                <a:cs typeface="Inter" pitchFamily="34" charset="-120"/>
              </a:rPr>
              <a:t>Proof of concept proposal · Policy CP6.55</a:t>
            </a:r>
            <a:endParaRPr lang="en-US" sz="1200" dirty="0"/>
          </a:p>
        </p:txBody>
      </p:sp>
      <p:sp>
        <p:nvSpPr>
          <p:cNvPr id="30" name="Text 28"/>
          <p:cNvSpPr/>
          <p:nvPr/>
        </p:nvSpPr>
        <p:spPr>
          <a:xfrm>
            <a:off x="10058401" y="6259593"/>
            <a:ext cx="132080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BM Plex Mono" pitchFamily="49" charset="0"/>
                <a:ea typeface="IBM Plex Mono" pitchFamily="49" charset="-122"/>
                <a:cs typeface="IBM Plex Mono" pitchFamily="49" charset="-120"/>
              </a:rPr>
              <a:t>02 / 23</a:t>
            </a:r>
            <a:endParaRPr lang="en-US" sz="1200" dirty="0"/>
          </a:p>
        </p:txBody>
      </p:sp>
      <p:sp>
        <p:nvSpPr>
          <p:cNvPr id="31" name="Text 29"/>
          <p:cNvSpPr/>
          <p:nvPr/>
        </p:nvSpPr>
        <p:spPr>
          <a:xfrm>
            <a:off x="812800" y="1778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1111"/>
                </a:solidFill>
                <a:latin typeface="Inter" pitchFamily="34" charset="0"/>
                <a:ea typeface="Inter" pitchFamily="34" charset="-122"/>
                <a:cs typeface="Inter" pitchFamily="34" charset="-120"/>
              </a:rPr>
              <a:t>Intent Discovery Service</a:t>
            </a:r>
            <a:endParaRPr lang="en-US" sz="1200" dirty="0"/>
          </a:p>
        </p:txBody>
      </p:sp>
      <p:sp>
        <p:nvSpPr>
          <p:cNvPr id="32" name="Text 30"/>
          <p:cNvSpPr/>
          <p:nvPr/>
        </p:nvSpPr>
        <p:spPr>
          <a:xfrm>
            <a:off x="6800850" y="177800"/>
            <a:ext cx="457835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nter" pitchFamily="34" charset="0"/>
                <a:ea typeface="Inter" pitchFamily="34" charset="-122"/>
                <a:cs typeface="Inter" pitchFamily="34" charset="-120"/>
              </a:rPr>
              <a:t>GenAI Governance Panel</a:t>
            </a:r>
            <a:endParaRPr lang="en-US" sz="1200" dirty="0"/>
          </a:p>
        </p:txBody>
      </p:sp>
      <p:pic>
        <p:nvPicPr>
          <p:cNvPr id="33" name="Image 0" descr="line">    </p:cNvPr>
          <p:cNvPicPr>
            <a:picLocks noChangeAspect="1"/>
          </p:cNvPicPr>
          <p:nvPr/>
        </p:nvPicPr>
        <p:blipFill>
          <a:blip r:embed="rId1"/>
          <a:srcRect l="-1137" r="-1137" t="0" b="0"/>
          <a:stretch/>
        </p:blipFill>
        <p:spPr>
          <a:xfrm>
            <a:off x="0" y="533400"/>
            <a:ext cx="12192001" cy="3725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896091"/>
            <a:ext cx="304800" cy="25400"/>
          </a:xfrm>
          <a:prstGeom prst="rect">
            <a:avLst/>
          </a:prstGeom>
          <a:solidFill>
            <a:srgbClr val="EB0A1E"/>
          </a:solidFill>
          <a:ln/>
        </p:spPr>
      </p:sp>
      <p:sp>
        <p:nvSpPr>
          <p:cNvPr id="3" name="Text 1"/>
          <p:cNvSpPr/>
          <p:nvPr/>
        </p:nvSpPr>
        <p:spPr>
          <a:xfrm>
            <a:off x="1219200" y="812800"/>
            <a:ext cx="4498404"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PROBLEM · OBSERVED ON THE TITLES PROJECT</a:t>
            </a:r>
            <a:endParaRPr lang="en-US" sz="1200" dirty="0"/>
          </a:p>
        </p:txBody>
      </p:sp>
      <p:sp>
        <p:nvSpPr>
          <p:cNvPr id="4" name="Text 2"/>
          <p:cNvSpPr/>
          <p:nvPr>
            <p:ph type="title"/>
          </p:nvPr>
        </p:nvSpPr>
        <p:spPr>
          <a:xfrm>
            <a:off x="812800" y="1106408"/>
            <a:ext cx="10883393" cy="427725"/>
          </a:xfrm>
          <a:prstGeom prst="rect">
            <a:avLst/>
          </a:prstGeom>
          <a:noFill/>
          <a:ln/>
        </p:spPr>
        <p:txBody>
          <a:bodyPr wrap="square" lIns="0" tIns="0" rIns="0" bIns="0" rtlCol="0" anchor="t">
            <a:normAutofit/>
          </a:bodyPr>
          <a:lstStyle/>
          <a:p>
            <a:pPr algn="l" indent="0" marL="0">
              <a:lnSpc>
                <a:spcPts val="3520"/>
              </a:lnSpc>
              <a:buNone/>
            </a:pPr>
            <a:r>
              <a:rPr lang="en-US" sz="3200" b="1" i="0" spc="-50" kern="0" dirty="0">
                <a:solidFill>
                  <a:srgbClr val="1A1A1A"/>
                </a:solidFill>
                <a:latin typeface="Inter" pitchFamily="34" charset="0"/>
                <a:ea typeface="Inter" pitchFamily="34" charset="-122"/>
                <a:cs typeface="Inter" pitchFamily="34" charset="-120"/>
              </a:rPr>
              <a:t>Requirements reach engineering ambiguous</a:t>
            </a:r>
            <a:endParaRPr lang="en-US" sz="3200" dirty="0"/>
          </a:p>
        </p:txBody>
      </p:sp>
      <p:sp>
        <p:nvSpPr>
          <p:cNvPr id="5" name="Shape 3"/>
          <p:cNvSpPr/>
          <p:nvPr/>
        </p:nvSpPr>
        <p:spPr>
          <a:xfrm>
            <a:off x="815975" y="1816709"/>
            <a:ext cx="3414183" cy="1188561"/>
          </a:xfrm>
          <a:prstGeom prst="roundRect">
            <a:avLst>
              <a:gd name="adj" fmla="val 4007"/>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6" name="Text 4"/>
          <p:cNvSpPr/>
          <p:nvPr/>
        </p:nvSpPr>
        <p:spPr>
          <a:xfrm>
            <a:off x="1720363" y="2021815"/>
            <a:ext cx="1605407" cy="248285"/>
          </a:xfrm>
          <a:prstGeom prst="rect">
            <a:avLst/>
          </a:prstGeom>
          <a:noFill/>
          <a:ln/>
        </p:spPr>
        <p:txBody>
          <a:bodyPr wrap="square" lIns="0" tIns="0" rIns="0" bIns="0" rtlCol="0" anchor="t">
            <a:normAutofit/>
          </a:bodyPr>
          <a:lstStyle/>
          <a:p>
            <a:pPr algn="ctr" indent="0" marL="0">
              <a:lnSpc>
                <a:spcPts val="1950"/>
              </a:lnSpc>
              <a:buNone/>
            </a:pPr>
            <a:r>
              <a:rPr lang="en-US" sz="1500" b="1" dirty="0">
                <a:solidFill>
                  <a:srgbClr val="1A1A1A"/>
                </a:solidFill>
                <a:latin typeface="Inter" pitchFamily="34" charset="0"/>
                <a:ea typeface="Inter" pitchFamily="34" charset="-122"/>
                <a:cs typeface="Inter" pitchFamily="34" charset="-120"/>
              </a:rPr>
              <a:t>Vague language</a:t>
            </a:r>
            <a:endParaRPr lang="en-US" sz="1500" dirty="0"/>
          </a:p>
        </p:txBody>
      </p:sp>
      <p:sp>
        <p:nvSpPr>
          <p:cNvPr id="7" name="Shape 5"/>
          <p:cNvSpPr/>
          <p:nvPr/>
        </p:nvSpPr>
        <p:spPr>
          <a:xfrm>
            <a:off x="2370667" y="2320899"/>
            <a:ext cx="304800" cy="19050"/>
          </a:xfrm>
          <a:prstGeom prst="rect">
            <a:avLst/>
          </a:prstGeom>
          <a:solidFill>
            <a:srgbClr val="EB0A1E"/>
          </a:solidFill>
          <a:ln/>
        </p:spPr>
      </p:sp>
      <p:sp>
        <p:nvSpPr>
          <p:cNvPr id="8" name="Text 6"/>
          <p:cNvSpPr/>
          <p:nvPr/>
        </p:nvSpPr>
        <p:spPr>
          <a:xfrm>
            <a:off x="976020" y="2416149"/>
            <a:ext cx="3094093" cy="409416"/>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8595B"/>
                </a:solidFill>
                <a:latin typeface="Inter" pitchFamily="34" charset="0"/>
                <a:ea typeface="Inter" pitchFamily="34" charset="-122"/>
                <a:cs typeface="Inter" pitchFamily="34" charset="-120"/>
              </a:rPr>
              <a:t>Written in technology-centric terms rather than clear business outcomes.</a:t>
            </a:r>
            <a:endParaRPr lang="en-US" sz="1200" dirty="0"/>
          </a:p>
        </p:txBody>
      </p:sp>
      <p:sp>
        <p:nvSpPr>
          <p:cNvPr id="9" name="Shape 7"/>
          <p:cNvSpPr/>
          <p:nvPr/>
        </p:nvSpPr>
        <p:spPr>
          <a:xfrm>
            <a:off x="4388908" y="1816709"/>
            <a:ext cx="3414183" cy="1188561"/>
          </a:xfrm>
          <a:prstGeom prst="roundRect">
            <a:avLst>
              <a:gd name="adj" fmla="val 4007"/>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10" name="Text 8"/>
          <p:cNvSpPr/>
          <p:nvPr/>
        </p:nvSpPr>
        <p:spPr>
          <a:xfrm>
            <a:off x="4860261" y="2021815"/>
            <a:ext cx="2471452" cy="248285"/>
          </a:xfrm>
          <a:prstGeom prst="rect">
            <a:avLst/>
          </a:prstGeom>
          <a:noFill/>
          <a:ln/>
        </p:spPr>
        <p:txBody>
          <a:bodyPr wrap="square" lIns="0" tIns="0" rIns="0" bIns="0" rtlCol="0" anchor="t">
            <a:normAutofit/>
          </a:bodyPr>
          <a:lstStyle/>
          <a:p>
            <a:pPr algn="ctr" indent="0" marL="0">
              <a:lnSpc>
                <a:spcPts val="1950"/>
              </a:lnSpc>
              <a:buNone/>
            </a:pPr>
            <a:r>
              <a:rPr lang="en-US" sz="1500" b="1" dirty="0">
                <a:solidFill>
                  <a:srgbClr val="1A1A1A"/>
                </a:solidFill>
                <a:latin typeface="Inter" pitchFamily="34" charset="0"/>
                <a:ea typeface="Inter" pitchFamily="34" charset="-122"/>
                <a:cs typeface="Inter" pitchFamily="34" charset="-120"/>
              </a:rPr>
              <a:t>Inconsistent terminology</a:t>
            </a:r>
            <a:endParaRPr lang="en-US" sz="1500" dirty="0"/>
          </a:p>
        </p:txBody>
      </p:sp>
      <p:sp>
        <p:nvSpPr>
          <p:cNvPr id="11" name="Shape 9"/>
          <p:cNvSpPr/>
          <p:nvPr/>
        </p:nvSpPr>
        <p:spPr>
          <a:xfrm>
            <a:off x="5943600" y="2320899"/>
            <a:ext cx="304800" cy="19050"/>
          </a:xfrm>
          <a:prstGeom prst="rect">
            <a:avLst/>
          </a:prstGeom>
          <a:solidFill>
            <a:srgbClr val="EB0A1E"/>
          </a:solidFill>
          <a:ln/>
        </p:spPr>
      </p:sp>
      <p:sp>
        <p:nvSpPr>
          <p:cNvPr id="12" name="Text 10"/>
          <p:cNvSpPr/>
          <p:nvPr/>
        </p:nvSpPr>
        <p:spPr>
          <a:xfrm>
            <a:off x="4548954" y="2416149"/>
            <a:ext cx="3094093" cy="409416"/>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8595B"/>
                </a:solidFill>
                <a:latin typeface="Inter" pitchFamily="34" charset="0"/>
                <a:ea typeface="Inter" pitchFamily="34" charset="-122"/>
                <a:cs typeface="Inter" pitchFamily="34" charset="-120"/>
              </a:rPr>
              <a:t>No shared Ubiquitous Language between business and engineering teams.</a:t>
            </a:r>
            <a:endParaRPr lang="en-US" sz="1200" dirty="0"/>
          </a:p>
        </p:txBody>
      </p:sp>
      <p:sp>
        <p:nvSpPr>
          <p:cNvPr id="13" name="Shape 11"/>
          <p:cNvSpPr/>
          <p:nvPr/>
        </p:nvSpPr>
        <p:spPr>
          <a:xfrm>
            <a:off x="7961842" y="1816709"/>
            <a:ext cx="3414183" cy="1188561"/>
          </a:xfrm>
          <a:prstGeom prst="roundRect">
            <a:avLst>
              <a:gd name="adj" fmla="val 4007"/>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14" name="Text 12"/>
          <p:cNvSpPr/>
          <p:nvPr/>
        </p:nvSpPr>
        <p:spPr>
          <a:xfrm>
            <a:off x="8741900" y="2021815"/>
            <a:ext cx="1854041" cy="248285"/>
          </a:xfrm>
          <a:prstGeom prst="rect">
            <a:avLst/>
          </a:prstGeom>
          <a:noFill/>
          <a:ln/>
        </p:spPr>
        <p:txBody>
          <a:bodyPr wrap="square" lIns="0" tIns="0" rIns="0" bIns="0" rtlCol="0" anchor="t">
            <a:normAutofit/>
          </a:bodyPr>
          <a:lstStyle/>
          <a:p>
            <a:pPr algn="ctr" indent="0" marL="0">
              <a:lnSpc>
                <a:spcPts val="1950"/>
              </a:lnSpc>
              <a:buNone/>
            </a:pPr>
            <a:r>
              <a:rPr lang="en-US" sz="1500" b="1" dirty="0">
                <a:solidFill>
                  <a:srgbClr val="1A1A1A"/>
                </a:solidFill>
                <a:latin typeface="Inter" pitchFamily="34" charset="0"/>
                <a:ea typeface="Inter" pitchFamily="34" charset="-122"/>
                <a:cs typeface="Inter" pitchFamily="34" charset="-120"/>
              </a:rPr>
              <a:t>Hidden exceptions</a:t>
            </a:r>
            <a:endParaRPr lang="en-US" sz="1500" dirty="0"/>
          </a:p>
        </p:txBody>
      </p:sp>
      <p:sp>
        <p:nvSpPr>
          <p:cNvPr id="15" name="Shape 13"/>
          <p:cNvSpPr/>
          <p:nvPr/>
        </p:nvSpPr>
        <p:spPr>
          <a:xfrm>
            <a:off x="9516534" y="2320899"/>
            <a:ext cx="304800" cy="19050"/>
          </a:xfrm>
          <a:prstGeom prst="rect">
            <a:avLst/>
          </a:prstGeom>
          <a:solidFill>
            <a:srgbClr val="EB0A1E"/>
          </a:solidFill>
          <a:ln/>
        </p:spPr>
      </p:sp>
      <p:sp>
        <p:nvSpPr>
          <p:cNvPr id="16" name="Text 14"/>
          <p:cNvSpPr/>
          <p:nvPr/>
        </p:nvSpPr>
        <p:spPr>
          <a:xfrm>
            <a:off x="8121888" y="2416149"/>
            <a:ext cx="3094093" cy="409416"/>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8595B"/>
                </a:solidFill>
                <a:latin typeface="Inter" pitchFamily="34" charset="0"/>
                <a:ea typeface="Inter" pitchFamily="34" charset="-122"/>
                <a:cs typeface="Inter" pitchFamily="34" charset="-120"/>
              </a:rPr>
              <a:t>Rules stated as “usually” or “normally”, with the exceptions never made explicit.</a:t>
            </a:r>
            <a:endParaRPr lang="en-US" sz="1200" dirty="0"/>
          </a:p>
        </p:txBody>
      </p:sp>
      <p:sp>
        <p:nvSpPr>
          <p:cNvPr id="17" name="Shape 15"/>
          <p:cNvSpPr/>
          <p:nvPr/>
        </p:nvSpPr>
        <p:spPr>
          <a:xfrm>
            <a:off x="815975" y="3164021"/>
            <a:ext cx="3414183" cy="1370409"/>
          </a:xfrm>
          <a:prstGeom prst="roundRect">
            <a:avLst>
              <a:gd name="adj" fmla="val 3475"/>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18" name="Text 16"/>
          <p:cNvSpPr/>
          <p:nvPr/>
        </p:nvSpPr>
        <p:spPr>
          <a:xfrm>
            <a:off x="1256528" y="3369126"/>
            <a:ext cx="2533079" cy="248285"/>
          </a:xfrm>
          <a:prstGeom prst="rect">
            <a:avLst/>
          </a:prstGeom>
          <a:noFill/>
          <a:ln/>
        </p:spPr>
        <p:txBody>
          <a:bodyPr wrap="square" lIns="0" tIns="0" rIns="0" bIns="0" rtlCol="0" anchor="t">
            <a:normAutofit/>
          </a:bodyPr>
          <a:lstStyle/>
          <a:p>
            <a:pPr algn="ctr" indent="0" marL="0">
              <a:lnSpc>
                <a:spcPts val="1950"/>
              </a:lnSpc>
              <a:buNone/>
            </a:pPr>
            <a:r>
              <a:rPr lang="en-US" sz="1500" b="1" dirty="0">
                <a:solidFill>
                  <a:srgbClr val="1A1A1A"/>
                </a:solidFill>
                <a:latin typeface="Inter" pitchFamily="34" charset="0"/>
                <a:ea typeface="Inter" pitchFamily="34" charset="-122"/>
                <a:cs typeface="Inter" pitchFamily="34" charset="-120"/>
              </a:rPr>
              <a:t>Weak acceptance criteria</a:t>
            </a:r>
            <a:endParaRPr lang="en-US" sz="1500" dirty="0"/>
          </a:p>
        </p:txBody>
      </p:sp>
      <p:sp>
        <p:nvSpPr>
          <p:cNvPr id="19" name="Shape 17"/>
          <p:cNvSpPr/>
          <p:nvPr/>
        </p:nvSpPr>
        <p:spPr>
          <a:xfrm>
            <a:off x="2370667" y="3668210"/>
            <a:ext cx="304800" cy="19050"/>
          </a:xfrm>
          <a:prstGeom prst="rect">
            <a:avLst/>
          </a:prstGeom>
          <a:solidFill>
            <a:srgbClr val="EB0A1E"/>
          </a:solidFill>
          <a:ln/>
        </p:spPr>
      </p:sp>
      <p:sp>
        <p:nvSpPr>
          <p:cNvPr id="20" name="Text 18"/>
          <p:cNvSpPr/>
          <p:nvPr/>
        </p:nvSpPr>
        <p:spPr>
          <a:xfrm>
            <a:off x="976020" y="3763460"/>
            <a:ext cx="3094093" cy="409416"/>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8595B"/>
                </a:solidFill>
                <a:latin typeface="Inter" pitchFamily="34" charset="0"/>
                <a:ea typeface="Inter" pitchFamily="34" charset="-122"/>
                <a:cs typeface="Inter" pitchFamily="34" charset="-120"/>
              </a:rPr>
              <a:t>Leads directly to weak, unverifiable test coverage.</a:t>
            </a:r>
            <a:endParaRPr lang="en-US" sz="1200" dirty="0"/>
          </a:p>
        </p:txBody>
      </p:sp>
      <p:sp>
        <p:nvSpPr>
          <p:cNvPr id="21" name="Shape 19"/>
          <p:cNvSpPr/>
          <p:nvPr/>
        </p:nvSpPr>
        <p:spPr>
          <a:xfrm>
            <a:off x="4388908" y="3164021"/>
            <a:ext cx="3414183" cy="1370409"/>
          </a:xfrm>
          <a:prstGeom prst="roundRect">
            <a:avLst>
              <a:gd name="adj" fmla="val 3475"/>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22" name="Text 20"/>
          <p:cNvSpPr/>
          <p:nvPr/>
        </p:nvSpPr>
        <p:spPr>
          <a:xfrm>
            <a:off x="5167821" y="3369126"/>
            <a:ext cx="1856359" cy="248285"/>
          </a:xfrm>
          <a:prstGeom prst="rect">
            <a:avLst/>
          </a:prstGeom>
          <a:noFill/>
          <a:ln/>
        </p:spPr>
        <p:txBody>
          <a:bodyPr wrap="square" lIns="0" tIns="0" rIns="0" bIns="0" rtlCol="0" anchor="t">
            <a:normAutofit/>
          </a:bodyPr>
          <a:lstStyle/>
          <a:p>
            <a:pPr algn="ctr" indent="0" marL="0">
              <a:lnSpc>
                <a:spcPts val="1950"/>
              </a:lnSpc>
              <a:buNone/>
            </a:pPr>
            <a:r>
              <a:rPr lang="en-US" sz="1500" b="1" dirty="0">
                <a:solidFill>
                  <a:srgbClr val="1A1A1A"/>
                </a:solidFill>
                <a:latin typeface="Inter" pitchFamily="34" charset="0"/>
                <a:ea typeface="Inter" pitchFamily="34" charset="-122"/>
                <a:cs typeface="Inter" pitchFamily="34" charset="-120"/>
              </a:rPr>
              <a:t>Fragmented scope</a:t>
            </a:r>
            <a:endParaRPr lang="en-US" sz="1500" dirty="0"/>
          </a:p>
        </p:txBody>
      </p:sp>
      <p:sp>
        <p:nvSpPr>
          <p:cNvPr id="23" name="Shape 21"/>
          <p:cNvSpPr/>
          <p:nvPr/>
        </p:nvSpPr>
        <p:spPr>
          <a:xfrm>
            <a:off x="5943600" y="3668210"/>
            <a:ext cx="304800" cy="19050"/>
          </a:xfrm>
          <a:prstGeom prst="rect">
            <a:avLst/>
          </a:prstGeom>
          <a:solidFill>
            <a:srgbClr val="EB0A1E"/>
          </a:solidFill>
          <a:ln/>
        </p:spPr>
      </p:sp>
      <p:sp>
        <p:nvSpPr>
          <p:cNvPr id="24" name="Text 22"/>
          <p:cNvSpPr/>
          <p:nvPr/>
        </p:nvSpPr>
        <p:spPr>
          <a:xfrm>
            <a:off x="4548954" y="3763460"/>
            <a:ext cx="3094093" cy="409416"/>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58595B"/>
                </a:solidFill>
                <a:latin typeface="Inter" pitchFamily="34" charset="0"/>
                <a:ea typeface="Inter" pitchFamily="34" charset="-122"/>
                <a:cs typeface="Inter" pitchFamily="34" charset="-120"/>
              </a:rPr>
              <a:t>Solutions get built around isolated parts of a feature, not the full business outcome.</a:t>
            </a:r>
            <a:endParaRPr lang="en-US" sz="1200" dirty="0"/>
          </a:p>
        </p:txBody>
      </p:sp>
      <p:sp>
        <p:nvSpPr>
          <p:cNvPr id="25" name="Shape 23"/>
          <p:cNvSpPr/>
          <p:nvPr/>
        </p:nvSpPr>
        <p:spPr>
          <a:xfrm>
            <a:off x="7958667" y="3160846"/>
            <a:ext cx="3420533" cy="1376759"/>
          </a:xfrm>
          <a:prstGeom prst="roundRect">
            <a:avLst>
              <a:gd name="adj" fmla="val 3690"/>
            </a:avLst>
          </a:prstGeom>
          <a:solidFill>
            <a:srgbClr val="1A1A1A"/>
          </a:solidFill>
          <a:ln/>
        </p:spPr>
      </p:sp>
      <p:sp>
        <p:nvSpPr>
          <p:cNvPr id="26" name="Text 24"/>
          <p:cNvSpPr/>
          <p:nvPr/>
        </p:nvSpPr>
        <p:spPr>
          <a:xfrm>
            <a:off x="8946719" y="3364046"/>
            <a:ext cx="1444403" cy="248285"/>
          </a:xfrm>
          <a:prstGeom prst="rect">
            <a:avLst/>
          </a:prstGeom>
          <a:noFill/>
          <a:ln/>
        </p:spPr>
        <p:txBody>
          <a:bodyPr wrap="square" lIns="0" tIns="0" rIns="0" bIns="0" rtlCol="0" anchor="t">
            <a:normAutofit/>
          </a:bodyPr>
          <a:lstStyle/>
          <a:p>
            <a:pPr algn="ctr" indent="0" marL="0">
              <a:lnSpc>
                <a:spcPts val="1950"/>
              </a:lnSpc>
              <a:buNone/>
            </a:pPr>
            <a:r>
              <a:rPr lang="en-US" sz="1500" b="1" dirty="0">
                <a:solidFill>
                  <a:srgbClr val="FFFFFF"/>
                </a:solidFill>
                <a:latin typeface="Inter" pitchFamily="34" charset="0"/>
                <a:ea typeface="Inter" pitchFamily="34" charset="-122"/>
                <a:cs typeface="Inter" pitchFamily="34" charset="-120"/>
              </a:rPr>
              <a:t>Titles example</a:t>
            </a:r>
            <a:endParaRPr lang="en-US" sz="1500" dirty="0"/>
          </a:p>
        </p:txBody>
      </p:sp>
      <p:sp>
        <p:nvSpPr>
          <p:cNvPr id="27" name="Shape 25"/>
          <p:cNvSpPr/>
          <p:nvPr/>
        </p:nvSpPr>
        <p:spPr>
          <a:xfrm>
            <a:off x="9516534" y="3663131"/>
            <a:ext cx="304800" cy="19050"/>
          </a:xfrm>
          <a:prstGeom prst="rect">
            <a:avLst/>
          </a:prstGeom>
          <a:solidFill>
            <a:srgbClr val="EB0A1E"/>
          </a:solidFill>
          <a:ln/>
        </p:spPr>
      </p:sp>
      <p:sp>
        <p:nvSpPr>
          <p:cNvPr id="28" name="Text 26"/>
          <p:cNvSpPr/>
          <p:nvPr/>
        </p:nvSpPr>
        <p:spPr>
          <a:xfrm>
            <a:off x="8116655" y="3758381"/>
            <a:ext cx="3104557" cy="601424"/>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D6D6D6"/>
                </a:solidFill>
                <a:latin typeface="Inter" pitchFamily="34" charset="0"/>
                <a:ea typeface="Inter" pitchFamily="34" charset="-122"/>
                <a:cs typeface="Inter" pitchFamily="34" charset="-120"/>
              </a:rPr>
              <a:t>“Route the record based on certain exceptions” cannot be built or tested until the exceptions are enumerated.</a:t>
            </a:r>
            <a:endParaRPr lang="en-US" sz="1200" dirty="0"/>
          </a:p>
        </p:txBody>
      </p:sp>
      <p:sp>
        <p:nvSpPr>
          <p:cNvPr id="29" name="Shape 27"/>
          <p:cNvSpPr/>
          <p:nvPr/>
        </p:nvSpPr>
        <p:spPr>
          <a:xfrm>
            <a:off x="812800" y="4740805"/>
            <a:ext cx="10566401" cy="446008"/>
          </a:xfrm>
          <a:prstGeom prst="roundRect">
            <a:avLst>
              <a:gd name="adj" fmla="val 11390"/>
            </a:avLst>
          </a:prstGeom>
          <a:solidFill>
            <a:srgbClr val="FDECEE"/>
          </a:solidFill>
          <a:ln/>
        </p:spPr>
      </p:sp>
      <p:sp>
        <p:nvSpPr>
          <p:cNvPr id="30" name="Text 28"/>
          <p:cNvSpPr/>
          <p:nvPr/>
        </p:nvSpPr>
        <p:spPr>
          <a:xfrm>
            <a:off x="1016000" y="4867805"/>
            <a:ext cx="848148" cy="217408"/>
          </a:xfrm>
          <a:prstGeom prst="rect">
            <a:avLst/>
          </a:prstGeom>
          <a:noFill/>
          <a:ln/>
        </p:spPr>
        <p:txBody>
          <a:bodyPr wrap="non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THE COST</a:t>
            </a:r>
            <a:endParaRPr lang="en-US" sz="1200" dirty="0"/>
          </a:p>
        </p:txBody>
      </p:sp>
      <p:sp>
        <p:nvSpPr>
          <p:cNvPr id="31" name="Text 29"/>
          <p:cNvSpPr/>
          <p:nvPr/>
        </p:nvSpPr>
        <p:spPr>
          <a:xfrm>
            <a:off x="1991148" y="4867805"/>
            <a:ext cx="8244110"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A1A1A"/>
                </a:solidFill>
                <a:latin typeface="Inter" pitchFamily="34" charset="0"/>
                <a:ea typeface="Inter" pitchFamily="34" charset="-122"/>
                <a:cs typeface="Inter" pitchFamily="34" charset="-120"/>
              </a:rPr>
              <a:t>Conflicting interpretations → integration gaps → rework → engineer interpretation burden → waste (muda)</a:t>
            </a:r>
            <a:endParaRPr lang="en-US" sz="1200" dirty="0"/>
          </a:p>
        </p:txBody>
      </p:sp>
      <p:sp>
        <p:nvSpPr>
          <p:cNvPr id="32" name="Text 30"/>
          <p:cNvSpPr/>
          <p:nvPr/>
        </p:nvSpPr>
        <p:spPr>
          <a:xfrm>
            <a:off x="812800" y="6259593"/>
            <a:ext cx="784860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Inter" pitchFamily="34" charset="0"/>
                <a:ea typeface="Inter" pitchFamily="34" charset="-122"/>
                <a:cs typeface="Inter" pitchFamily="34" charset="-120"/>
              </a:rPr>
              <a:t>Proof of concept proposal · Policy CP6.55</a:t>
            </a:r>
            <a:endParaRPr lang="en-US" sz="1200" dirty="0"/>
          </a:p>
        </p:txBody>
      </p:sp>
      <p:sp>
        <p:nvSpPr>
          <p:cNvPr id="33" name="Text 31"/>
          <p:cNvSpPr/>
          <p:nvPr/>
        </p:nvSpPr>
        <p:spPr>
          <a:xfrm>
            <a:off x="10058401" y="6259593"/>
            <a:ext cx="132080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BM Plex Mono" pitchFamily="49" charset="0"/>
                <a:ea typeface="IBM Plex Mono" pitchFamily="49" charset="-122"/>
                <a:cs typeface="IBM Plex Mono" pitchFamily="49" charset="-120"/>
              </a:rPr>
              <a:t>03 / 23</a:t>
            </a:r>
            <a:endParaRPr lang="en-US" sz="1200" dirty="0"/>
          </a:p>
        </p:txBody>
      </p:sp>
      <p:sp>
        <p:nvSpPr>
          <p:cNvPr id="34" name="Text 32"/>
          <p:cNvSpPr/>
          <p:nvPr/>
        </p:nvSpPr>
        <p:spPr>
          <a:xfrm>
            <a:off x="812800" y="1778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1111"/>
                </a:solidFill>
                <a:latin typeface="Inter" pitchFamily="34" charset="0"/>
                <a:ea typeface="Inter" pitchFamily="34" charset="-122"/>
                <a:cs typeface="Inter" pitchFamily="34" charset="-120"/>
              </a:rPr>
              <a:t>Intent Discovery Service</a:t>
            </a:r>
            <a:endParaRPr lang="en-US" sz="1200" dirty="0"/>
          </a:p>
        </p:txBody>
      </p:sp>
      <p:sp>
        <p:nvSpPr>
          <p:cNvPr id="35" name="Text 33"/>
          <p:cNvSpPr/>
          <p:nvPr/>
        </p:nvSpPr>
        <p:spPr>
          <a:xfrm>
            <a:off x="6800850" y="177800"/>
            <a:ext cx="457835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nter" pitchFamily="34" charset="0"/>
                <a:ea typeface="Inter" pitchFamily="34" charset="-122"/>
                <a:cs typeface="Inter" pitchFamily="34" charset="-120"/>
              </a:rPr>
              <a:t>GenAI Governance Panel</a:t>
            </a:r>
            <a:endParaRPr lang="en-US" sz="1200" dirty="0"/>
          </a:p>
        </p:txBody>
      </p:sp>
      <p:pic>
        <p:nvPicPr>
          <p:cNvPr id="36" name="Image 0" descr="line">    </p:cNvPr>
          <p:cNvPicPr>
            <a:picLocks noChangeAspect="1"/>
          </p:cNvPicPr>
          <p:nvPr/>
        </p:nvPicPr>
        <p:blipFill>
          <a:blip r:embed="rId1"/>
          <a:srcRect l="-1137" r="-1137" t="0" b="0"/>
          <a:stretch/>
        </p:blipFill>
        <p:spPr>
          <a:xfrm>
            <a:off x="0" y="533400"/>
            <a:ext cx="12192001" cy="3725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B0A1E"/>
        </a:solidFill>
      </p:bgPr>
    </p:bg>
    <p:spTree>
      <p:nvGrpSpPr>
        <p:cNvPr id="1" name=""/>
        <p:cNvGrpSpPr/>
        <p:nvPr/>
      </p:nvGrpSpPr>
      <p:grpSpPr>
        <a:xfrm>
          <a:off x="0" y="0"/>
          <a:ext cx="0" cy="0"/>
          <a:chOff x="0" y="0"/>
          <a:chExt cx="0" cy="0"/>
        </a:xfrm>
      </p:grpSpPr>
      <p:sp>
        <p:nvSpPr>
          <p:cNvPr id="2" name="Text 0"/>
          <p:cNvSpPr/>
          <p:nvPr/>
        </p:nvSpPr>
        <p:spPr>
          <a:xfrm>
            <a:off x="812800" y="1907566"/>
            <a:ext cx="10883393"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FFFF"/>
                </a:solidFill>
                <a:latin typeface="Inter" pitchFamily="34" charset="0"/>
                <a:ea typeface="Inter" pitchFamily="34" charset="-122"/>
                <a:cs typeface="Inter" pitchFamily="34" charset="-120"/>
              </a:rPr>
              <a:t>WHY THIS MATTERS NOW</a:t>
            </a:r>
            <a:endParaRPr lang="en-US" sz="1200" dirty="0"/>
          </a:p>
        </p:txBody>
      </p:sp>
      <p:sp>
        <p:nvSpPr>
          <p:cNvPr id="3" name="Text 1"/>
          <p:cNvSpPr/>
          <p:nvPr>
            <p:ph type="title"/>
          </p:nvPr>
        </p:nvSpPr>
        <p:spPr>
          <a:xfrm>
            <a:off x="812800" y="2404374"/>
            <a:ext cx="9810751" cy="1342073"/>
          </a:xfrm>
          <a:prstGeom prst="rect">
            <a:avLst/>
          </a:prstGeom>
          <a:noFill/>
          <a:ln/>
        </p:spPr>
        <p:txBody>
          <a:bodyPr wrap="square" lIns="0" tIns="0" rIns="0" bIns="0" rtlCol="0" anchor="t">
            <a:normAutofit/>
          </a:bodyPr>
          <a:lstStyle/>
          <a:p>
            <a:pPr algn="l" indent="0" marL="0">
              <a:lnSpc>
                <a:spcPts val="3840"/>
              </a:lnSpc>
              <a:buNone/>
            </a:pPr>
            <a:r>
              <a:rPr lang="en-US" sz="3200" b="1" i="0" spc="-50" kern="0" dirty="0">
                <a:solidFill>
                  <a:srgbClr val="FFFFFF"/>
                </a:solidFill>
                <a:latin typeface="Inter" pitchFamily="34" charset="0"/>
                <a:ea typeface="Inter" pitchFamily="34" charset="-122"/>
                <a:cs typeface="Inter" pitchFamily="34" charset="-120"/>
              </a:rPr>
              <a:t>AI makes code fast. When intent is ambiguous, it produces polished outputs that still miss the business need.</a:t>
            </a:r>
            <a:endParaRPr lang="en-US" sz="3200" dirty="0"/>
          </a:p>
        </p:txBody>
      </p:sp>
      <p:pic>
        <p:nvPicPr>
          <p:cNvPr id="4" name="Image 0" descr="line">    </p:cNvPr>
          <p:cNvPicPr>
            <a:picLocks noChangeAspect="1"/>
          </p:cNvPicPr>
          <p:nvPr/>
        </p:nvPicPr>
        <p:blipFill>
          <a:blip r:embed="rId1"/>
          <a:srcRect l="0" r="0" t="0" b="0"/>
          <a:stretch/>
        </p:blipFill>
        <p:spPr>
          <a:xfrm>
            <a:off x="812800" y="4025847"/>
            <a:ext cx="1016000" cy="25400"/>
          </a:xfrm>
          <a:prstGeom prst="rect">
            <a:avLst/>
          </a:prstGeom>
        </p:spPr>
      </p:pic>
      <p:sp>
        <p:nvSpPr>
          <p:cNvPr id="5" name="Text 2"/>
          <p:cNvSpPr/>
          <p:nvPr/>
        </p:nvSpPr>
        <p:spPr>
          <a:xfrm>
            <a:off x="812800" y="4356047"/>
            <a:ext cx="9156701" cy="61976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FFFFFF"/>
                </a:solidFill>
                <a:latin typeface="Inter" pitchFamily="34" charset="0"/>
                <a:ea typeface="Inter" pitchFamily="34" charset="-122"/>
                <a:cs typeface="Inter" pitchFamily="34" charset="-120"/>
              </a:rPr>
              <a:t>The bottleneck has moved from generating code to verifying intent, and the cheapest point to verify is before engineering starts.</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896091"/>
            <a:ext cx="304800" cy="25400"/>
          </a:xfrm>
          <a:prstGeom prst="rect">
            <a:avLst/>
          </a:prstGeom>
          <a:solidFill>
            <a:srgbClr val="EB0A1E"/>
          </a:solidFill>
          <a:ln/>
        </p:spPr>
      </p:sp>
      <p:sp>
        <p:nvSpPr>
          <p:cNvPr id="3" name="Text 1"/>
          <p:cNvSpPr/>
          <p:nvPr/>
        </p:nvSpPr>
        <p:spPr>
          <a:xfrm>
            <a:off x="1219200" y="812800"/>
            <a:ext cx="975360"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SOLUTION</a:t>
            </a:r>
            <a:endParaRPr lang="en-US" sz="1200" dirty="0"/>
          </a:p>
        </p:txBody>
      </p:sp>
      <p:sp>
        <p:nvSpPr>
          <p:cNvPr id="4" name="Text 2"/>
          <p:cNvSpPr/>
          <p:nvPr>
            <p:ph type="title"/>
          </p:nvPr>
        </p:nvSpPr>
        <p:spPr>
          <a:xfrm>
            <a:off x="812800" y="1106410"/>
            <a:ext cx="10883393" cy="427725"/>
          </a:xfrm>
          <a:prstGeom prst="rect">
            <a:avLst/>
          </a:prstGeom>
          <a:noFill/>
          <a:ln/>
        </p:spPr>
        <p:txBody>
          <a:bodyPr wrap="square" lIns="0" tIns="0" rIns="0" bIns="0" rtlCol="0" anchor="t">
            <a:normAutofit/>
          </a:bodyPr>
          <a:lstStyle/>
          <a:p>
            <a:pPr algn="l" indent="0" marL="0">
              <a:lnSpc>
                <a:spcPts val="3520"/>
              </a:lnSpc>
              <a:buNone/>
            </a:pPr>
            <a:r>
              <a:rPr lang="en-US" sz="3200" b="1" i="0" spc="-50" kern="0" dirty="0">
                <a:solidFill>
                  <a:srgbClr val="1A1A1A"/>
                </a:solidFill>
                <a:latin typeface="Inter" pitchFamily="34" charset="0"/>
                <a:ea typeface="Inter" pitchFamily="34" charset="-122"/>
                <a:cs typeface="Inter" pitchFamily="34" charset="-120"/>
              </a:rPr>
              <a:t>From prose to verifiable intent</a:t>
            </a:r>
            <a:endParaRPr lang="en-US" sz="3200" dirty="0"/>
          </a:p>
        </p:txBody>
      </p:sp>
      <p:sp>
        <p:nvSpPr>
          <p:cNvPr id="5" name="Text 3"/>
          <p:cNvSpPr/>
          <p:nvPr/>
        </p:nvSpPr>
        <p:spPr>
          <a:xfrm>
            <a:off x="812800" y="1813536"/>
            <a:ext cx="10883393" cy="47117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58595B"/>
                </a:solidFill>
                <a:latin typeface="Inter" pitchFamily="34" charset="0"/>
                <a:ea typeface="Inter" pitchFamily="34" charset="-122"/>
                <a:cs typeface="Inter" pitchFamily="34" charset="-120"/>
              </a:rPr>
              <a:t>The Intent Discovery Service uses an LLM as an AI-augmented BSA interviewer. It asks one closed question at a time until a requirement is decidable, then turns confirmed answers into validated domain models.</a:t>
            </a:r>
            <a:endParaRPr lang="en-US" sz="1500" dirty="0"/>
          </a:p>
        </p:txBody>
      </p:sp>
      <p:sp>
        <p:nvSpPr>
          <p:cNvPr id="6" name="Shape 4"/>
          <p:cNvSpPr/>
          <p:nvPr/>
        </p:nvSpPr>
        <p:spPr>
          <a:xfrm>
            <a:off x="815975" y="2465679"/>
            <a:ext cx="3177117" cy="1730693"/>
          </a:xfrm>
          <a:prstGeom prst="roundRect">
            <a:avLst>
              <a:gd name="adj" fmla="val 2752"/>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pic>
        <p:nvPicPr>
          <p:cNvPr id="7" name="Image 0" descr="Chat">    </p:cNvPr>
          <p:cNvPicPr>
            <a:picLocks noChangeAspect="1"/>
          </p:cNvPicPr>
          <p:nvPr/>
        </p:nvPicPr>
        <p:blipFill>
          <a:blip r:embed="rId1"/>
          <a:srcRect l="0" r="0" t="0" b="0"/>
          <a:stretch/>
        </p:blipFill>
        <p:spPr>
          <a:xfrm>
            <a:off x="1046480" y="2696186"/>
            <a:ext cx="279400" cy="279400"/>
          </a:xfrm>
          <a:prstGeom prst="rect">
            <a:avLst/>
          </a:prstGeom>
        </p:spPr>
      </p:pic>
      <p:sp>
        <p:nvSpPr>
          <p:cNvPr id="8" name="Text 5"/>
          <p:cNvSpPr/>
          <p:nvPr/>
        </p:nvSpPr>
        <p:spPr>
          <a:xfrm>
            <a:off x="1427480" y="2698725"/>
            <a:ext cx="1489678" cy="29972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A1A1A"/>
                </a:solidFill>
                <a:latin typeface="Inter" pitchFamily="34" charset="0"/>
                <a:ea typeface="Inter" pitchFamily="34" charset="-122"/>
                <a:cs typeface="Inter" pitchFamily="34" charset="-120"/>
              </a:rPr>
              <a:t>Interrogate</a:t>
            </a:r>
            <a:endParaRPr lang="en-US" sz="2000" dirty="0"/>
          </a:p>
        </p:txBody>
      </p:sp>
      <p:sp>
        <p:nvSpPr>
          <p:cNvPr id="9" name="Shape 6"/>
          <p:cNvSpPr/>
          <p:nvPr/>
        </p:nvSpPr>
        <p:spPr>
          <a:xfrm>
            <a:off x="1046480" y="3077186"/>
            <a:ext cx="304800" cy="19050"/>
          </a:xfrm>
          <a:prstGeom prst="rect">
            <a:avLst/>
          </a:prstGeom>
          <a:solidFill>
            <a:srgbClr val="EB0A1E"/>
          </a:solidFill>
          <a:ln/>
        </p:spPr>
      </p:sp>
      <p:sp>
        <p:nvSpPr>
          <p:cNvPr id="10" name="Text 7"/>
          <p:cNvSpPr/>
          <p:nvPr/>
        </p:nvSpPr>
        <p:spPr>
          <a:xfrm>
            <a:off x="1046480" y="3197836"/>
            <a:ext cx="2797590" cy="79343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A 12-rung question ladder. The AI proposes an answer with consequences; the user answers, defers, contests or flags.</a:t>
            </a:r>
            <a:endParaRPr lang="en-US" sz="1200" dirty="0"/>
          </a:p>
        </p:txBody>
      </p:sp>
      <p:pic>
        <p:nvPicPr>
          <p:cNvPr id="11" name="Image 1" descr="arrow-right">    </p:cNvPr>
          <p:cNvPicPr>
            <a:picLocks noChangeAspect="1"/>
          </p:cNvPicPr>
          <p:nvPr/>
        </p:nvPicPr>
        <p:blipFill>
          <a:blip r:embed="rId2"/>
          <a:srcRect l="0" r="0" t="0" b="0"/>
          <a:stretch/>
        </p:blipFill>
        <p:spPr>
          <a:xfrm>
            <a:off x="4097867" y="3254828"/>
            <a:ext cx="304800" cy="152400"/>
          </a:xfrm>
          <a:prstGeom prst="rect">
            <a:avLst/>
          </a:prstGeom>
        </p:spPr>
      </p:pic>
      <p:sp>
        <p:nvSpPr>
          <p:cNvPr id="12" name="Shape 8"/>
          <p:cNvSpPr/>
          <p:nvPr/>
        </p:nvSpPr>
        <p:spPr>
          <a:xfrm>
            <a:off x="4507442" y="2465679"/>
            <a:ext cx="3177117" cy="1730693"/>
          </a:xfrm>
          <a:prstGeom prst="roundRect">
            <a:avLst>
              <a:gd name="adj" fmla="val 2752"/>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pic>
        <p:nvPicPr>
          <p:cNvPr id="13" name="Image 2" descr="Database">    </p:cNvPr>
          <p:cNvPicPr>
            <a:picLocks noChangeAspect="1"/>
          </p:cNvPicPr>
          <p:nvPr/>
        </p:nvPicPr>
        <p:blipFill>
          <a:blip r:embed="rId3"/>
          <a:srcRect l="0" r="0" t="0" b="0"/>
          <a:stretch/>
        </p:blipFill>
        <p:spPr>
          <a:xfrm>
            <a:off x="4737947" y="2696186"/>
            <a:ext cx="279400" cy="279400"/>
          </a:xfrm>
          <a:prstGeom prst="rect">
            <a:avLst/>
          </a:prstGeom>
        </p:spPr>
      </p:pic>
      <p:sp>
        <p:nvSpPr>
          <p:cNvPr id="14" name="Text 9"/>
          <p:cNvSpPr/>
          <p:nvPr/>
        </p:nvSpPr>
        <p:spPr>
          <a:xfrm>
            <a:off x="5118947" y="2698725"/>
            <a:ext cx="834485" cy="29972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A1A1A"/>
                </a:solidFill>
                <a:latin typeface="Inter" pitchFamily="34" charset="0"/>
                <a:ea typeface="Inter" pitchFamily="34" charset="-122"/>
                <a:cs typeface="Inter" pitchFamily="34" charset="-120"/>
              </a:rPr>
              <a:t>Model</a:t>
            </a:r>
            <a:endParaRPr lang="en-US" sz="2000" dirty="0"/>
          </a:p>
        </p:txBody>
      </p:sp>
      <p:sp>
        <p:nvSpPr>
          <p:cNvPr id="15" name="Shape 10"/>
          <p:cNvSpPr/>
          <p:nvPr/>
        </p:nvSpPr>
        <p:spPr>
          <a:xfrm>
            <a:off x="4737947" y="3077186"/>
            <a:ext cx="304800" cy="19050"/>
          </a:xfrm>
          <a:prstGeom prst="rect">
            <a:avLst/>
          </a:prstGeom>
          <a:solidFill>
            <a:srgbClr val="EB0A1E"/>
          </a:solidFill>
          <a:ln/>
        </p:spPr>
      </p:sp>
      <p:sp>
        <p:nvSpPr>
          <p:cNvPr id="16" name="Text 11"/>
          <p:cNvSpPr/>
          <p:nvPr/>
        </p:nvSpPr>
        <p:spPr>
          <a:xfrm>
            <a:off x="4737947" y="3197836"/>
            <a:ext cx="2797590" cy="60142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Event Storming → DDD domain model → Intent Registry, each stage schema-validated before the next can run.</a:t>
            </a:r>
            <a:endParaRPr lang="en-US" sz="1200" dirty="0"/>
          </a:p>
        </p:txBody>
      </p:sp>
      <p:pic>
        <p:nvPicPr>
          <p:cNvPr id="17" name="Image 3" descr="arrow-right">    </p:cNvPr>
          <p:cNvPicPr>
            <a:picLocks noChangeAspect="1"/>
          </p:cNvPicPr>
          <p:nvPr/>
        </p:nvPicPr>
        <p:blipFill>
          <a:blip r:embed="rId4"/>
          <a:srcRect l="0" r="0" t="0" b="0"/>
          <a:stretch/>
        </p:blipFill>
        <p:spPr>
          <a:xfrm>
            <a:off x="7789334" y="3254828"/>
            <a:ext cx="304800" cy="152400"/>
          </a:xfrm>
          <a:prstGeom prst="rect">
            <a:avLst/>
          </a:prstGeom>
        </p:spPr>
      </p:pic>
      <p:sp>
        <p:nvSpPr>
          <p:cNvPr id="18" name="Shape 12"/>
          <p:cNvSpPr/>
          <p:nvPr/>
        </p:nvSpPr>
        <p:spPr>
          <a:xfrm>
            <a:off x="8198909" y="2465679"/>
            <a:ext cx="3177117" cy="1730693"/>
          </a:xfrm>
          <a:prstGeom prst="roundRect">
            <a:avLst>
              <a:gd name="adj" fmla="val 2752"/>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pic>
        <p:nvPicPr>
          <p:cNvPr id="19" name="Image 4" descr="PaperPlane">    </p:cNvPr>
          <p:cNvPicPr>
            <a:picLocks noChangeAspect="1"/>
          </p:cNvPicPr>
          <p:nvPr/>
        </p:nvPicPr>
        <p:blipFill>
          <a:blip r:embed="rId5"/>
          <a:srcRect l="0" r="0" t="0" b="0"/>
          <a:stretch/>
        </p:blipFill>
        <p:spPr>
          <a:xfrm>
            <a:off x="8429414" y="2696186"/>
            <a:ext cx="279400" cy="279400"/>
          </a:xfrm>
          <a:prstGeom prst="rect">
            <a:avLst/>
          </a:prstGeom>
        </p:spPr>
      </p:pic>
      <p:sp>
        <p:nvSpPr>
          <p:cNvPr id="20" name="Text 13"/>
          <p:cNvSpPr/>
          <p:nvPr/>
        </p:nvSpPr>
        <p:spPr>
          <a:xfrm>
            <a:off x="8810414" y="2698725"/>
            <a:ext cx="1148017" cy="29972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A1A1A"/>
                </a:solidFill>
                <a:latin typeface="Inter" pitchFamily="34" charset="0"/>
                <a:ea typeface="Inter" pitchFamily="34" charset="-122"/>
                <a:cs typeface="Inter" pitchFamily="34" charset="-120"/>
              </a:rPr>
              <a:t>Hand off</a:t>
            </a:r>
            <a:endParaRPr lang="en-US" sz="2000" dirty="0"/>
          </a:p>
        </p:txBody>
      </p:sp>
      <p:sp>
        <p:nvSpPr>
          <p:cNvPr id="21" name="Shape 14"/>
          <p:cNvSpPr/>
          <p:nvPr/>
        </p:nvSpPr>
        <p:spPr>
          <a:xfrm>
            <a:off x="8429414" y="3077186"/>
            <a:ext cx="304800" cy="19050"/>
          </a:xfrm>
          <a:prstGeom prst="rect">
            <a:avLst/>
          </a:prstGeom>
          <a:solidFill>
            <a:srgbClr val="EB0A1E"/>
          </a:solidFill>
          <a:ln/>
        </p:spPr>
      </p:sp>
      <p:sp>
        <p:nvSpPr>
          <p:cNvPr id="22" name="Text 15"/>
          <p:cNvSpPr/>
          <p:nvPr/>
        </p:nvSpPr>
        <p:spPr>
          <a:xfrm>
            <a:off x="8429414" y="3197836"/>
            <a:ext cx="2797590" cy="60142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Specifications, tasks, acceptance criteria and an evaluation rubric for engineers. No source code.</a:t>
            </a:r>
            <a:endParaRPr lang="en-US" sz="1200" dirty="0"/>
          </a:p>
        </p:txBody>
      </p:sp>
      <p:sp>
        <p:nvSpPr>
          <p:cNvPr id="23" name="Shape 16"/>
          <p:cNvSpPr/>
          <p:nvPr/>
        </p:nvSpPr>
        <p:spPr>
          <a:xfrm>
            <a:off x="812800" y="4402748"/>
            <a:ext cx="10566401" cy="688816"/>
          </a:xfrm>
          <a:prstGeom prst="roundRect">
            <a:avLst>
              <a:gd name="adj" fmla="val 7375"/>
            </a:avLst>
          </a:prstGeom>
          <a:solidFill>
            <a:srgbClr val="1A1A1A"/>
          </a:solidFill>
          <a:ln/>
        </p:spPr>
      </p:sp>
      <p:pic>
        <p:nvPicPr>
          <p:cNvPr id="24" name="Image 5" descr="Users">    </p:cNvPr>
          <p:cNvPicPr>
            <a:picLocks noChangeAspect="1"/>
          </p:cNvPicPr>
          <p:nvPr/>
        </p:nvPicPr>
        <p:blipFill>
          <a:blip r:embed="rId6"/>
          <a:srcRect l="-296" r="-296" t="0" b="0"/>
          <a:stretch/>
        </p:blipFill>
        <p:spPr>
          <a:xfrm>
            <a:off x="1016000" y="4620155"/>
            <a:ext cx="198014" cy="254000"/>
          </a:xfrm>
          <a:prstGeom prst="rect">
            <a:avLst/>
          </a:prstGeom>
        </p:spPr>
      </p:pic>
      <p:sp>
        <p:nvSpPr>
          <p:cNvPr id="25" name="Text 17"/>
          <p:cNvSpPr/>
          <p:nvPr/>
        </p:nvSpPr>
        <p:spPr>
          <a:xfrm>
            <a:off x="1341014" y="4555148"/>
            <a:ext cx="10130036"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Humans confirm the interrogation, resolve Red Team findings and approve every artifact before it is finalized. “Red Team” here means an adversarial LLM review of the model, not security testing.</a:t>
            </a:r>
            <a:endParaRPr lang="en-US" sz="1200" dirty="0"/>
          </a:p>
        </p:txBody>
      </p:sp>
      <p:sp>
        <p:nvSpPr>
          <p:cNvPr id="26" name="Text 18"/>
          <p:cNvSpPr/>
          <p:nvPr/>
        </p:nvSpPr>
        <p:spPr>
          <a:xfrm>
            <a:off x="812800" y="6259593"/>
            <a:ext cx="784860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Inter" pitchFamily="34" charset="0"/>
                <a:ea typeface="Inter" pitchFamily="34" charset="-122"/>
                <a:cs typeface="Inter" pitchFamily="34" charset="-120"/>
              </a:rPr>
              <a:t>Proof of concept proposal · Policy CP6.55</a:t>
            </a:r>
            <a:endParaRPr lang="en-US" sz="1200" dirty="0"/>
          </a:p>
        </p:txBody>
      </p:sp>
      <p:sp>
        <p:nvSpPr>
          <p:cNvPr id="27" name="Text 19"/>
          <p:cNvSpPr/>
          <p:nvPr/>
        </p:nvSpPr>
        <p:spPr>
          <a:xfrm>
            <a:off x="10058401" y="6259593"/>
            <a:ext cx="132080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BM Plex Mono" pitchFamily="49" charset="0"/>
                <a:ea typeface="IBM Plex Mono" pitchFamily="49" charset="-122"/>
                <a:cs typeface="IBM Plex Mono" pitchFamily="49" charset="-120"/>
              </a:rPr>
              <a:t>05 / 23</a:t>
            </a:r>
            <a:endParaRPr lang="en-US" sz="1200" dirty="0"/>
          </a:p>
        </p:txBody>
      </p:sp>
      <p:sp>
        <p:nvSpPr>
          <p:cNvPr id="28" name="Text 20"/>
          <p:cNvSpPr/>
          <p:nvPr/>
        </p:nvSpPr>
        <p:spPr>
          <a:xfrm>
            <a:off x="812800" y="1778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1111"/>
                </a:solidFill>
                <a:latin typeface="Inter" pitchFamily="34" charset="0"/>
                <a:ea typeface="Inter" pitchFamily="34" charset="-122"/>
                <a:cs typeface="Inter" pitchFamily="34" charset="-120"/>
              </a:rPr>
              <a:t>Intent Discovery Service</a:t>
            </a:r>
            <a:endParaRPr lang="en-US" sz="1200" dirty="0"/>
          </a:p>
        </p:txBody>
      </p:sp>
      <p:sp>
        <p:nvSpPr>
          <p:cNvPr id="29" name="Text 21"/>
          <p:cNvSpPr/>
          <p:nvPr/>
        </p:nvSpPr>
        <p:spPr>
          <a:xfrm>
            <a:off x="6800850" y="177800"/>
            <a:ext cx="457835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nter" pitchFamily="34" charset="0"/>
                <a:ea typeface="Inter" pitchFamily="34" charset="-122"/>
                <a:cs typeface="Inter" pitchFamily="34" charset="-120"/>
              </a:rPr>
              <a:t>GenAI Governance Panel</a:t>
            </a:r>
            <a:endParaRPr lang="en-US" sz="1200" dirty="0"/>
          </a:p>
        </p:txBody>
      </p:sp>
      <p:pic>
        <p:nvPicPr>
          <p:cNvPr id="30" name="Image 6" descr="line">    </p:cNvPr>
          <p:cNvPicPr>
            <a:picLocks noChangeAspect="1"/>
          </p:cNvPicPr>
          <p:nvPr/>
        </p:nvPicPr>
        <p:blipFill>
          <a:blip r:embed="rId7"/>
          <a:srcRect l="-1137" r="-1137" t="0" b="0"/>
          <a:stretch/>
        </p:blipFill>
        <p:spPr>
          <a:xfrm>
            <a:off x="0" y="533400"/>
            <a:ext cx="12192001" cy="3725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896091"/>
            <a:ext cx="304800" cy="25400"/>
          </a:xfrm>
          <a:prstGeom prst="rect">
            <a:avLst/>
          </a:prstGeom>
          <a:solidFill>
            <a:srgbClr val="EB0A1E"/>
          </a:solidFill>
          <a:ln/>
        </p:spPr>
      </p:sp>
      <p:sp>
        <p:nvSpPr>
          <p:cNvPr id="3" name="Text 1"/>
          <p:cNvSpPr/>
          <p:nvPr/>
        </p:nvSpPr>
        <p:spPr>
          <a:xfrm>
            <a:off x="1219200" y="812800"/>
            <a:ext cx="3005169"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SOLUTION · VERIFIABLE INTENT</a:t>
            </a:r>
            <a:endParaRPr lang="en-US" sz="1200" dirty="0"/>
          </a:p>
        </p:txBody>
      </p:sp>
      <p:sp>
        <p:nvSpPr>
          <p:cNvPr id="4" name="Text 2"/>
          <p:cNvSpPr/>
          <p:nvPr>
            <p:ph type="title"/>
          </p:nvPr>
        </p:nvSpPr>
        <p:spPr>
          <a:xfrm>
            <a:off x="812800" y="1106407"/>
            <a:ext cx="10883393" cy="427725"/>
          </a:xfrm>
          <a:prstGeom prst="rect">
            <a:avLst/>
          </a:prstGeom>
          <a:noFill/>
          <a:ln/>
        </p:spPr>
        <p:txBody>
          <a:bodyPr wrap="square" lIns="0" tIns="0" rIns="0" bIns="0" rtlCol="0" anchor="t">
            <a:normAutofit/>
          </a:bodyPr>
          <a:lstStyle/>
          <a:p>
            <a:pPr algn="l" indent="0" marL="0">
              <a:lnSpc>
                <a:spcPts val="3520"/>
              </a:lnSpc>
              <a:buNone/>
            </a:pPr>
            <a:r>
              <a:rPr lang="en-US" sz="3200" b="1" i="0" spc="-50" kern="0" dirty="0">
                <a:solidFill>
                  <a:srgbClr val="1A1A1A"/>
                </a:solidFill>
                <a:latin typeface="Inter" pitchFamily="34" charset="0"/>
                <a:ea typeface="Inter" pitchFamily="34" charset="-122"/>
                <a:cs typeface="Inter" pitchFamily="34" charset="-120"/>
              </a:rPr>
              <a:t>Every requirement leaves as something checkable</a:t>
            </a:r>
            <a:endParaRPr lang="en-US" sz="3200" dirty="0"/>
          </a:p>
        </p:txBody>
      </p:sp>
      <p:sp>
        <p:nvSpPr>
          <p:cNvPr id="5" name="Shape 3"/>
          <p:cNvSpPr/>
          <p:nvPr/>
        </p:nvSpPr>
        <p:spPr>
          <a:xfrm>
            <a:off x="11376026" y="1813533"/>
            <a:ext cx="0" cy="1925241"/>
          </a:xfrm>
          <a:prstGeom prst="line">
            <a:avLst/>
          </a:prstGeom>
          <a:noFill/>
          <a:ln w="6350">
            <a:solidFill>
              <a:srgbClr val="E0E0E0"/>
            </a:solidFill>
            <a:prstDash val="solid"/>
          </a:ln>
        </p:spPr>
      </p:sp>
      <p:sp>
        <p:nvSpPr>
          <p:cNvPr id="6" name="Shape 4"/>
          <p:cNvSpPr/>
          <p:nvPr/>
        </p:nvSpPr>
        <p:spPr>
          <a:xfrm>
            <a:off x="812800" y="3735599"/>
            <a:ext cx="10566401" cy="0"/>
          </a:xfrm>
          <a:prstGeom prst="line">
            <a:avLst/>
          </a:prstGeom>
          <a:noFill/>
          <a:ln w="6350">
            <a:solidFill>
              <a:srgbClr val="E0E0E0"/>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4653" y="1825386"/>
          <a:ext cx="10549467" cy="1908307"/>
        </p:xfrm>
        <a:graphic>
          <a:graphicData uri="http://schemas.openxmlformats.org/drawingml/2006/table">
            <a:tbl>
              <a:tblPr/>
              <a:tblGrid>
                <a:gridCol w="4008798"/>
                <a:gridCol w="6540670"/>
              </a:tblGrid>
              <a:tr h="381661">
                <a:tc>
                  <a:txBody>
                    <a:bodyPr/>
                    <a:lstStyle/>
                    <a:p>
                      <a:pPr indent="0" marL="0">
                        <a:lnSpc>
                          <a:spcPts val="1680"/>
                        </a:lnSpc>
                        <a:buNone/>
                      </a:pPr>
                      <a:r>
                        <a:rPr lang="en-US" sz="1200" b="1" dirty="0">
                          <a:solidFill>
                            <a:srgbClr val="FFFFFF"/>
                          </a:solidFill>
                          <a:latin typeface="Inter" pitchFamily="34" charset="0"/>
                          <a:ea typeface="Inter" pitchFamily="34" charset="-122"/>
                          <a:cs typeface="Inter" pitchFamily="34" charset="-120"/>
                        </a:rPr>
                        <a:t>Prose requirement today</a:t>
                      </a:r>
                      <a:endParaRPr lang="en-US" sz="1200" dirty="0">
                        <a:latin typeface="Inter" charset="0"/>
                        <a:ea typeface="Inter" charset="0"/>
                        <a:cs typeface="Inter" charset="0"/>
                      </a:endParaRPr>
                    </a:p>
                  </a:txBody>
                  <a:tcPr marL="127000" marR="127000" marT="88900" marB="88900" anchor="t">
                    <a:lnL w="12700" cap="flat" cmpd="sng" algn="ctr">
                      <a:solidFill>
                        <a:srgbClr val="CBCBCB"/>
                      </a:solidFill>
                      <a:prstDash val="solid"/>
                      <a:round/>
                      <a:headEnd type="none" w="med" len="med"/>
                      <a:tailEnd type="none" w="med" len="med"/>
                    </a:lnL>
                    <a:lnR w="12700" cap="flat" cmpd="sng" algn="ctr">
                      <a:solidFill>
                        <a:srgbClr val="191918"/>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91918"/>
                      </a:solidFill>
                      <a:prstDash val="solid"/>
                      <a:round/>
                      <a:headEnd type="none" w="med" len="med"/>
                      <a:tailEnd type="none" w="med" len="med"/>
                    </a:lnB>
                    <a:solidFill>
                      <a:srgbClr val="1A1A1A"/>
                    </a:solidFill>
                  </a:tcPr>
                </a:tc>
                <a:tc>
                  <a:txBody>
                    <a:bodyPr/>
                    <a:lstStyle/>
                    <a:p>
                      <a:pPr indent="0" marL="0">
                        <a:lnSpc>
                          <a:spcPts val="1680"/>
                        </a:lnSpc>
                        <a:buNone/>
                      </a:pPr>
                      <a:r>
                        <a:rPr lang="en-US" sz="1200" b="1" dirty="0">
                          <a:solidFill>
                            <a:srgbClr val="FFFFFF"/>
                          </a:solidFill>
                          <a:latin typeface="Inter" pitchFamily="34" charset="0"/>
                          <a:ea typeface="Inter" pitchFamily="34" charset="-122"/>
                          <a:cs typeface="Inter" pitchFamily="34" charset="-120"/>
                        </a:rPr>
                        <a:t>Verifiable form the service produces</a:t>
                      </a:r>
                      <a:endParaRPr lang="en-US" sz="1200" dirty="0">
                        <a:latin typeface="Inter" charset="0"/>
                        <a:ea typeface="Inter" charset="0"/>
                        <a:cs typeface="Inter" charset="0"/>
                      </a:endParaRPr>
                    </a:p>
                  </a:txBody>
                  <a:tcPr marL="127000" marR="127000" marT="88900" marB="88900" anchor="t">
                    <a:lnL w="12700" cap="flat" cmpd="sng" algn="ctr">
                      <a:solidFill>
                        <a:srgbClr val="191918"/>
                      </a:solidFill>
                      <a:prstDash val="solid"/>
                      <a:round/>
                      <a:headEnd type="none" w="med" len="med"/>
                      <a:tailEnd type="none" w="med" len="med"/>
                    </a:lnL>
                    <a:lnR w="12700" cap="flat" cmpd="sng" algn="ctr">
                      <a:solidFill>
                        <a:srgbClr val="191918"/>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91918"/>
                      </a:solidFill>
                      <a:prstDash val="solid"/>
                      <a:round/>
                      <a:headEnd type="none" w="med" len="med"/>
                      <a:tailEnd type="none" w="med" len="med"/>
                    </a:lnB>
                    <a:solidFill>
                      <a:srgbClr val="1A1A1A"/>
                    </a:solidFill>
                  </a:tcPr>
                </a:tc>
              </a:tr>
              <a:tr h="381661">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“The system should usually do X”</a:t>
                      </a:r>
                      <a:endParaRPr lang="en-US" sz="1200" dirty="0">
                        <a:latin typeface="Inter" charset="0"/>
                        <a:ea typeface="Inter" charset="0"/>
                        <a:cs typeface="Inter" charset="0"/>
                      </a:endParaRPr>
                    </a:p>
                  </a:txBody>
                  <a:tcPr marL="127000" marR="127000" marT="88900" marB="889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91918"/>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Rule with enumerated exceptions and a named enforcement point</a:t>
                      </a:r>
                      <a:endParaRPr lang="en-US" sz="1200" dirty="0">
                        <a:latin typeface="Inter" charset="0"/>
                        <a:ea typeface="Inter" charset="0"/>
                        <a:cs typeface="Inter" charset="0"/>
                      </a:endParaRPr>
                    </a:p>
                  </a:txBody>
                  <a:tcPr marL="127000" marR="127000" marT="88900" marB="889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91918"/>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81661">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“Route the record based on certain exceptions”</a:t>
                      </a:r>
                      <a:endParaRPr lang="en-US" sz="1200" dirty="0">
                        <a:latin typeface="Inter" charset="0"/>
                        <a:ea typeface="Inter" charset="0"/>
                        <a:cs typeface="Inter" charset="0"/>
                      </a:endParaRPr>
                    </a:p>
                  </a:txBody>
                  <a:tcPr marL="127000" marR="127000" marT="88900" marB="88900" anchor="t">
                    <a:lnL w="12700" cap="flat" cmpd="sng" algn="ctr">
                      <a:solidFill>
                        <a:srgbClr val="CBCBCB"/>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Decision table, machine-checked for full coverage and no contradictions</a:t>
                      </a:r>
                      <a:endParaRPr lang="en-US" sz="1200" dirty="0">
                        <a:latin typeface="Inter" charset="0"/>
                        <a:ea typeface="Inter" charset="0"/>
                        <a:cs typeface="Inter" charset="0"/>
                      </a:endParaRPr>
                    </a:p>
                  </a:txBody>
                  <a:tcPr marL="127000" marR="127000" marT="88900" marB="889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r>
              <a:tr h="381661">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“The user should see the correct status”</a:t>
                      </a:r>
                      <a:endParaRPr lang="en-US" sz="1200" dirty="0">
                        <a:latin typeface="Inter" charset="0"/>
                        <a:ea typeface="Inter" charset="0"/>
                        <a:cs typeface="Inter" charset="0"/>
                      </a:endParaRPr>
                    </a:p>
                  </a:txBody>
                  <a:tcPr marL="127000" marR="127000" marT="88900" marB="889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Explicit states, triggers and transitions, each with validation rules</a:t>
                      </a:r>
                      <a:endParaRPr lang="en-US" sz="1200" dirty="0">
                        <a:latin typeface="Inter" charset="0"/>
                        <a:ea typeface="Inter" charset="0"/>
                        <a:cs typeface="Inter" charset="0"/>
                      </a:endParaRPr>
                    </a:p>
                  </a:txBody>
                  <a:tcPr marL="127000" marR="127000" marT="88900" marB="889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81661">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Weak or untestable acceptance criteria</a:t>
                      </a:r>
                      <a:endParaRPr lang="en-US" sz="1200" dirty="0">
                        <a:latin typeface="Inter" charset="0"/>
                        <a:ea typeface="Inter" charset="0"/>
                        <a:cs typeface="Inter" charset="0"/>
                      </a:endParaRPr>
                    </a:p>
                  </a:txBody>
                  <a:tcPr marL="127000" marR="127000" marT="88900" marB="88900" anchor="t">
                    <a:lnL w="12700" cap="flat" cmpd="sng" algn="ctr">
                      <a:solidFill>
                        <a:srgbClr val="CBCBCB"/>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Testable conditions and edge cases, each mapped to required test evidence</a:t>
                      </a:r>
                      <a:endParaRPr lang="en-US" sz="1200" dirty="0">
                        <a:latin typeface="Inter" charset="0"/>
                        <a:ea typeface="Inter" charset="0"/>
                        <a:cs typeface="Inter" charset="0"/>
                      </a:endParaRPr>
                    </a:p>
                  </a:txBody>
                  <a:tcPr marL="127000" marR="127000" marT="88900" marB="889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r>
            </a:tbl>
          </a:graphicData>
        </a:graphic>
      </p:graphicFrame>
      <p:sp>
        <p:nvSpPr>
          <p:cNvPr id="8" name="Text 5"/>
          <p:cNvSpPr/>
          <p:nvPr/>
        </p:nvSpPr>
        <p:spPr>
          <a:xfrm>
            <a:off x="812800" y="3941973"/>
            <a:ext cx="10883393"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8595B"/>
                </a:solidFill>
                <a:latin typeface="Inter" pitchFamily="34" charset="0"/>
                <a:ea typeface="Inter" pitchFamily="34" charset="-122"/>
                <a:cs typeface="Inter" pitchFamily="34" charset="-120"/>
              </a:rPr>
              <a:t>TRACEABILITY CHAIN · EVERY LINK CROSS-REFERENCE CHECKED</a:t>
            </a:r>
            <a:endParaRPr lang="en-US" sz="1200" dirty="0"/>
          </a:p>
        </p:txBody>
      </p:sp>
      <p:sp>
        <p:nvSpPr>
          <p:cNvPr id="9" name="Text 6"/>
          <p:cNvSpPr/>
          <p:nvPr/>
        </p:nvSpPr>
        <p:spPr>
          <a:xfrm>
            <a:off x="819150" y="4241930"/>
            <a:ext cx="1775460" cy="417909"/>
          </a:xfrm>
          <a:prstGeom prst="roundRect">
            <a:avLst>
              <a:gd name="adj" fmla="val 10636"/>
            </a:avLst>
          </a:prstGeom>
          <a:solidFill>
            <a:srgbClr val="F0F0F0"/>
          </a:solidFill>
          <a:ln w="12700">
            <a:solidFill>
              <a:srgbClr val="58595B"/>
            </a:solidFill>
            <a:prstDash val="solid"/>
          </a:ln>
        </p:spPr>
        <p:txBody>
          <a:bodyPr wrap="square" lIns="94084" tIns="94084" rIns="94084" bIns="94084" rtlCol="0" anchor="ctr">
            <a:normAutofit/>
          </a:bodyPr>
          <a:lstStyle/>
          <a:p>
            <a:pPr algn="ctr" indent="0" marL="0">
              <a:lnSpc>
                <a:spcPts val="1560"/>
              </a:lnSpc>
              <a:buNone/>
            </a:pPr>
            <a:r>
              <a:rPr lang="en-US" sz="1200" b="1" dirty="0">
                <a:solidFill>
                  <a:srgbClr val="1A1A1A"/>
                </a:solidFill>
                <a:latin typeface="Inter" pitchFamily="34" charset="0"/>
                <a:ea typeface="Inter" pitchFamily="34" charset="-122"/>
                <a:cs typeface="Inter" pitchFamily="34" charset="-120"/>
              </a:rPr>
              <a:t>Business outcome</a:t>
            </a:r>
            <a:endParaRPr lang="en-US" sz="1200" dirty="0"/>
          </a:p>
        </p:txBody>
      </p:sp>
      <p:pic>
        <p:nvPicPr>
          <p:cNvPr id="10" name="Image 0" descr="arrow-right">    </p:cNvPr>
          <p:cNvPicPr>
            <a:picLocks noChangeAspect="1"/>
          </p:cNvPicPr>
          <p:nvPr/>
        </p:nvPicPr>
        <p:blipFill>
          <a:blip r:embed="rId1"/>
          <a:srcRect l="0" r="0" t="0" b="0"/>
          <a:stretch/>
        </p:blipFill>
        <p:spPr>
          <a:xfrm>
            <a:off x="2677160" y="4387373"/>
            <a:ext cx="254000" cy="127000"/>
          </a:xfrm>
          <a:prstGeom prst="rect">
            <a:avLst/>
          </a:prstGeom>
        </p:spPr>
      </p:pic>
      <p:sp>
        <p:nvSpPr>
          <p:cNvPr id="11" name="Text 7"/>
          <p:cNvSpPr/>
          <p:nvPr/>
        </p:nvSpPr>
        <p:spPr>
          <a:xfrm>
            <a:off x="3013710" y="4241930"/>
            <a:ext cx="1775460" cy="417909"/>
          </a:xfrm>
          <a:prstGeom prst="roundRect">
            <a:avLst>
              <a:gd name="adj" fmla="val 10636"/>
            </a:avLst>
          </a:prstGeom>
          <a:solidFill>
            <a:srgbClr val="F0F0F0"/>
          </a:solidFill>
          <a:ln w="12700">
            <a:solidFill>
              <a:srgbClr val="58595B"/>
            </a:solidFill>
            <a:prstDash val="solid"/>
          </a:ln>
        </p:spPr>
        <p:txBody>
          <a:bodyPr wrap="square" lIns="94084" tIns="94084" rIns="94084" bIns="94084" rtlCol="0" anchor="ctr">
            <a:normAutofit/>
          </a:bodyPr>
          <a:lstStyle/>
          <a:p>
            <a:pPr algn="ctr" indent="0" marL="0">
              <a:lnSpc>
                <a:spcPts val="1560"/>
              </a:lnSpc>
              <a:buNone/>
            </a:pPr>
            <a:r>
              <a:rPr lang="en-US" sz="1200" b="1" dirty="0">
                <a:solidFill>
                  <a:srgbClr val="1A1A1A"/>
                </a:solidFill>
                <a:latin typeface="Inter" pitchFamily="34" charset="0"/>
                <a:ea typeface="Inter" pitchFamily="34" charset="-122"/>
                <a:cs typeface="Inter" pitchFamily="34" charset="-120"/>
              </a:rPr>
              <a:t>Requirement</a:t>
            </a:r>
            <a:endParaRPr lang="en-US" sz="1200" dirty="0"/>
          </a:p>
        </p:txBody>
      </p:sp>
      <p:pic>
        <p:nvPicPr>
          <p:cNvPr id="12" name="Image 1" descr="arrow-right">    </p:cNvPr>
          <p:cNvPicPr>
            <a:picLocks noChangeAspect="1"/>
          </p:cNvPicPr>
          <p:nvPr/>
        </p:nvPicPr>
        <p:blipFill>
          <a:blip r:embed="rId2"/>
          <a:srcRect l="0" r="0" t="0" b="0"/>
          <a:stretch/>
        </p:blipFill>
        <p:spPr>
          <a:xfrm>
            <a:off x="4871720" y="4387373"/>
            <a:ext cx="254000" cy="127000"/>
          </a:xfrm>
          <a:prstGeom prst="rect">
            <a:avLst/>
          </a:prstGeom>
        </p:spPr>
      </p:pic>
      <p:sp>
        <p:nvSpPr>
          <p:cNvPr id="13" name="Text 8"/>
          <p:cNvSpPr/>
          <p:nvPr/>
        </p:nvSpPr>
        <p:spPr>
          <a:xfrm>
            <a:off x="5208270" y="4241930"/>
            <a:ext cx="1775460" cy="417909"/>
          </a:xfrm>
          <a:prstGeom prst="roundRect">
            <a:avLst>
              <a:gd name="adj" fmla="val 10636"/>
            </a:avLst>
          </a:prstGeom>
          <a:solidFill>
            <a:srgbClr val="F0F0F0"/>
          </a:solidFill>
          <a:ln w="12700">
            <a:solidFill>
              <a:srgbClr val="58595B"/>
            </a:solidFill>
            <a:prstDash val="solid"/>
          </a:ln>
        </p:spPr>
        <p:txBody>
          <a:bodyPr wrap="square" lIns="94084" tIns="94084" rIns="94084" bIns="94084" rtlCol="0" anchor="ctr">
            <a:normAutofit/>
          </a:bodyPr>
          <a:lstStyle/>
          <a:p>
            <a:pPr algn="ctr" indent="0" marL="0">
              <a:lnSpc>
                <a:spcPts val="1560"/>
              </a:lnSpc>
              <a:buNone/>
            </a:pPr>
            <a:r>
              <a:rPr lang="en-US" sz="1200" b="1" dirty="0">
                <a:solidFill>
                  <a:srgbClr val="1A1A1A"/>
                </a:solidFill>
                <a:latin typeface="Inter" pitchFamily="34" charset="0"/>
                <a:ea typeface="Inter" pitchFamily="34" charset="-122"/>
                <a:cs typeface="Inter" pitchFamily="34" charset="-120"/>
              </a:rPr>
              <a:t>Rule or decision table</a:t>
            </a:r>
            <a:endParaRPr lang="en-US" sz="1200" dirty="0"/>
          </a:p>
        </p:txBody>
      </p:sp>
      <p:pic>
        <p:nvPicPr>
          <p:cNvPr id="14" name="Image 2" descr="arrow-right">    </p:cNvPr>
          <p:cNvPicPr>
            <a:picLocks noChangeAspect="1"/>
          </p:cNvPicPr>
          <p:nvPr/>
        </p:nvPicPr>
        <p:blipFill>
          <a:blip r:embed="rId3"/>
          <a:srcRect l="0" r="0" t="0" b="0"/>
          <a:stretch/>
        </p:blipFill>
        <p:spPr>
          <a:xfrm>
            <a:off x="7066280" y="4387373"/>
            <a:ext cx="254000" cy="127000"/>
          </a:xfrm>
          <a:prstGeom prst="rect">
            <a:avLst/>
          </a:prstGeom>
        </p:spPr>
      </p:pic>
      <p:sp>
        <p:nvSpPr>
          <p:cNvPr id="15" name="Text 9"/>
          <p:cNvSpPr/>
          <p:nvPr/>
        </p:nvSpPr>
        <p:spPr>
          <a:xfrm>
            <a:off x="7402830" y="4241930"/>
            <a:ext cx="1775460" cy="417909"/>
          </a:xfrm>
          <a:prstGeom prst="roundRect">
            <a:avLst>
              <a:gd name="adj" fmla="val 10636"/>
            </a:avLst>
          </a:prstGeom>
          <a:solidFill>
            <a:srgbClr val="F0F0F0"/>
          </a:solidFill>
          <a:ln w="12700">
            <a:solidFill>
              <a:srgbClr val="58595B"/>
            </a:solidFill>
            <a:prstDash val="solid"/>
          </a:ln>
        </p:spPr>
        <p:txBody>
          <a:bodyPr wrap="square" lIns="94084" tIns="94084" rIns="94084" bIns="94084" rtlCol="0" anchor="ctr">
            <a:normAutofit/>
          </a:bodyPr>
          <a:lstStyle/>
          <a:p>
            <a:pPr algn="ctr" indent="0" marL="0">
              <a:lnSpc>
                <a:spcPts val="1560"/>
              </a:lnSpc>
              <a:buNone/>
            </a:pPr>
            <a:r>
              <a:rPr lang="en-US" sz="1200" b="1" dirty="0">
                <a:solidFill>
                  <a:srgbClr val="1A1A1A"/>
                </a:solidFill>
                <a:latin typeface="Inter" pitchFamily="34" charset="0"/>
                <a:ea typeface="Inter" pitchFamily="34" charset="-122"/>
                <a:cs typeface="Inter" pitchFamily="34" charset="-120"/>
              </a:rPr>
              <a:t>Acceptance criterion</a:t>
            </a:r>
            <a:endParaRPr lang="en-US" sz="1200" dirty="0"/>
          </a:p>
        </p:txBody>
      </p:sp>
      <p:pic>
        <p:nvPicPr>
          <p:cNvPr id="16" name="Image 3" descr="arrow-right">    </p:cNvPr>
          <p:cNvPicPr>
            <a:picLocks noChangeAspect="1"/>
          </p:cNvPicPr>
          <p:nvPr/>
        </p:nvPicPr>
        <p:blipFill>
          <a:blip r:embed="rId4"/>
          <a:srcRect l="0" r="0" t="0" b="0"/>
          <a:stretch/>
        </p:blipFill>
        <p:spPr>
          <a:xfrm>
            <a:off x="9260840" y="4387373"/>
            <a:ext cx="254000" cy="127000"/>
          </a:xfrm>
          <a:prstGeom prst="rect">
            <a:avLst/>
          </a:prstGeom>
        </p:spPr>
      </p:pic>
      <p:sp>
        <p:nvSpPr>
          <p:cNvPr id="17" name="Text 10"/>
          <p:cNvSpPr/>
          <p:nvPr/>
        </p:nvSpPr>
        <p:spPr>
          <a:xfrm>
            <a:off x="9597390" y="4241930"/>
            <a:ext cx="1775460" cy="417909"/>
          </a:xfrm>
          <a:prstGeom prst="roundRect">
            <a:avLst>
              <a:gd name="adj" fmla="val 10636"/>
            </a:avLst>
          </a:prstGeom>
          <a:solidFill>
            <a:srgbClr val="FDECEE"/>
          </a:solidFill>
          <a:ln w="12700">
            <a:solidFill>
              <a:srgbClr val="EB0A1E"/>
            </a:solidFill>
            <a:prstDash val="solid"/>
          </a:ln>
        </p:spPr>
        <p:txBody>
          <a:bodyPr wrap="square" lIns="94084" tIns="94084" rIns="94084" bIns="94084" rtlCol="0" anchor="ctr">
            <a:normAutofit/>
          </a:bodyPr>
          <a:lstStyle/>
          <a:p>
            <a:pPr algn="ctr" indent="0" marL="0">
              <a:lnSpc>
                <a:spcPts val="1560"/>
              </a:lnSpc>
              <a:buNone/>
            </a:pPr>
            <a:r>
              <a:rPr lang="en-US" sz="1200" b="1" dirty="0">
                <a:solidFill>
                  <a:srgbClr val="1A1A1A"/>
                </a:solidFill>
                <a:latin typeface="Inter" pitchFamily="34" charset="0"/>
                <a:ea typeface="Inter" pitchFamily="34" charset="-122"/>
                <a:cs typeface="Inter" pitchFamily="34" charset="-120"/>
              </a:rPr>
              <a:t>Test evidence</a:t>
            </a:r>
            <a:endParaRPr lang="en-US" sz="1200" dirty="0"/>
          </a:p>
        </p:txBody>
      </p:sp>
      <p:sp>
        <p:nvSpPr>
          <p:cNvPr id="18" name="Text 11"/>
          <p:cNvSpPr/>
          <p:nvPr/>
        </p:nvSpPr>
        <p:spPr>
          <a:xfrm>
            <a:off x="812800" y="6259590"/>
            <a:ext cx="784860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Inter" pitchFamily="34" charset="0"/>
                <a:ea typeface="Inter" pitchFamily="34" charset="-122"/>
                <a:cs typeface="Inter" pitchFamily="34" charset="-120"/>
              </a:rPr>
              <a:t>Proof of concept proposal · Policy CP6.55</a:t>
            </a:r>
            <a:endParaRPr lang="en-US" sz="1200" dirty="0"/>
          </a:p>
        </p:txBody>
      </p:sp>
      <p:sp>
        <p:nvSpPr>
          <p:cNvPr id="19" name="Text 12"/>
          <p:cNvSpPr/>
          <p:nvPr/>
        </p:nvSpPr>
        <p:spPr>
          <a:xfrm>
            <a:off x="10058401" y="6259590"/>
            <a:ext cx="132080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BM Plex Mono" pitchFamily="49" charset="0"/>
                <a:ea typeface="IBM Plex Mono" pitchFamily="49" charset="-122"/>
                <a:cs typeface="IBM Plex Mono" pitchFamily="49" charset="-120"/>
              </a:rPr>
              <a:t>06 / 23</a:t>
            </a:r>
            <a:endParaRPr lang="en-US" sz="1200" dirty="0"/>
          </a:p>
        </p:txBody>
      </p:sp>
      <p:sp>
        <p:nvSpPr>
          <p:cNvPr id="20" name="Text 13"/>
          <p:cNvSpPr/>
          <p:nvPr/>
        </p:nvSpPr>
        <p:spPr>
          <a:xfrm>
            <a:off x="812800" y="1778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1111"/>
                </a:solidFill>
                <a:latin typeface="Inter" pitchFamily="34" charset="0"/>
                <a:ea typeface="Inter" pitchFamily="34" charset="-122"/>
                <a:cs typeface="Inter" pitchFamily="34" charset="-120"/>
              </a:rPr>
              <a:t>Intent Discovery Service</a:t>
            </a:r>
            <a:endParaRPr lang="en-US" sz="1200" dirty="0"/>
          </a:p>
        </p:txBody>
      </p:sp>
      <p:sp>
        <p:nvSpPr>
          <p:cNvPr id="21" name="Text 14"/>
          <p:cNvSpPr/>
          <p:nvPr/>
        </p:nvSpPr>
        <p:spPr>
          <a:xfrm>
            <a:off x="6800850" y="177800"/>
            <a:ext cx="457835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nter" pitchFamily="34" charset="0"/>
                <a:ea typeface="Inter" pitchFamily="34" charset="-122"/>
                <a:cs typeface="Inter" pitchFamily="34" charset="-120"/>
              </a:rPr>
              <a:t>GenAI Governance Panel</a:t>
            </a:r>
            <a:endParaRPr lang="en-US" sz="1200" dirty="0"/>
          </a:p>
        </p:txBody>
      </p:sp>
      <p:pic>
        <p:nvPicPr>
          <p:cNvPr id="22" name="Image 4" descr="line">    </p:cNvPr>
          <p:cNvPicPr>
            <a:picLocks noChangeAspect="1"/>
          </p:cNvPicPr>
          <p:nvPr/>
        </p:nvPicPr>
        <p:blipFill>
          <a:blip r:embed="rId5"/>
          <a:srcRect l="-1137" r="-1137" t="0" b="0"/>
          <a:stretch/>
        </p:blipFill>
        <p:spPr>
          <a:xfrm>
            <a:off x="0" y="533400"/>
            <a:ext cx="12192001" cy="3725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896091"/>
            <a:ext cx="304800" cy="25400"/>
          </a:xfrm>
          <a:prstGeom prst="rect">
            <a:avLst/>
          </a:prstGeom>
          <a:solidFill>
            <a:srgbClr val="EB0A1E"/>
          </a:solidFill>
          <a:ln/>
        </p:spPr>
      </p:sp>
      <p:sp>
        <p:nvSpPr>
          <p:cNvPr id="3" name="Text 1"/>
          <p:cNvSpPr/>
          <p:nvPr/>
        </p:nvSpPr>
        <p:spPr>
          <a:xfrm>
            <a:off x="1219200" y="812800"/>
            <a:ext cx="3689445"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SOLUTION · TWO-STAGE VERIFICATION</a:t>
            </a:r>
            <a:endParaRPr lang="en-US" sz="1200" dirty="0"/>
          </a:p>
        </p:txBody>
      </p:sp>
      <p:sp>
        <p:nvSpPr>
          <p:cNvPr id="4" name="Text 2"/>
          <p:cNvSpPr/>
          <p:nvPr>
            <p:ph type="title"/>
          </p:nvPr>
        </p:nvSpPr>
        <p:spPr>
          <a:xfrm>
            <a:off x="812800" y="1106407"/>
            <a:ext cx="10883393" cy="427725"/>
          </a:xfrm>
          <a:prstGeom prst="rect">
            <a:avLst/>
          </a:prstGeom>
          <a:noFill/>
          <a:ln/>
        </p:spPr>
        <p:txBody>
          <a:bodyPr wrap="square" lIns="0" tIns="0" rIns="0" bIns="0" rtlCol="0" anchor="t">
            <a:normAutofit/>
          </a:bodyPr>
          <a:lstStyle/>
          <a:p>
            <a:pPr algn="l" indent="0" marL="0">
              <a:lnSpc>
                <a:spcPts val="3520"/>
              </a:lnSpc>
              <a:buNone/>
            </a:pPr>
            <a:r>
              <a:rPr lang="en-US" sz="3200" b="1" i="0" spc="-50" kern="0" dirty="0">
                <a:solidFill>
                  <a:srgbClr val="1A1A1A"/>
                </a:solidFill>
                <a:latin typeface="Inter" pitchFamily="34" charset="0"/>
                <a:ea typeface="Inter" pitchFamily="34" charset="-122"/>
                <a:cs typeface="Inter" pitchFamily="34" charset="-120"/>
              </a:rPr>
              <a:t>Verification moves ahead of code</a:t>
            </a:r>
            <a:endParaRPr lang="en-US" sz="3200" dirty="0"/>
          </a:p>
        </p:txBody>
      </p:sp>
      <p:sp>
        <p:nvSpPr>
          <p:cNvPr id="5" name="Shape 3"/>
          <p:cNvSpPr/>
          <p:nvPr/>
        </p:nvSpPr>
        <p:spPr>
          <a:xfrm>
            <a:off x="819150" y="1819883"/>
            <a:ext cx="6273218" cy="2725314"/>
          </a:xfrm>
          <a:prstGeom prst="roundRect">
            <a:avLst>
              <a:gd name="adj" fmla="val 2097"/>
            </a:avLst>
          </a:prstGeom>
          <a:solidFill>
            <a:srgbClr val="FFFFFF"/>
          </a:solidFill>
          <a:ln w="12700">
            <a:solidFill>
              <a:srgbClr val="EB0A1E"/>
            </a:solidFill>
            <a:prstDash val="solid"/>
          </a:ln>
        </p:spPr>
      </p:sp>
      <p:sp>
        <p:nvSpPr>
          <p:cNvPr id="6" name="Text 4"/>
          <p:cNvSpPr/>
          <p:nvPr/>
        </p:nvSpPr>
        <p:spPr>
          <a:xfrm>
            <a:off x="1078653" y="2053986"/>
            <a:ext cx="5926838"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THIS PROOF OF CONCEPT</a:t>
            </a:r>
            <a:endParaRPr lang="en-US" sz="1200" dirty="0"/>
          </a:p>
        </p:txBody>
      </p:sp>
      <p:sp>
        <p:nvSpPr>
          <p:cNvPr id="7" name="Text 5"/>
          <p:cNvSpPr/>
          <p:nvPr/>
        </p:nvSpPr>
        <p:spPr>
          <a:xfrm>
            <a:off x="1078653" y="2372993"/>
            <a:ext cx="5926838" cy="29972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A1A1A"/>
                </a:solidFill>
                <a:latin typeface="Inter" pitchFamily="34" charset="0"/>
                <a:ea typeface="Inter" pitchFamily="34" charset="-122"/>
                <a:cs typeface="Inter" pitchFamily="34" charset="-120"/>
              </a:rPr>
              <a:t>Stage 1 · Pre-code: verify the spec</a:t>
            </a:r>
            <a:endParaRPr lang="en-US" sz="2000" dirty="0"/>
          </a:p>
        </p:txBody>
      </p:sp>
      <p:sp>
        <p:nvSpPr>
          <p:cNvPr id="8" name="Text 6"/>
          <p:cNvSpPr/>
          <p:nvPr/>
        </p:nvSpPr>
        <p:spPr>
          <a:xfrm>
            <a:off x="1078653" y="2774314"/>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1A1A1A"/>
          </a:solidFill>
          <a:ln/>
        </p:spPr>
        <p:txBody>
          <a:bodyPr wrap="square" lIns="0" tIns="0" rIns="0" bIns="0" rtlCol="0" anchor="t">
            <a:normAutofit/>
          </a:bodyPr>
          <a:lstStyle/>
          <a:p>
            <a:pPr algn="ctr" indent="0" marL="0">
              <a:lnSpc>
                <a:spcPts val="2400"/>
              </a:lnSpc>
              <a:buNone/>
            </a:pPr>
            <a:r>
              <a:rPr lang="en-US" sz="1200" dirty="0">
                <a:solidFill>
                  <a:srgbClr val="FFFFFF"/>
                </a:solidFill>
                <a:latin typeface="IBM Plex Mono" pitchFamily="49" charset="0"/>
                <a:ea typeface="IBM Plex Mono" pitchFamily="49" charset="-122"/>
                <a:cs typeface="IBM Plex Mono" pitchFamily="49" charset="-120"/>
              </a:rPr>
              <a:t>1</a:t>
            </a:r>
            <a:endParaRPr lang="en-US" sz="1200" dirty="0"/>
          </a:p>
        </p:txBody>
      </p:sp>
      <p:sp>
        <p:nvSpPr>
          <p:cNvPr id="9" name="Text 7"/>
          <p:cNvSpPr/>
          <p:nvPr/>
        </p:nvSpPr>
        <p:spPr>
          <a:xfrm>
            <a:off x="1510453" y="2774314"/>
            <a:ext cx="5482084"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Deterministic checks</a:t>
            </a:r>
            <a:endParaRPr lang="en-US" sz="1500" dirty="0"/>
          </a:p>
        </p:txBody>
      </p:sp>
      <p:sp>
        <p:nvSpPr>
          <p:cNvPr id="10" name="Text 8"/>
          <p:cNvSpPr/>
          <p:nvPr/>
        </p:nvSpPr>
        <p:spPr>
          <a:xfrm>
            <a:off x="1510453" y="3009900"/>
            <a:ext cx="5482084"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Structure, coverage and traceability, enforced by non-AI gates</a:t>
            </a:r>
            <a:endParaRPr lang="en-US" sz="1200" dirty="0"/>
          </a:p>
        </p:txBody>
      </p:sp>
      <p:sp>
        <p:nvSpPr>
          <p:cNvPr id="11" name="Text 9"/>
          <p:cNvSpPr/>
          <p:nvPr/>
        </p:nvSpPr>
        <p:spPr>
          <a:xfrm>
            <a:off x="1078653" y="3328907"/>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1A1A1A"/>
          </a:solidFill>
          <a:ln/>
        </p:spPr>
        <p:txBody>
          <a:bodyPr wrap="square" lIns="0" tIns="0" rIns="0" bIns="0" rtlCol="0" anchor="t">
            <a:normAutofit/>
          </a:bodyPr>
          <a:lstStyle/>
          <a:p>
            <a:pPr algn="ctr" indent="0" marL="0">
              <a:lnSpc>
                <a:spcPts val="2400"/>
              </a:lnSpc>
              <a:buNone/>
            </a:pPr>
            <a:r>
              <a:rPr lang="en-US" sz="1200" dirty="0">
                <a:solidFill>
                  <a:srgbClr val="FFFFFF"/>
                </a:solidFill>
                <a:latin typeface="IBM Plex Mono" pitchFamily="49" charset="0"/>
                <a:ea typeface="IBM Plex Mono" pitchFamily="49" charset="-122"/>
                <a:cs typeface="IBM Plex Mono" pitchFamily="49" charset="-120"/>
              </a:rPr>
              <a:t>2</a:t>
            </a:r>
            <a:endParaRPr lang="en-US" sz="1200" dirty="0"/>
          </a:p>
        </p:txBody>
      </p:sp>
      <p:sp>
        <p:nvSpPr>
          <p:cNvPr id="12" name="Text 10"/>
          <p:cNvSpPr/>
          <p:nvPr/>
        </p:nvSpPr>
        <p:spPr>
          <a:xfrm>
            <a:off x="1510453" y="3328907"/>
            <a:ext cx="5482084"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LLM-as-judge critique</a:t>
            </a:r>
            <a:endParaRPr lang="en-US" sz="1500" dirty="0"/>
          </a:p>
        </p:txBody>
      </p:sp>
      <p:sp>
        <p:nvSpPr>
          <p:cNvPr id="13" name="Text 11"/>
          <p:cNvSpPr/>
          <p:nvPr/>
        </p:nvSpPr>
        <p:spPr>
          <a:xfrm>
            <a:off x="1510453" y="3564493"/>
            <a:ext cx="5482084"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Adversarial review for gaps, contradictions and hidden assumptions; flags only</a:t>
            </a:r>
            <a:endParaRPr lang="en-US" sz="1200" dirty="0"/>
          </a:p>
        </p:txBody>
      </p:sp>
      <p:sp>
        <p:nvSpPr>
          <p:cNvPr id="14" name="Text 12"/>
          <p:cNvSpPr/>
          <p:nvPr/>
        </p:nvSpPr>
        <p:spPr>
          <a:xfrm>
            <a:off x="1078653" y="3883499"/>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1A1A1A"/>
          </a:solidFill>
          <a:ln/>
        </p:spPr>
        <p:txBody>
          <a:bodyPr wrap="square" lIns="0" tIns="0" rIns="0" bIns="0" rtlCol="0" anchor="t">
            <a:normAutofit/>
          </a:bodyPr>
          <a:lstStyle/>
          <a:p>
            <a:pPr algn="ctr" indent="0" marL="0">
              <a:lnSpc>
                <a:spcPts val="2400"/>
              </a:lnSpc>
              <a:buNone/>
            </a:pPr>
            <a:r>
              <a:rPr lang="en-US" sz="1200" dirty="0">
                <a:solidFill>
                  <a:srgbClr val="FFFFFF"/>
                </a:solidFill>
                <a:latin typeface="IBM Plex Mono" pitchFamily="49" charset="0"/>
                <a:ea typeface="IBM Plex Mono" pitchFamily="49" charset="-122"/>
                <a:cs typeface="IBM Plex Mono" pitchFamily="49" charset="-120"/>
              </a:rPr>
              <a:t>3</a:t>
            </a:r>
            <a:endParaRPr lang="en-US" sz="1200" dirty="0"/>
          </a:p>
        </p:txBody>
      </p:sp>
      <p:sp>
        <p:nvSpPr>
          <p:cNvPr id="15" name="Text 13"/>
          <p:cNvSpPr/>
          <p:nvPr/>
        </p:nvSpPr>
        <p:spPr>
          <a:xfrm>
            <a:off x="1510453" y="3883499"/>
            <a:ext cx="5482084"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Human verification</a:t>
            </a:r>
            <a:endParaRPr lang="en-US" sz="1500" dirty="0"/>
          </a:p>
        </p:txBody>
      </p:sp>
      <p:sp>
        <p:nvSpPr>
          <p:cNvPr id="16" name="Text 14"/>
          <p:cNvSpPr/>
          <p:nvPr/>
        </p:nvSpPr>
        <p:spPr>
          <a:xfrm>
            <a:off x="1510453" y="4119085"/>
            <a:ext cx="5482084"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IR Author and domain SME confirm the business meaning</a:t>
            </a:r>
            <a:endParaRPr lang="en-US" sz="1200" dirty="0"/>
          </a:p>
        </p:txBody>
      </p:sp>
      <p:sp>
        <p:nvSpPr>
          <p:cNvPr id="17" name="Shape 15"/>
          <p:cNvSpPr/>
          <p:nvPr/>
        </p:nvSpPr>
        <p:spPr>
          <a:xfrm>
            <a:off x="7257469" y="1819883"/>
            <a:ext cx="4115382" cy="2725314"/>
          </a:xfrm>
          <a:prstGeom prst="roundRect">
            <a:avLst>
              <a:gd name="adj" fmla="val 2097"/>
            </a:avLst>
          </a:prstGeom>
          <a:solidFill>
            <a:srgbClr val="F5F5F5"/>
          </a:solidFill>
          <a:ln w="12700">
            <a:solidFill>
              <a:srgbClr val="9E9E9E"/>
            </a:solidFill>
            <a:prstDash val="dash"/>
          </a:ln>
        </p:spPr>
      </p:sp>
      <p:sp>
        <p:nvSpPr>
          <p:cNvPr id="18" name="Text 16"/>
          <p:cNvSpPr/>
          <p:nvPr/>
        </p:nvSpPr>
        <p:spPr>
          <a:xfrm>
            <a:off x="7516971" y="2053986"/>
            <a:ext cx="3704267"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B6B6B"/>
                </a:solidFill>
                <a:latin typeface="Inter" pitchFamily="34" charset="0"/>
                <a:ea typeface="Inter" pitchFamily="34" charset="-122"/>
                <a:cs typeface="Inter" pitchFamily="34" charset="-120"/>
              </a:rPr>
              <a:t>FUTURE PHASE · OUT OF SCOPE</a:t>
            </a:r>
            <a:endParaRPr lang="en-US" sz="1200" dirty="0"/>
          </a:p>
        </p:txBody>
      </p:sp>
      <p:sp>
        <p:nvSpPr>
          <p:cNvPr id="19" name="Text 17"/>
          <p:cNvSpPr/>
          <p:nvPr/>
        </p:nvSpPr>
        <p:spPr>
          <a:xfrm>
            <a:off x="7516971" y="2372993"/>
            <a:ext cx="3704267" cy="57404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58595B"/>
                </a:solidFill>
                <a:latin typeface="Inter" pitchFamily="34" charset="0"/>
                <a:ea typeface="Inter" pitchFamily="34" charset="-122"/>
                <a:cs typeface="Inter" pitchFamily="34" charset="-120"/>
              </a:rPr>
              <a:t>Stage 2 · Post-code: verify the code</a:t>
            </a:r>
            <a:endParaRPr lang="en-US" sz="2000" dirty="0"/>
          </a:p>
        </p:txBody>
      </p:sp>
      <p:sp>
        <p:nvSpPr>
          <p:cNvPr id="20" name="Text 18"/>
          <p:cNvSpPr/>
          <p:nvPr/>
        </p:nvSpPr>
        <p:spPr>
          <a:xfrm>
            <a:off x="7516971" y="3048636"/>
            <a:ext cx="3704267" cy="60142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AI checks the implementation against the approved spec, using its acceptance criteria and evaluation rubric.</a:t>
            </a:r>
            <a:endParaRPr lang="en-US" sz="1200" dirty="0"/>
          </a:p>
        </p:txBody>
      </p:sp>
      <p:sp>
        <p:nvSpPr>
          <p:cNvPr id="21" name="Text 19"/>
          <p:cNvSpPr/>
          <p:nvPr/>
        </p:nvSpPr>
        <p:spPr>
          <a:xfrm>
            <a:off x="7516971" y="3751659"/>
            <a:ext cx="3704267"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Not part of this request. It would need a separate Panel submission.</a:t>
            </a:r>
            <a:endParaRPr lang="en-US" sz="1200" dirty="0"/>
          </a:p>
        </p:txBody>
      </p:sp>
      <p:sp>
        <p:nvSpPr>
          <p:cNvPr id="22" name="Shape 20"/>
          <p:cNvSpPr/>
          <p:nvPr/>
        </p:nvSpPr>
        <p:spPr>
          <a:xfrm>
            <a:off x="812800" y="4754749"/>
            <a:ext cx="10566401" cy="482600"/>
          </a:xfrm>
          <a:prstGeom prst="roundRect">
            <a:avLst>
              <a:gd name="adj" fmla="val 10526"/>
            </a:avLst>
          </a:prstGeom>
          <a:solidFill>
            <a:srgbClr val="1A1A1A"/>
          </a:solidFill>
          <a:ln/>
        </p:spPr>
      </p:sp>
      <p:pic>
        <p:nvPicPr>
          <p:cNvPr id="23" name="Image 0" descr="Clock">    </p:cNvPr>
          <p:cNvPicPr>
            <a:picLocks noChangeAspect="1"/>
          </p:cNvPicPr>
          <p:nvPr/>
        </p:nvPicPr>
        <p:blipFill>
          <a:blip r:embed="rId1"/>
          <a:srcRect l="0" r="0" t="0" b="0"/>
          <a:stretch/>
        </p:blipFill>
        <p:spPr>
          <a:xfrm>
            <a:off x="1016000" y="4881749"/>
            <a:ext cx="228600" cy="228600"/>
          </a:xfrm>
          <a:prstGeom prst="rect">
            <a:avLst/>
          </a:prstGeom>
        </p:spPr>
      </p:pic>
      <p:sp>
        <p:nvSpPr>
          <p:cNvPr id="24" name="Text 21"/>
          <p:cNvSpPr/>
          <p:nvPr/>
        </p:nvSpPr>
        <p:spPr>
          <a:xfrm>
            <a:off x="1371600" y="4900030"/>
            <a:ext cx="7518686"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Review shifts left: intent is verified once, up front, not reconstructed across many PRs at the end.</a:t>
            </a:r>
            <a:endParaRPr lang="en-US" sz="1200" dirty="0"/>
          </a:p>
        </p:txBody>
      </p:sp>
      <p:sp>
        <p:nvSpPr>
          <p:cNvPr id="25" name="Text 22"/>
          <p:cNvSpPr/>
          <p:nvPr/>
        </p:nvSpPr>
        <p:spPr>
          <a:xfrm>
            <a:off x="812800" y="6259590"/>
            <a:ext cx="784860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Inter" pitchFamily="34" charset="0"/>
                <a:ea typeface="Inter" pitchFamily="34" charset="-122"/>
                <a:cs typeface="Inter" pitchFamily="34" charset="-120"/>
              </a:rPr>
              <a:t>Proof of concept proposal · Policy CP6.55</a:t>
            </a:r>
            <a:endParaRPr lang="en-US" sz="1200" dirty="0"/>
          </a:p>
        </p:txBody>
      </p:sp>
      <p:sp>
        <p:nvSpPr>
          <p:cNvPr id="26" name="Text 23"/>
          <p:cNvSpPr/>
          <p:nvPr/>
        </p:nvSpPr>
        <p:spPr>
          <a:xfrm>
            <a:off x="10058401" y="6259590"/>
            <a:ext cx="132080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BM Plex Mono" pitchFamily="49" charset="0"/>
                <a:ea typeface="IBM Plex Mono" pitchFamily="49" charset="-122"/>
                <a:cs typeface="IBM Plex Mono" pitchFamily="49" charset="-120"/>
              </a:rPr>
              <a:t>07 / 23</a:t>
            </a:r>
            <a:endParaRPr lang="en-US" sz="1200" dirty="0"/>
          </a:p>
        </p:txBody>
      </p:sp>
      <p:sp>
        <p:nvSpPr>
          <p:cNvPr id="27" name="Text 24"/>
          <p:cNvSpPr/>
          <p:nvPr/>
        </p:nvSpPr>
        <p:spPr>
          <a:xfrm>
            <a:off x="812800" y="1778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1111"/>
                </a:solidFill>
                <a:latin typeface="Inter" pitchFamily="34" charset="0"/>
                <a:ea typeface="Inter" pitchFamily="34" charset="-122"/>
                <a:cs typeface="Inter" pitchFamily="34" charset="-120"/>
              </a:rPr>
              <a:t>Intent Discovery Service</a:t>
            </a:r>
            <a:endParaRPr lang="en-US" sz="1200" dirty="0"/>
          </a:p>
        </p:txBody>
      </p:sp>
      <p:sp>
        <p:nvSpPr>
          <p:cNvPr id="28" name="Text 25"/>
          <p:cNvSpPr/>
          <p:nvPr/>
        </p:nvSpPr>
        <p:spPr>
          <a:xfrm>
            <a:off x="6800850" y="177800"/>
            <a:ext cx="457835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nter" pitchFamily="34" charset="0"/>
                <a:ea typeface="Inter" pitchFamily="34" charset="-122"/>
                <a:cs typeface="Inter" pitchFamily="34" charset="-120"/>
              </a:rPr>
              <a:t>GenAI Governance Panel</a:t>
            </a:r>
            <a:endParaRPr lang="en-US" sz="1200" dirty="0"/>
          </a:p>
        </p:txBody>
      </p:sp>
      <p:pic>
        <p:nvPicPr>
          <p:cNvPr id="29" name="Image 1" descr="line">    </p:cNvPr>
          <p:cNvPicPr>
            <a:picLocks noChangeAspect="1"/>
          </p:cNvPicPr>
          <p:nvPr/>
        </p:nvPicPr>
        <p:blipFill>
          <a:blip r:embed="rId2"/>
          <a:srcRect l="-1137" r="-1137" t="0" b="0"/>
          <a:stretch/>
        </p:blipFill>
        <p:spPr>
          <a:xfrm>
            <a:off x="0" y="533400"/>
            <a:ext cx="12192001" cy="3725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896091"/>
            <a:ext cx="304800" cy="25400"/>
          </a:xfrm>
          <a:prstGeom prst="rect">
            <a:avLst/>
          </a:prstGeom>
          <a:solidFill>
            <a:srgbClr val="EB0A1E"/>
          </a:solidFill>
          <a:ln/>
        </p:spPr>
      </p:sp>
      <p:sp>
        <p:nvSpPr>
          <p:cNvPr id="3" name="Text 1"/>
          <p:cNvSpPr/>
          <p:nvPr/>
        </p:nvSpPr>
        <p:spPr>
          <a:xfrm>
            <a:off x="1219200" y="812800"/>
            <a:ext cx="3842480"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SOLUTION · ALTERNATIVES CONSIDERED</a:t>
            </a:r>
            <a:endParaRPr lang="en-US" sz="1200" dirty="0"/>
          </a:p>
        </p:txBody>
      </p:sp>
      <p:sp>
        <p:nvSpPr>
          <p:cNvPr id="4" name="Text 2"/>
          <p:cNvSpPr/>
          <p:nvPr>
            <p:ph type="title"/>
          </p:nvPr>
        </p:nvSpPr>
        <p:spPr>
          <a:xfrm>
            <a:off x="812800" y="1106407"/>
            <a:ext cx="10883393" cy="427725"/>
          </a:xfrm>
          <a:prstGeom prst="rect">
            <a:avLst/>
          </a:prstGeom>
          <a:noFill/>
          <a:ln/>
        </p:spPr>
        <p:txBody>
          <a:bodyPr wrap="square" lIns="0" tIns="0" rIns="0" bIns="0" rtlCol="0" anchor="t">
            <a:normAutofit/>
          </a:bodyPr>
          <a:lstStyle/>
          <a:p>
            <a:pPr algn="l" indent="0" marL="0">
              <a:lnSpc>
                <a:spcPts val="3520"/>
              </a:lnSpc>
              <a:buNone/>
            </a:pPr>
            <a:r>
              <a:rPr lang="en-US" sz="3200" b="1" i="0" spc="-50" kern="0" dirty="0">
                <a:solidFill>
                  <a:srgbClr val="1A1A1A"/>
                </a:solidFill>
                <a:latin typeface="Inter" pitchFamily="34" charset="0"/>
                <a:ea typeface="Inter" pitchFamily="34" charset="-122"/>
                <a:cs typeface="Inter" pitchFamily="34" charset="-120"/>
              </a:rPr>
              <a:t>Why GenAI, and why alternatives fall short</a:t>
            </a:r>
            <a:endParaRPr lang="en-US" sz="3200" dirty="0"/>
          </a:p>
        </p:txBody>
      </p:sp>
      <p:sp>
        <p:nvSpPr>
          <p:cNvPr id="5" name="Text 3"/>
          <p:cNvSpPr/>
          <p:nvPr/>
        </p:nvSpPr>
        <p:spPr>
          <a:xfrm>
            <a:off x="812800" y="1813533"/>
            <a:ext cx="10883393" cy="47117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58595B"/>
                </a:solidFill>
                <a:latin typeface="Inter" pitchFamily="34" charset="0"/>
                <a:ea typeface="Inter" pitchFamily="34" charset="-122"/>
                <a:cs typeface="Inter" pitchFamily="34" charset="-120"/>
              </a:rPr>
              <a:t>The core task is contextual reasoning over ambiguous business language. Non-generative methods stay in the design for deterministic validation, but cannot establish business meaning alone.</a:t>
            </a:r>
            <a:endParaRPr lang="en-US" sz="1500" dirty="0"/>
          </a:p>
        </p:txBody>
      </p:sp>
      <p:sp>
        <p:nvSpPr>
          <p:cNvPr id="6" name="Shape 4"/>
          <p:cNvSpPr/>
          <p:nvPr/>
        </p:nvSpPr>
        <p:spPr>
          <a:xfrm>
            <a:off x="11376026" y="2462504"/>
            <a:ext cx="0" cy="2820273"/>
          </a:xfrm>
          <a:prstGeom prst="line">
            <a:avLst/>
          </a:prstGeom>
          <a:noFill/>
          <a:ln w="6350">
            <a:solidFill>
              <a:srgbClr val="E0E0E0"/>
            </a:solidFill>
            <a:prstDash val="solid"/>
          </a:ln>
        </p:spPr>
      </p:sp>
      <p:sp>
        <p:nvSpPr>
          <p:cNvPr id="7" name="Shape 5"/>
          <p:cNvSpPr/>
          <p:nvPr/>
        </p:nvSpPr>
        <p:spPr>
          <a:xfrm>
            <a:off x="812800" y="5279602"/>
            <a:ext cx="10566401" cy="0"/>
          </a:xfrm>
          <a:prstGeom prst="line">
            <a:avLst/>
          </a:prstGeom>
          <a:noFill/>
          <a:ln w="6350">
            <a:solidFill>
              <a:srgbClr val="E0E0E0"/>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24653" y="2474357"/>
          <a:ext cx="10549467" cy="2803340"/>
        </p:xfrm>
        <a:graphic>
          <a:graphicData uri="http://schemas.openxmlformats.org/drawingml/2006/table">
            <a:tbl>
              <a:tblPr/>
              <a:tblGrid>
                <a:gridCol w="2531872"/>
                <a:gridCol w="3164840"/>
                <a:gridCol w="4852755"/>
              </a:tblGrid>
              <a:tr h="407061">
                <a:tc>
                  <a:txBody>
                    <a:bodyPr/>
                    <a:lstStyle/>
                    <a:p>
                      <a:pPr indent="0" marL="0">
                        <a:lnSpc>
                          <a:spcPts val="1680"/>
                        </a:lnSpc>
                        <a:buNone/>
                      </a:pPr>
                      <a:r>
                        <a:rPr lang="en-US" sz="1200" b="1" dirty="0">
                          <a:solidFill>
                            <a:srgbClr val="FFFFFF"/>
                          </a:solidFill>
                          <a:latin typeface="Inter" pitchFamily="34" charset="0"/>
                          <a:ea typeface="Inter" pitchFamily="34" charset="-122"/>
                          <a:cs typeface="Inter" pitchFamily="34" charset="-120"/>
                        </a:rPr>
                        <a:t>Alternative</a:t>
                      </a:r>
                      <a:endParaRPr lang="en-US" sz="12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191918"/>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91918"/>
                      </a:solidFill>
                      <a:prstDash val="solid"/>
                      <a:round/>
                      <a:headEnd type="none" w="med" len="med"/>
                      <a:tailEnd type="none" w="med" len="med"/>
                    </a:lnB>
                    <a:solidFill>
                      <a:srgbClr val="1A1A1A"/>
                    </a:solidFill>
                  </a:tcPr>
                </a:tc>
                <a:tc>
                  <a:txBody>
                    <a:bodyPr/>
                    <a:lstStyle/>
                    <a:p>
                      <a:pPr indent="0" marL="0">
                        <a:lnSpc>
                          <a:spcPts val="1680"/>
                        </a:lnSpc>
                        <a:buNone/>
                      </a:pPr>
                      <a:r>
                        <a:rPr lang="en-US" sz="1200" b="1" dirty="0">
                          <a:solidFill>
                            <a:srgbClr val="FFFFFF"/>
                          </a:solidFill>
                          <a:latin typeface="Inter" pitchFamily="34" charset="0"/>
                          <a:ea typeface="Inter" pitchFamily="34" charset="-122"/>
                          <a:cs typeface="Inter" pitchFamily="34" charset="-120"/>
                        </a:rPr>
                        <a:t>What it can do</a:t>
                      </a:r>
                      <a:endParaRPr lang="en-US" sz="1200" dirty="0">
                        <a:latin typeface="Inter" charset="0"/>
                        <a:ea typeface="Inter" charset="0"/>
                        <a:cs typeface="Inter" charset="0"/>
                      </a:endParaRPr>
                    </a:p>
                  </a:txBody>
                  <a:tcPr marL="127000" marR="127000" marT="101600" marB="101600" anchor="t">
                    <a:lnL w="12700" cap="flat" cmpd="sng" algn="ctr">
                      <a:solidFill>
                        <a:srgbClr val="191918"/>
                      </a:solidFill>
                      <a:prstDash val="solid"/>
                      <a:round/>
                      <a:headEnd type="none" w="med" len="med"/>
                      <a:tailEnd type="none" w="med" len="med"/>
                    </a:lnL>
                    <a:lnR w="12700" cap="flat" cmpd="sng" algn="ctr">
                      <a:solidFill>
                        <a:srgbClr val="191918"/>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91918"/>
                      </a:solidFill>
                      <a:prstDash val="solid"/>
                      <a:round/>
                      <a:headEnd type="none" w="med" len="med"/>
                      <a:tailEnd type="none" w="med" len="med"/>
                    </a:lnB>
                    <a:solidFill>
                      <a:srgbClr val="1A1A1A"/>
                    </a:solidFill>
                  </a:tcPr>
                </a:tc>
                <a:tc>
                  <a:txBody>
                    <a:bodyPr/>
                    <a:lstStyle/>
                    <a:p>
                      <a:pPr indent="0" marL="0">
                        <a:lnSpc>
                          <a:spcPts val="1680"/>
                        </a:lnSpc>
                        <a:buNone/>
                      </a:pPr>
                      <a:r>
                        <a:rPr lang="en-US" sz="1200" b="1" dirty="0">
                          <a:solidFill>
                            <a:srgbClr val="FFFFFF"/>
                          </a:solidFill>
                          <a:latin typeface="Inter" pitchFamily="34" charset="0"/>
                          <a:ea typeface="Inter" pitchFamily="34" charset="-122"/>
                          <a:cs typeface="Inter" pitchFamily="34" charset="-120"/>
                        </a:rPr>
                        <a:t>Why it is not sufficient</a:t>
                      </a:r>
                      <a:endParaRPr lang="en-US" sz="1200" dirty="0">
                        <a:latin typeface="Inter" charset="0"/>
                        <a:ea typeface="Inter" charset="0"/>
                        <a:cs typeface="Inter" charset="0"/>
                      </a:endParaRPr>
                    </a:p>
                  </a:txBody>
                  <a:tcPr marL="127000" marR="127000" marT="101600" marB="101600" anchor="t">
                    <a:lnL w="12700" cap="flat" cmpd="sng" algn="ctr">
                      <a:solidFill>
                        <a:srgbClr val="191918"/>
                      </a:solidFill>
                      <a:prstDash val="solid"/>
                      <a:round/>
                      <a:headEnd type="none" w="med" len="med"/>
                      <a:tailEnd type="none" w="med" len="med"/>
                    </a:lnL>
                    <a:lnR w="12700" cap="flat" cmpd="sng" algn="ctr">
                      <a:solidFill>
                        <a:srgbClr val="191918"/>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91918"/>
                      </a:solidFill>
                      <a:prstDash val="solid"/>
                      <a:round/>
                      <a:headEnd type="none" w="med" len="med"/>
                      <a:tailEnd type="none" w="med" len="med"/>
                    </a:lnB>
                    <a:solidFill>
                      <a:srgbClr val="1A1A1A"/>
                    </a:solidFill>
                  </a:tcPr>
                </a:tc>
              </a:tr>
              <a:tr h="599070">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Static template or checklist</a:t>
                      </a:r>
                      <a:endParaRPr lang="en-US" sz="12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91918"/>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Enforce a consistent format</a:t>
                      </a:r>
                      <a:endParaRPr lang="en-US" sz="12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91918"/>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Cannot adapt questions to the feature’s context or reconcile conflicting terminology</a:t>
                      </a:r>
                      <a:endParaRPr lang="en-US" sz="12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91918"/>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599070">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Rule-based requirements linter</a:t>
                      </a:r>
                      <a:endParaRPr lang="en-US" sz="12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Validate required fields and known structural rules</a:t>
                      </a:r>
                      <a:endParaRPr lang="en-US" sz="1200" dirty="0">
                        <a:latin typeface="Inter" charset="0"/>
                        <a:ea typeface="Inter" charset="0"/>
                        <a:cs typeface="Inter" charset="0"/>
                      </a:endParaRPr>
                    </a:p>
                  </a:txBody>
                  <a:tcPr marL="127000" marR="127000" marT="101600" marB="1016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Cannot determine whether the captured business meaning is correct</a:t>
                      </a:r>
                      <a:endParaRPr lang="en-US" sz="1200" dirty="0">
                        <a:latin typeface="Inter" charset="0"/>
                        <a:ea typeface="Inter" charset="0"/>
                        <a:cs typeface="Inter" charset="0"/>
                      </a:endParaRPr>
                    </a:p>
                  </a:txBody>
                  <a:tcPr marL="127000" marR="127000" marT="101600" marB="1016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r>
              <a:tr h="599070">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Manual peer review (current process)</a:t>
                      </a:r>
                      <a:endParaRPr lang="en-US" sz="12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Remains essential for approval</a:t>
                      </a:r>
                      <a:endParaRPr lang="en-US" sz="12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Has not consistently surfaced gaps early and does not scale across projects</a:t>
                      </a:r>
                      <a:endParaRPr lang="en-US" sz="12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599070">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Keyword or static document analysis</a:t>
                      </a:r>
                      <a:endParaRPr lang="en-US" sz="12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Locate terms and patterns</a:t>
                      </a:r>
                      <a:endParaRPr lang="en-US" sz="1200" dirty="0">
                        <a:latin typeface="Inter" charset="0"/>
                        <a:ea typeface="Inter" charset="0"/>
                        <a:cs typeface="Inter" charset="0"/>
                      </a:endParaRPr>
                    </a:p>
                  </a:txBody>
                  <a:tcPr marL="127000" marR="127000" marT="101600" marB="1016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Cannot run context-aware interrogation or synthesize an end-to-end domain model</a:t>
                      </a:r>
                      <a:endParaRPr lang="en-US" sz="1200" dirty="0">
                        <a:latin typeface="Inter" charset="0"/>
                        <a:ea typeface="Inter" charset="0"/>
                        <a:cs typeface="Inter" charset="0"/>
                      </a:endParaRPr>
                    </a:p>
                  </a:txBody>
                  <a:tcPr marL="127000" marR="127000" marT="101600" marB="1016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r>
            </a:tbl>
          </a:graphicData>
        </a:graphic>
      </p:graphicFrame>
      <p:sp>
        <p:nvSpPr>
          <p:cNvPr id="9" name="Text 6"/>
          <p:cNvSpPr/>
          <p:nvPr/>
        </p:nvSpPr>
        <p:spPr>
          <a:xfrm>
            <a:off x="812800" y="6259590"/>
            <a:ext cx="784860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Inter" pitchFamily="34" charset="0"/>
                <a:ea typeface="Inter" pitchFamily="34" charset="-122"/>
                <a:cs typeface="Inter" pitchFamily="34" charset="-120"/>
              </a:rPr>
              <a:t>Proof of concept proposal · Policy CP6.55</a:t>
            </a:r>
            <a:endParaRPr lang="en-US" sz="1200" dirty="0"/>
          </a:p>
        </p:txBody>
      </p:sp>
      <p:sp>
        <p:nvSpPr>
          <p:cNvPr id="10" name="Text 7"/>
          <p:cNvSpPr/>
          <p:nvPr/>
        </p:nvSpPr>
        <p:spPr>
          <a:xfrm>
            <a:off x="10058401" y="6259590"/>
            <a:ext cx="132080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BM Plex Mono" pitchFamily="49" charset="0"/>
                <a:ea typeface="IBM Plex Mono" pitchFamily="49" charset="-122"/>
                <a:cs typeface="IBM Plex Mono" pitchFamily="49" charset="-120"/>
              </a:rPr>
              <a:t>08 / 23</a:t>
            </a:r>
            <a:endParaRPr lang="en-US" sz="1200" dirty="0"/>
          </a:p>
        </p:txBody>
      </p:sp>
      <p:sp>
        <p:nvSpPr>
          <p:cNvPr id="11" name="Text 8"/>
          <p:cNvSpPr/>
          <p:nvPr/>
        </p:nvSpPr>
        <p:spPr>
          <a:xfrm>
            <a:off x="812800" y="1778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1111"/>
                </a:solidFill>
                <a:latin typeface="Inter" pitchFamily="34" charset="0"/>
                <a:ea typeface="Inter" pitchFamily="34" charset="-122"/>
                <a:cs typeface="Inter" pitchFamily="34" charset="-120"/>
              </a:rPr>
              <a:t>Intent Discovery Service</a:t>
            </a:r>
            <a:endParaRPr lang="en-US" sz="1200" dirty="0"/>
          </a:p>
        </p:txBody>
      </p:sp>
      <p:sp>
        <p:nvSpPr>
          <p:cNvPr id="12" name="Text 9"/>
          <p:cNvSpPr/>
          <p:nvPr/>
        </p:nvSpPr>
        <p:spPr>
          <a:xfrm>
            <a:off x="6800850" y="177800"/>
            <a:ext cx="457835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nter" pitchFamily="34" charset="0"/>
                <a:ea typeface="Inter" pitchFamily="34" charset="-122"/>
                <a:cs typeface="Inter" pitchFamily="34" charset="-120"/>
              </a:rPr>
              <a:t>GenAI Governance Panel</a:t>
            </a:r>
            <a:endParaRPr lang="en-US" sz="1200" dirty="0"/>
          </a:p>
        </p:txBody>
      </p:sp>
      <p:pic>
        <p:nvPicPr>
          <p:cNvPr id="13" name="Image 0" descr="line">    </p:cNvPr>
          <p:cNvPicPr>
            <a:picLocks noChangeAspect="1"/>
          </p:cNvPicPr>
          <p:nvPr/>
        </p:nvPicPr>
        <p:blipFill>
          <a:blip r:embed="rId1"/>
          <a:srcRect l="-1137" r="-1137" t="0" b="0"/>
          <a:stretch/>
        </p:blipFill>
        <p:spPr>
          <a:xfrm>
            <a:off x="0" y="533400"/>
            <a:ext cx="12192001" cy="3725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896094"/>
            <a:ext cx="304800" cy="25400"/>
          </a:xfrm>
          <a:prstGeom prst="rect">
            <a:avLst/>
          </a:prstGeom>
          <a:solidFill>
            <a:srgbClr val="EB0A1E"/>
          </a:solidFill>
          <a:ln/>
        </p:spPr>
      </p:sp>
      <p:sp>
        <p:nvSpPr>
          <p:cNvPr id="3" name="Text 1"/>
          <p:cNvSpPr/>
          <p:nvPr/>
        </p:nvSpPr>
        <p:spPr>
          <a:xfrm>
            <a:off x="1219200" y="812800"/>
            <a:ext cx="2068640"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SOLUTION · BENEFITS</a:t>
            </a:r>
            <a:endParaRPr lang="en-US" sz="1200" dirty="0"/>
          </a:p>
        </p:txBody>
      </p:sp>
      <p:sp>
        <p:nvSpPr>
          <p:cNvPr id="4" name="Text 2"/>
          <p:cNvSpPr/>
          <p:nvPr>
            <p:ph type="title"/>
          </p:nvPr>
        </p:nvSpPr>
        <p:spPr>
          <a:xfrm>
            <a:off x="812800" y="1106413"/>
            <a:ext cx="10883393" cy="427725"/>
          </a:xfrm>
          <a:prstGeom prst="rect">
            <a:avLst/>
          </a:prstGeom>
          <a:noFill/>
          <a:ln/>
        </p:spPr>
        <p:txBody>
          <a:bodyPr wrap="square" lIns="0" tIns="0" rIns="0" bIns="0" rtlCol="0" anchor="t">
            <a:normAutofit/>
          </a:bodyPr>
          <a:lstStyle/>
          <a:p>
            <a:pPr algn="l" indent="0" marL="0">
              <a:lnSpc>
                <a:spcPts val="3520"/>
              </a:lnSpc>
              <a:buNone/>
            </a:pPr>
            <a:r>
              <a:rPr lang="en-US" sz="3200" b="1" i="0" spc="-50" kern="0" dirty="0">
                <a:solidFill>
                  <a:srgbClr val="1A1A1A"/>
                </a:solidFill>
                <a:latin typeface="Inter" pitchFamily="34" charset="0"/>
                <a:ea typeface="Inter" pitchFamily="34" charset="-122"/>
                <a:cs typeface="Inter" pitchFamily="34" charset="-120"/>
              </a:rPr>
              <a:t>Anticipated benefits</a:t>
            </a:r>
            <a:endParaRPr lang="en-US" sz="3200" dirty="0"/>
          </a:p>
        </p:txBody>
      </p:sp>
      <p:sp>
        <p:nvSpPr>
          <p:cNvPr id="5" name="Shape 3"/>
          <p:cNvSpPr/>
          <p:nvPr/>
        </p:nvSpPr>
        <p:spPr>
          <a:xfrm>
            <a:off x="815975" y="1816714"/>
            <a:ext cx="3414183" cy="3230245"/>
          </a:xfrm>
          <a:prstGeom prst="roundRect">
            <a:avLst>
              <a:gd name="adj" fmla="val 1474"/>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pic>
        <p:nvPicPr>
          <p:cNvPr id="6" name="Image 0" descr="Search">    </p:cNvPr>
          <p:cNvPicPr>
            <a:picLocks noChangeAspect="1"/>
          </p:cNvPicPr>
          <p:nvPr/>
        </p:nvPicPr>
        <p:blipFill>
          <a:blip r:embed="rId1"/>
          <a:srcRect l="0" r="0" t="0" b="0"/>
          <a:stretch/>
        </p:blipFill>
        <p:spPr>
          <a:xfrm>
            <a:off x="1021080" y="2021818"/>
            <a:ext cx="304800" cy="304800"/>
          </a:xfrm>
          <a:prstGeom prst="rect">
            <a:avLst/>
          </a:prstGeom>
        </p:spPr>
      </p:pic>
      <p:sp>
        <p:nvSpPr>
          <p:cNvPr id="7" name="Text 4"/>
          <p:cNvSpPr/>
          <p:nvPr/>
        </p:nvSpPr>
        <p:spPr>
          <a:xfrm>
            <a:off x="1021080" y="2453618"/>
            <a:ext cx="3094093" cy="29972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A1A1A"/>
                </a:solidFill>
                <a:latin typeface="Inter" pitchFamily="34" charset="0"/>
                <a:ea typeface="Inter" pitchFamily="34" charset="-122"/>
                <a:cs typeface="Inter" pitchFamily="34" charset="-120"/>
              </a:rPr>
              <a:t>Catch gaps early</a:t>
            </a:r>
            <a:endParaRPr lang="en-US" sz="2000" dirty="0"/>
          </a:p>
        </p:txBody>
      </p:sp>
      <p:sp>
        <p:nvSpPr>
          <p:cNvPr id="8" name="Shape 5"/>
          <p:cNvSpPr/>
          <p:nvPr/>
        </p:nvSpPr>
        <p:spPr>
          <a:xfrm>
            <a:off x="1021080" y="2854939"/>
            <a:ext cx="304800" cy="19050"/>
          </a:xfrm>
          <a:prstGeom prst="rect">
            <a:avLst/>
          </a:prstGeom>
          <a:solidFill>
            <a:srgbClr val="EB0A1E"/>
          </a:solidFill>
          <a:ln/>
        </p:spPr>
      </p:sp>
      <p:pic>
        <p:nvPicPr>
          <p:cNvPr id="9" name="Image 1" descr="Check">    </p:cNvPr>
          <p:cNvPicPr>
            <a:picLocks noChangeAspect="1"/>
          </p:cNvPicPr>
          <p:nvPr/>
        </p:nvPicPr>
        <p:blipFill>
          <a:blip r:embed="rId2"/>
          <a:srcRect l="0" r="0" t="-239" b="-239"/>
          <a:stretch/>
        </p:blipFill>
        <p:spPr>
          <a:xfrm>
            <a:off x="1021080" y="3000989"/>
            <a:ext cx="88477" cy="203200"/>
          </a:xfrm>
          <a:prstGeom prst="rect">
            <a:avLst/>
          </a:prstGeom>
        </p:spPr>
      </p:pic>
      <p:sp>
        <p:nvSpPr>
          <p:cNvPr id="10" name="Text 6"/>
          <p:cNvSpPr/>
          <p:nvPr/>
        </p:nvSpPr>
        <p:spPr>
          <a:xfrm>
            <a:off x="1198457" y="3000989"/>
            <a:ext cx="2911395" cy="60142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Missing or ambiguous requirements caught before engineering starts, the cheapest point to fix them</a:t>
            </a:r>
            <a:endParaRPr lang="en-US" sz="1200" dirty="0"/>
          </a:p>
        </p:txBody>
      </p:sp>
      <p:pic>
        <p:nvPicPr>
          <p:cNvPr id="11" name="Image 2" descr="Check">    </p:cNvPr>
          <p:cNvPicPr>
            <a:picLocks noChangeAspect="1"/>
          </p:cNvPicPr>
          <p:nvPr/>
        </p:nvPicPr>
        <p:blipFill>
          <a:blip r:embed="rId3"/>
          <a:srcRect l="-980" r="-980" t="0" b="0"/>
          <a:stretch/>
        </p:blipFill>
        <p:spPr>
          <a:xfrm>
            <a:off x="1021080" y="3678610"/>
            <a:ext cx="110067" cy="203200"/>
          </a:xfrm>
          <a:prstGeom prst="rect">
            <a:avLst/>
          </a:prstGeom>
        </p:spPr>
      </p:pic>
      <p:sp>
        <p:nvSpPr>
          <p:cNvPr id="12" name="Text 7"/>
          <p:cNvSpPr/>
          <p:nvPr/>
        </p:nvSpPr>
        <p:spPr>
          <a:xfrm>
            <a:off x="1220047" y="3678610"/>
            <a:ext cx="2889157"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Vague acceptance criteria turned into explicit, testable states, triggers and rules</a:t>
            </a:r>
            <a:endParaRPr lang="en-US" sz="1200" dirty="0"/>
          </a:p>
        </p:txBody>
      </p:sp>
      <p:sp>
        <p:nvSpPr>
          <p:cNvPr id="13" name="Shape 8"/>
          <p:cNvSpPr/>
          <p:nvPr/>
        </p:nvSpPr>
        <p:spPr>
          <a:xfrm>
            <a:off x="4388908" y="1816714"/>
            <a:ext cx="3414183" cy="3230245"/>
          </a:xfrm>
          <a:prstGeom prst="roundRect">
            <a:avLst>
              <a:gd name="adj" fmla="val 1474"/>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pic>
        <p:nvPicPr>
          <p:cNvPr id="14" name="Image 3" descr="Users">    </p:cNvPr>
          <p:cNvPicPr>
            <a:picLocks noChangeAspect="1"/>
          </p:cNvPicPr>
          <p:nvPr/>
        </p:nvPicPr>
        <p:blipFill>
          <a:blip r:embed="rId4"/>
          <a:srcRect l="0" r="0" t="0" b="0"/>
          <a:stretch/>
        </p:blipFill>
        <p:spPr>
          <a:xfrm>
            <a:off x="4594013" y="2021818"/>
            <a:ext cx="304800" cy="304800"/>
          </a:xfrm>
          <a:prstGeom prst="rect">
            <a:avLst/>
          </a:prstGeom>
        </p:spPr>
      </p:pic>
      <p:sp>
        <p:nvSpPr>
          <p:cNvPr id="15" name="Text 9"/>
          <p:cNvSpPr/>
          <p:nvPr/>
        </p:nvSpPr>
        <p:spPr>
          <a:xfrm>
            <a:off x="4594013" y="2453618"/>
            <a:ext cx="3094093" cy="29972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A1A1A"/>
                </a:solidFill>
                <a:latin typeface="Inter" pitchFamily="34" charset="0"/>
                <a:ea typeface="Inter" pitchFamily="34" charset="-122"/>
                <a:cs typeface="Inter" pitchFamily="34" charset="-120"/>
              </a:rPr>
              <a:t>One shared model</a:t>
            </a:r>
            <a:endParaRPr lang="en-US" sz="2000" dirty="0"/>
          </a:p>
        </p:txBody>
      </p:sp>
      <p:sp>
        <p:nvSpPr>
          <p:cNvPr id="16" name="Shape 10"/>
          <p:cNvSpPr/>
          <p:nvPr/>
        </p:nvSpPr>
        <p:spPr>
          <a:xfrm>
            <a:off x="4594013" y="2854939"/>
            <a:ext cx="304800" cy="19050"/>
          </a:xfrm>
          <a:prstGeom prst="rect">
            <a:avLst/>
          </a:prstGeom>
          <a:solidFill>
            <a:srgbClr val="EB0A1E"/>
          </a:solidFill>
          <a:ln/>
        </p:spPr>
      </p:sp>
      <p:pic>
        <p:nvPicPr>
          <p:cNvPr id="17" name="Image 4" descr="Check">    </p:cNvPr>
          <p:cNvPicPr>
            <a:picLocks noChangeAspect="1"/>
          </p:cNvPicPr>
          <p:nvPr/>
        </p:nvPicPr>
        <p:blipFill>
          <a:blip r:embed="rId5"/>
          <a:srcRect l="0" r="0" t="-420" b="-420"/>
          <a:stretch/>
        </p:blipFill>
        <p:spPr>
          <a:xfrm>
            <a:off x="4594013" y="3000989"/>
            <a:ext cx="113348" cy="203200"/>
          </a:xfrm>
          <a:prstGeom prst="rect">
            <a:avLst/>
          </a:prstGeom>
        </p:spPr>
      </p:pic>
      <p:sp>
        <p:nvSpPr>
          <p:cNvPr id="18" name="Text 11"/>
          <p:cNvSpPr/>
          <p:nvPr/>
        </p:nvSpPr>
        <p:spPr>
          <a:xfrm>
            <a:off x="4796261" y="3000989"/>
            <a:ext cx="2885778"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A shared Ubiquitous Language across business, architecture and engineering</a:t>
            </a:r>
            <a:endParaRPr lang="en-US" sz="1200" dirty="0"/>
          </a:p>
        </p:txBody>
      </p:sp>
      <p:pic>
        <p:nvPicPr>
          <p:cNvPr id="19" name="Image 5" descr="Check">    </p:cNvPr>
          <p:cNvPicPr>
            <a:picLocks noChangeAspect="1"/>
          </p:cNvPicPr>
          <p:nvPr/>
        </p:nvPicPr>
        <p:blipFill>
          <a:blip r:embed="rId6"/>
          <a:srcRect l="0" r="0" t="-1458" b="-1458"/>
          <a:stretch/>
        </p:blipFill>
        <p:spPr>
          <a:xfrm>
            <a:off x="4594013" y="3486603"/>
            <a:ext cx="92551" cy="203200"/>
          </a:xfrm>
          <a:prstGeom prst="rect">
            <a:avLst/>
          </a:prstGeom>
        </p:spPr>
      </p:pic>
      <p:sp>
        <p:nvSpPr>
          <p:cNvPr id="20" name="Text 12"/>
          <p:cNvSpPr/>
          <p:nvPr/>
        </p:nvSpPr>
        <p:spPr>
          <a:xfrm>
            <a:off x="4775465" y="3486603"/>
            <a:ext cx="2907198" cy="60142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Bounded Context ownership and Context Map relationships explicit before integration decisions</a:t>
            </a:r>
            <a:endParaRPr lang="en-US" sz="1200" dirty="0"/>
          </a:p>
        </p:txBody>
      </p:sp>
      <p:pic>
        <p:nvPicPr>
          <p:cNvPr id="21" name="Image 6" descr="Check">    </p:cNvPr>
          <p:cNvPicPr>
            <a:picLocks noChangeAspect="1"/>
          </p:cNvPicPr>
          <p:nvPr/>
        </p:nvPicPr>
        <p:blipFill>
          <a:blip r:embed="rId7"/>
          <a:srcRect l="0" r="0" t="-796" b="-796"/>
          <a:stretch/>
        </p:blipFill>
        <p:spPr>
          <a:xfrm>
            <a:off x="4594013" y="4164230"/>
            <a:ext cx="131260" cy="203200"/>
          </a:xfrm>
          <a:prstGeom prst="rect">
            <a:avLst/>
          </a:prstGeom>
        </p:spPr>
      </p:pic>
      <p:sp>
        <p:nvSpPr>
          <p:cNvPr id="22" name="Text 13"/>
          <p:cNvSpPr/>
          <p:nvPr/>
        </p:nvSpPr>
        <p:spPr>
          <a:xfrm>
            <a:off x="4814173" y="4164230"/>
            <a:ext cx="2867328"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Aggregates identified that protect each business rule and invariant</a:t>
            </a:r>
            <a:endParaRPr lang="en-US" sz="1200" dirty="0"/>
          </a:p>
        </p:txBody>
      </p:sp>
      <p:sp>
        <p:nvSpPr>
          <p:cNvPr id="23" name="Shape 14"/>
          <p:cNvSpPr/>
          <p:nvPr/>
        </p:nvSpPr>
        <p:spPr>
          <a:xfrm>
            <a:off x="7961842" y="1816714"/>
            <a:ext cx="3414183" cy="3230245"/>
          </a:xfrm>
          <a:prstGeom prst="roundRect">
            <a:avLst>
              <a:gd name="adj" fmla="val 1474"/>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pic>
        <p:nvPicPr>
          <p:cNvPr id="24" name="Image 7" descr="Verified">    </p:cNvPr>
          <p:cNvPicPr>
            <a:picLocks noChangeAspect="1"/>
          </p:cNvPicPr>
          <p:nvPr/>
        </p:nvPicPr>
        <p:blipFill>
          <a:blip r:embed="rId8"/>
          <a:srcRect l="0" r="0" t="0" b="0"/>
          <a:stretch/>
        </p:blipFill>
        <p:spPr>
          <a:xfrm>
            <a:off x="8166947" y="2021818"/>
            <a:ext cx="304800" cy="304800"/>
          </a:xfrm>
          <a:prstGeom prst="rect">
            <a:avLst/>
          </a:prstGeom>
        </p:spPr>
      </p:pic>
      <p:sp>
        <p:nvSpPr>
          <p:cNvPr id="25" name="Text 15"/>
          <p:cNvSpPr/>
          <p:nvPr/>
        </p:nvSpPr>
        <p:spPr>
          <a:xfrm>
            <a:off x="8166947" y="2453618"/>
            <a:ext cx="3094093" cy="29972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A1A1A"/>
                </a:solidFill>
                <a:latin typeface="Inter" pitchFamily="34" charset="0"/>
                <a:ea typeface="Inter" pitchFamily="34" charset="-122"/>
                <a:cs typeface="Inter" pitchFamily="34" charset="-120"/>
              </a:rPr>
              <a:t>Verifiable specs</a:t>
            </a:r>
            <a:endParaRPr lang="en-US" sz="2000" dirty="0"/>
          </a:p>
        </p:txBody>
      </p:sp>
      <p:sp>
        <p:nvSpPr>
          <p:cNvPr id="26" name="Shape 16"/>
          <p:cNvSpPr/>
          <p:nvPr/>
        </p:nvSpPr>
        <p:spPr>
          <a:xfrm>
            <a:off x="8166947" y="2854939"/>
            <a:ext cx="304800" cy="19050"/>
          </a:xfrm>
          <a:prstGeom prst="rect">
            <a:avLst/>
          </a:prstGeom>
          <a:solidFill>
            <a:srgbClr val="EB0A1E"/>
          </a:solidFill>
          <a:ln/>
        </p:spPr>
      </p:sp>
      <p:pic>
        <p:nvPicPr>
          <p:cNvPr id="27" name="Image 8" descr="Check">    </p:cNvPr>
          <p:cNvPicPr>
            <a:picLocks noChangeAspect="1"/>
          </p:cNvPicPr>
          <p:nvPr/>
        </p:nvPicPr>
        <p:blipFill>
          <a:blip r:embed="rId9"/>
          <a:srcRect l="0" r="0" t="-746" b="-746"/>
          <a:stretch/>
        </p:blipFill>
        <p:spPr>
          <a:xfrm>
            <a:off x="8166947" y="3000989"/>
            <a:ext cx="118877" cy="203200"/>
          </a:xfrm>
          <a:prstGeom prst="rect">
            <a:avLst/>
          </a:prstGeom>
        </p:spPr>
      </p:pic>
      <p:sp>
        <p:nvSpPr>
          <p:cNvPr id="28" name="Text 17"/>
          <p:cNvSpPr/>
          <p:nvPr/>
        </p:nvSpPr>
        <p:spPr>
          <a:xfrm>
            <a:off x="8374724" y="3000989"/>
            <a:ext cx="2880082"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Decision-table coverage checked across every defined input combination</a:t>
            </a:r>
            <a:endParaRPr lang="en-US" sz="1200" dirty="0"/>
          </a:p>
        </p:txBody>
      </p:sp>
      <p:pic>
        <p:nvPicPr>
          <p:cNvPr id="29" name="Image 9" descr="Check">    </p:cNvPr>
          <p:cNvPicPr>
            <a:picLocks noChangeAspect="1"/>
          </p:cNvPicPr>
          <p:nvPr/>
        </p:nvPicPr>
        <p:blipFill>
          <a:blip r:embed="rId10"/>
          <a:srcRect l="-161" r="-161" t="0" b="0"/>
          <a:stretch/>
        </p:blipFill>
        <p:spPr>
          <a:xfrm>
            <a:off x="8166947" y="3486603"/>
            <a:ext cx="140150" cy="203200"/>
          </a:xfrm>
          <a:prstGeom prst="rect">
            <a:avLst/>
          </a:prstGeom>
        </p:spPr>
      </p:pic>
      <p:sp>
        <p:nvSpPr>
          <p:cNvPr id="30" name="Text 18"/>
          <p:cNvSpPr/>
          <p:nvPr/>
        </p:nvSpPr>
        <p:spPr>
          <a:xfrm>
            <a:off x="8395997" y="3486603"/>
            <a:ext cx="2858171"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Every rule names where it is enforced and which test proves it</a:t>
            </a:r>
            <a:endParaRPr lang="en-US" sz="1200" dirty="0"/>
          </a:p>
        </p:txBody>
      </p:sp>
      <p:pic>
        <p:nvPicPr>
          <p:cNvPr id="31" name="Image 10" descr="Check">    </p:cNvPr>
          <p:cNvPicPr>
            <a:picLocks noChangeAspect="1"/>
          </p:cNvPicPr>
          <p:nvPr/>
        </p:nvPicPr>
        <p:blipFill>
          <a:blip r:embed="rId11"/>
          <a:srcRect l="-817" r="-817" t="0" b="0"/>
          <a:stretch/>
        </p:blipFill>
        <p:spPr>
          <a:xfrm>
            <a:off x="8166947" y="3972216"/>
            <a:ext cx="167799" cy="203200"/>
          </a:xfrm>
          <a:prstGeom prst="rect">
            <a:avLst/>
          </a:prstGeom>
        </p:spPr>
      </p:pic>
      <p:sp>
        <p:nvSpPr>
          <p:cNvPr id="32" name="Text 19"/>
          <p:cNvSpPr/>
          <p:nvPr/>
        </p:nvSpPr>
        <p:spPr>
          <a:xfrm>
            <a:off x="8423646" y="3972216"/>
            <a:ext cx="2829693"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Corrections and feedback retained across sessions</a:t>
            </a:r>
            <a:endParaRPr lang="en-US" sz="1200" dirty="0"/>
          </a:p>
        </p:txBody>
      </p:sp>
      <p:pic>
        <p:nvPicPr>
          <p:cNvPr id="33" name="Image 11" descr="Check">    </p:cNvPr>
          <p:cNvPicPr>
            <a:picLocks noChangeAspect="1"/>
          </p:cNvPicPr>
          <p:nvPr/>
        </p:nvPicPr>
        <p:blipFill>
          <a:blip r:embed="rId12"/>
          <a:srcRect l="0" r="0" t="-928" b="-928"/>
          <a:stretch/>
        </p:blipFill>
        <p:spPr>
          <a:xfrm>
            <a:off x="8166947" y="4457836"/>
            <a:ext cx="149622" cy="203200"/>
          </a:xfrm>
          <a:prstGeom prst="rect">
            <a:avLst/>
          </a:prstGeom>
        </p:spPr>
      </p:pic>
      <p:sp>
        <p:nvSpPr>
          <p:cNvPr id="34" name="Text 20"/>
          <p:cNvSpPr/>
          <p:nvPr/>
        </p:nvSpPr>
        <p:spPr>
          <a:xfrm>
            <a:off x="8405469" y="4457836"/>
            <a:ext cx="2848415"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A versionable spec that makes implementation reviewable</a:t>
            </a:r>
            <a:endParaRPr lang="en-US" sz="1200" dirty="0"/>
          </a:p>
        </p:txBody>
      </p:sp>
      <p:sp>
        <p:nvSpPr>
          <p:cNvPr id="35" name="Text 21"/>
          <p:cNvSpPr/>
          <p:nvPr/>
        </p:nvSpPr>
        <p:spPr>
          <a:xfrm>
            <a:off x="812800" y="6259593"/>
            <a:ext cx="784860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Inter" pitchFamily="34" charset="0"/>
                <a:ea typeface="Inter" pitchFamily="34" charset="-122"/>
                <a:cs typeface="Inter" pitchFamily="34" charset="-120"/>
              </a:rPr>
              <a:t>Proof of concept proposal · Policy CP6.55</a:t>
            </a:r>
            <a:endParaRPr lang="en-US" sz="1200" dirty="0"/>
          </a:p>
        </p:txBody>
      </p:sp>
      <p:sp>
        <p:nvSpPr>
          <p:cNvPr id="36" name="Text 22"/>
          <p:cNvSpPr/>
          <p:nvPr/>
        </p:nvSpPr>
        <p:spPr>
          <a:xfrm>
            <a:off x="10058401" y="6259593"/>
            <a:ext cx="132080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BM Plex Mono" pitchFamily="49" charset="0"/>
                <a:ea typeface="IBM Plex Mono" pitchFamily="49" charset="-122"/>
                <a:cs typeface="IBM Plex Mono" pitchFamily="49" charset="-120"/>
              </a:rPr>
              <a:t>09 / 23</a:t>
            </a:r>
            <a:endParaRPr lang="en-US" sz="1200" dirty="0"/>
          </a:p>
        </p:txBody>
      </p:sp>
      <p:sp>
        <p:nvSpPr>
          <p:cNvPr id="37" name="Text 23"/>
          <p:cNvSpPr/>
          <p:nvPr/>
        </p:nvSpPr>
        <p:spPr>
          <a:xfrm>
            <a:off x="812800" y="1778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1111"/>
                </a:solidFill>
                <a:latin typeface="Inter" pitchFamily="34" charset="0"/>
                <a:ea typeface="Inter" pitchFamily="34" charset="-122"/>
                <a:cs typeface="Inter" pitchFamily="34" charset="-120"/>
              </a:rPr>
              <a:t>Intent Discovery Service</a:t>
            </a:r>
            <a:endParaRPr lang="en-US" sz="1200" dirty="0"/>
          </a:p>
        </p:txBody>
      </p:sp>
      <p:sp>
        <p:nvSpPr>
          <p:cNvPr id="38" name="Text 24"/>
          <p:cNvSpPr/>
          <p:nvPr/>
        </p:nvSpPr>
        <p:spPr>
          <a:xfrm>
            <a:off x="6800850" y="177800"/>
            <a:ext cx="457835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nter" pitchFamily="34" charset="0"/>
                <a:ea typeface="Inter" pitchFamily="34" charset="-122"/>
                <a:cs typeface="Inter" pitchFamily="34" charset="-120"/>
              </a:rPr>
              <a:t>GenAI Governance Panel</a:t>
            </a:r>
            <a:endParaRPr lang="en-US" sz="1200" dirty="0"/>
          </a:p>
        </p:txBody>
      </p:sp>
      <p:pic>
        <p:nvPicPr>
          <p:cNvPr id="39" name="Image 12" descr="line">    </p:cNvPr>
          <p:cNvPicPr>
            <a:picLocks noChangeAspect="1"/>
          </p:cNvPicPr>
          <p:nvPr/>
        </p:nvPicPr>
        <p:blipFill>
          <a:blip r:embed="rId13"/>
          <a:srcRect l="-1137" r="-1137" t="0" b="0"/>
          <a:stretch/>
        </p:blipFill>
        <p:spPr>
          <a:xfrm>
            <a:off x="0" y="533400"/>
            <a:ext cx="12192001" cy="3725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896088"/>
            <a:ext cx="304800" cy="25400"/>
          </a:xfrm>
          <a:prstGeom prst="rect">
            <a:avLst/>
          </a:prstGeom>
          <a:solidFill>
            <a:srgbClr val="EB0A1E"/>
          </a:solidFill>
          <a:ln/>
        </p:spPr>
      </p:sp>
      <p:sp>
        <p:nvSpPr>
          <p:cNvPr id="3" name="Text 1"/>
          <p:cNvSpPr/>
          <p:nvPr/>
        </p:nvSpPr>
        <p:spPr>
          <a:xfrm>
            <a:off x="1219200" y="812800"/>
            <a:ext cx="1774920"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SOLUTION · USERS</a:t>
            </a:r>
            <a:endParaRPr lang="en-US" sz="1200" dirty="0"/>
          </a:p>
        </p:txBody>
      </p:sp>
      <p:sp>
        <p:nvSpPr>
          <p:cNvPr id="4" name="Text 2"/>
          <p:cNvSpPr/>
          <p:nvPr>
            <p:ph type="title"/>
          </p:nvPr>
        </p:nvSpPr>
        <p:spPr>
          <a:xfrm>
            <a:off x="812800" y="1106407"/>
            <a:ext cx="10883393" cy="427725"/>
          </a:xfrm>
          <a:prstGeom prst="rect">
            <a:avLst/>
          </a:prstGeom>
          <a:noFill/>
          <a:ln/>
        </p:spPr>
        <p:txBody>
          <a:bodyPr wrap="square" lIns="0" tIns="0" rIns="0" bIns="0" rtlCol="0" anchor="t">
            <a:normAutofit/>
          </a:bodyPr>
          <a:lstStyle/>
          <a:p>
            <a:pPr algn="l" indent="0" marL="0">
              <a:lnSpc>
                <a:spcPts val="3520"/>
              </a:lnSpc>
              <a:buNone/>
            </a:pPr>
            <a:r>
              <a:rPr lang="en-US" sz="3200" b="1" i="0" spc="-50" kern="0" dirty="0">
                <a:solidFill>
                  <a:srgbClr val="1A1A1A"/>
                </a:solidFill>
                <a:latin typeface="Inter" pitchFamily="34" charset="0"/>
                <a:ea typeface="Inter" pitchFamily="34" charset="-122"/>
                <a:cs typeface="Inter" pitchFamily="34" charset="-120"/>
              </a:rPr>
              <a:t>Users and impact</a:t>
            </a:r>
            <a:endParaRPr lang="en-US" sz="3200" dirty="0"/>
          </a:p>
        </p:txBody>
      </p:sp>
      <p:sp>
        <p:nvSpPr>
          <p:cNvPr id="5" name="Shape 3"/>
          <p:cNvSpPr/>
          <p:nvPr/>
        </p:nvSpPr>
        <p:spPr>
          <a:xfrm>
            <a:off x="11376026" y="1813533"/>
            <a:ext cx="0" cy="2306902"/>
          </a:xfrm>
          <a:prstGeom prst="line">
            <a:avLst/>
          </a:prstGeom>
          <a:noFill/>
          <a:ln w="6350">
            <a:solidFill>
              <a:srgbClr val="E0E0E0"/>
            </a:solidFill>
            <a:prstDash val="solid"/>
          </a:ln>
        </p:spPr>
      </p:sp>
      <p:sp>
        <p:nvSpPr>
          <p:cNvPr id="6" name="Shape 4"/>
          <p:cNvSpPr/>
          <p:nvPr/>
        </p:nvSpPr>
        <p:spPr>
          <a:xfrm>
            <a:off x="812800" y="4117260"/>
            <a:ext cx="10566401" cy="0"/>
          </a:xfrm>
          <a:prstGeom prst="line">
            <a:avLst/>
          </a:prstGeom>
          <a:noFill/>
          <a:ln w="6350">
            <a:solidFill>
              <a:srgbClr val="E0E0E0"/>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4653" y="1825386"/>
          <a:ext cx="10549467" cy="2289969"/>
        </p:xfrm>
        <a:graphic>
          <a:graphicData uri="http://schemas.openxmlformats.org/drawingml/2006/table">
            <a:tbl>
              <a:tblPr/>
              <a:tblGrid>
                <a:gridCol w="2637367"/>
                <a:gridCol w="2320883"/>
                <a:gridCol w="1371431"/>
                <a:gridCol w="4219787"/>
              </a:tblGrid>
              <a:tr h="381661">
                <a:tc>
                  <a:txBody>
                    <a:bodyPr/>
                    <a:lstStyle/>
                    <a:p>
                      <a:pPr indent="0" marL="0">
                        <a:lnSpc>
                          <a:spcPts val="1680"/>
                        </a:lnSpc>
                        <a:buNone/>
                      </a:pPr>
                      <a:r>
                        <a:rPr lang="en-US" sz="1200" b="1" dirty="0">
                          <a:solidFill>
                            <a:srgbClr val="FFFFFF"/>
                          </a:solidFill>
                          <a:latin typeface="Inter" pitchFamily="34" charset="0"/>
                          <a:ea typeface="Inter" pitchFamily="34" charset="-122"/>
                          <a:cs typeface="Inter" pitchFamily="34" charset="-120"/>
                        </a:rPr>
                        <a:t>Team</a:t>
                      </a:r>
                      <a:endParaRPr lang="en-US" sz="1200" dirty="0">
                        <a:latin typeface="Inter" charset="0"/>
                        <a:ea typeface="Inter" charset="0"/>
                        <a:cs typeface="Inter" charset="0"/>
                      </a:endParaRPr>
                    </a:p>
                  </a:txBody>
                  <a:tcPr marL="127000" marR="127000" marT="88900" marB="88900" anchor="t">
                    <a:lnL w="12700" cap="flat" cmpd="sng" algn="ctr">
                      <a:solidFill>
                        <a:srgbClr val="CBCBCB"/>
                      </a:solidFill>
                      <a:prstDash val="solid"/>
                      <a:round/>
                      <a:headEnd type="none" w="med" len="med"/>
                      <a:tailEnd type="none" w="med" len="med"/>
                    </a:lnL>
                    <a:lnR w="12700" cap="flat" cmpd="sng" algn="ctr">
                      <a:solidFill>
                        <a:srgbClr val="191918"/>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91918"/>
                      </a:solidFill>
                      <a:prstDash val="solid"/>
                      <a:round/>
                      <a:headEnd type="none" w="med" len="med"/>
                      <a:tailEnd type="none" w="med" len="med"/>
                    </a:lnB>
                    <a:solidFill>
                      <a:srgbClr val="1A1A1A"/>
                    </a:solidFill>
                  </a:tcPr>
                </a:tc>
                <a:tc>
                  <a:txBody>
                    <a:bodyPr/>
                    <a:lstStyle/>
                    <a:p>
                      <a:pPr indent="0" marL="0">
                        <a:lnSpc>
                          <a:spcPts val="1680"/>
                        </a:lnSpc>
                        <a:buNone/>
                      </a:pPr>
                      <a:r>
                        <a:rPr lang="en-US" sz="1200" b="1" dirty="0">
                          <a:solidFill>
                            <a:srgbClr val="FFFFFF"/>
                          </a:solidFill>
                          <a:latin typeface="Inter" pitchFamily="34" charset="0"/>
                          <a:ea typeface="Inter" pitchFamily="34" charset="-122"/>
                          <a:cs typeface="Inter" pitchFamily="34" charset="-120"/>
                        </a:rPr>
                        <a:t>Role</a:t>
                      </a:r>
                      <a:endParaRPr lang="en-US" sz="1200" dirty="0">
                        <a:latin typeface="Inter" charset="0"/>
                        <a:ea typeface="Inter" charset="0"/>
                        <a:cs typeface="Inter" charset="0"/>
                      </a:endParaRPr>
                    </a:p>
                  </a:txBody>
                  <a:tcPr marL="127000" marR="127000" marT="88900" marB="88900" anchor="t">
                    <a:lnL w="12700" cap="flat" cmpd="sng" algn="ctr">
                      <a:solidFill>
                        <a:srgbClr val="191918"/>
                      </a:solidFill>
                      <a:prstDash val="solid"/>
                      <a:round/>
                      <a:headEnd type="none" w="med" len="med"/>
                      <a:tailEnd type="none" w="med" len="med"/>
                    </a:lnL>
                    <a:lnR w="12700" cap="flat" cmpd="sng" algn="ctr">
                      <a:solidFill>
                        <a:srgbClr val="191918"/>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91918"/>
                      </a:solidFill>
                      <a:prstDash val="solid"/>
                      <a:round/>
                      <a:headEnd type="none" w="med" len="med"/>
                      <a:tailEnd type="none" w="med" len="med"/>
                    </a:lnB>
                    <a:solidFill>
                      <a:srgbClr val="1A1A1A"/>
                    </a:solidFill>
                  </a:tcPr>
                </a:tc>
                <a:tc>
                  <a:txBody>
                    <a:bodyPr/>
                    <a:lstStyle/>
                    <a:p>
                      <a:pPr indent="0" marL="0">
                        <a:lnSpc>
                          <a:spcPts val="1680"/>
                        </a:lnSpc>
                        <a:buNone/>
                      </a:pPr>
                      <a:r>
                        <a:rPr lang="en-US" sz="1200" b="1" dirty="0">
                          <a:solidFill>
                            <a:srgbClr val="FFFFFF"/>
                          </a:solidFill>
                          <a:latin typeface="Inter" pitchFamily="34" charset="0"/>
                          <a:ea typeface="Inter" pitchFamily="34" charset="-122"/>
                          <a:cs typeface="Inter" pitchFamily="34" charset="-120"/>
                        </a:rPr>
                        <a:t>Est. count</a:t>
                      </a:r>
                      <a:endParaRPr lang="en-US" sz="1200" dirty="0">
                        <a:latin typeface="Inter" charset="0"/>
                        <a:ea typeface="Inter" charset="0"/>
                        <a:cs typeface="Inter" charset="0"/>
                      </a:endParaRPr>
                    </a:p>
                  </a:txBody>
                  <a:tcPr marL="127000" marR="127000" marT="88900" marB="88900" anchor="t">
                    <a:lnL w="12700" cap="flat" cmpd="sng" algn="ctr">
                      <a:solidFill>
                        <a:srgbClr val="191918"/>
                      </a:solidFill>
                      <a:prstDash val="solid"/>
                      <a:round/>
                      <a:headEnd type="none" w="med" len="med"/>
                      <a:tailEnd type="none" w="med" len="med"/>
                    </a:lnL>
                    <a:lnR w="12700" cap="flat" cmpd="sng" algn="ctr">
                      <a:solidFill>
                        <a:srgbClr val="191918"/>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91918"/>
                      </a:solidFill>
                      <a:prstDash val="solid"/>
                      <a:round/>
                      <a:headEnd type="none" w="med" len="med"/>
                      <a:tailEnd type="none" w="med" len="med"/>
                    </a:lnB>
                    <a:solidFill>
                      <a:srgbClr val="1A1A1A"/>
                    </a:solidFill>
                  </a:tcPr>
                </a:tc>
                <a:tc>
                  <a:txBody>
                    <a:bodyPr/>
                    <a:lstStyle/>
                    <a:p>
                      <a:pPr indent="0" marL="0">
                        <a:lnSpc>
                          <a:spcPts val="1680"/>
                        </a:lnSpc>
                        <a:buNone/>
                      </a:pPr>
                      <a:r>
                        <a:rPr lang="en-US" sz="1200" b="1" dirty="0">
                          <a:solidFill>
                            <a:srgbClr val="FFFFFF"/>
                          </a:solidFill>
                          <a:latin typeface="Inter" pitchFamily="34" charset="0"/>
                          <a:ea typeface="Inter" pitchFamily="34" charset="-122"/>
                          <a:cs typeface="Inter" pitchFamily="34" charset="-120"/>
                        </a:rPr>
                        <a:t>Impact</a:t>
                      </a:r>
                      <a:endParaRPr lang="en-US" sz="1200" dirty="0">
                        <a:latin typeface="Inter" charset="0"/>
                        <a:ea typeface="Inter" charset="0"/>
                        <a:cs typeface="Inter" charset="0"/>
                      </a:endParaRPr>
                    </a:p>
                  </a:txBody>
                  <a:tcPr marL="127000" marR="127000" marT="88900" marB="88900" anchor="t">
                    <a:lnL w="12700" cap="flat" cmpd="sng" algn="ctr">
                      <a:solidFill>
                        <a:srgbClr val="191918"/>
                      </a:solidFill>
                      <a:prstDash val="solid"/>
                      <a:round/>
                      <a:headEnd type="none" w="med" len="med"/>
                      <a:tailEnd type="none" w="med" len="med"/>
                    </a:lnL>
                    <a:lnR w="12700" cap="flat" cmpd="sng" algn="ctr">
                      <a:solidFill>
                        <a:srgbClr val="191918"/>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91918"/>
                      </a:solidFill>
                      <a:prstDash val="solid"/>
                      <a:round/>
                      <a:headEnd type="none" w="med" len="med"/>
                      <a:tailEnd type="none" w="med" len="med"/>
                    </a:lnB>
                    <a:solidFill>
                      <a:srgbClr val="1A1A1A"/>
                    </a:solidFill>
                  </a:tcPr>
                </a:tc>
              </a:tr>
              <a:tr h="381661">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CX Engineering</a:t>
                      </a:r>
                      <a:endParaRPr lang="en-US" sz="1200" dirty="0">
                        <a:latin typeface="Inter" charset="0"/>
                        <a:ea typeface="Inter" charset="0"/>
                        <a:cs typeface="Inter" charset="0"/>
                      </a:endParaRPr>
                    </a:p>
                  </a:txBody>
                  <a:tcPr marL="127000" marR="127000" marT="88900" marB="889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91918"/>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Engineers, Tech Leads</a:t>
                      </a:r>
                      <a:endParaRPr lang="en-US" sz="1200" dirty="0">
                        <a:latin typeface="Inter" charset="0"/>
                        <a:ea typeface="Inter" charset="0"/>
                        <a:cs typeface="Inter" charset="0"/>
                      </a:endParaRPr>
                    </a:p>
                  </a:txBody>
                  <a:tcPr marL="127000" marR="127000" marT="88900" marB="889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91918"/>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~15–25</a:t>
                      </a:r>
                      <a:endParaRPr lang="en-US" sz="1200" dirty="0">
                        <a:latin typeface="Inter" charset="0"/>
                        <a:ea typeface="Inter" charset="0"/>
                        <a:cs typeface="Inter" charset="0"/>
                      </a:endParaRPr>
                    </a:p>
                  </a:txBody>
                  <a:tcPr marL="127000" marR="127000" marT="88900" marB="889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91918"/>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Less time interpreting ambiguous requirements</a:t>
                      </a:r>
                      <a:endParaRPr lang="en-US" sz="1200" dirty="0">
                        <a:latin typeface="Inter" charset="0"/>
                        <a:ea typeface="Inter" charset="0"/>
                        <a:cs typeface="Inter" charset="0"/>
                      </a:endParaRPr>
                    </a:p>
                  </a:txBody>
                  <a:tcPr marL="127000" marR="127000" marT="88900" marB="889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91918"/>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81661">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Business Systems Analysts</a:t>
                      </a:r>
                      <a:endParaRPr lang="en-US" sz="1200" dirty="0">
                        <a:latin typeface="Inter" charset="0"/>
                        <a:ea typeface="Inter" charset="0"/>
                        <a:cs typeface="Inter" charset="0"/>
                      </a:endParaRPr>
                    </a:p>
                  </a:txBody>
                  <a:tcPr marL="127000" marR="127000" marT="88900" marB="88900" anchor="t">
                    <a:lnL w="12700" cap="flat" cmpd="sng" algn="ctr">
                      <a:solidFill>
                        <a:srgbClr val="CBCBCB"/>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Requirement authors</a:t>
                      </a:r>
                      <a:endParaRPr lang="en-US" sz="1200" dirty="0">
                        <a:latin typeface="Inter" charset="0"/>
                        <a:ea typeface="Inter" charset="0"/>
                        <a:cs typeface="Inter" charset="0"/>
                      </a:endParaRPr>
                    </a:p>
                  </a:txBody>
                  <a:tcPr marL="127000" marR="127000" marT="88900" marB="889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~5–10</a:t>
                      </a:r>
                      <a:endParaRPr lang="en-US" sz="1200" dirty="0">
                        <a:latin typeface="Inter" charset="0"/>
                        <a:ea typeface="Inter" charset="0"/>
                        <a:cs typeface="Inter" charset="0"/>
                      </a:endParaRPr>
                    </a:p>
                  </a:txBody>
                  <a:tcPr marL="127000" marR="127000" marT="88900" marB="889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Gaps surface before hand-off to engineering</a:t>
                      </a:r>
                      <a:endParaRPr lang="en-US" sz="1200" dirty="0">
                        <a:latin typeface="Inter" charset="0"/>
                        <a:ea typeface="Inter" charset="0"/>
                        <a:cs typeface="Inter" charset="0"/>
                      </a:endParaRPr>
                    </a:p>
                  </a:txBody>
                  <a:tcPr marL="127000" marR="127000" marT="88900" marB="889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r>
              <a:tr h="381661">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IR Authors</a:t>
                      </a:r>
                      <a:endParaRPr lang="en-US" sz="1200" dirty="0">
                        <a:latin typeface="Inter" charset="0"/>
                        <a:ea typeface="Inter" charset="0"/>
                        <a:cs typeface="Inter" charset="0"/>
                      </a:endParaRPr>
                    </a:p>
                  </a:txBody>
                  <a:tcPr marL="127000" marR="127000" marT="88900" marB="889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Specification approvers</a:t>
                      </a:r>
                      <a:endParaRPr lang="en-US" sz="1200" dirty="0">
                        <a:latin typeface="Inter" charset="0"/>
                        <a:ea typeface="Inter" charset="0"/>
                        <a:cs typeface="Inter" charset="0"/>
                      </a:endParaRPr>
                    </a:p>
                  </a:txBody>
                  <a:tcPr marL="127000" marR="127000" marT="88900" marB="889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BSA subset</a:t>
                      </a:r>
                      <a:endParaRPr lang="en-US" sz="1200" dirty="0">
                        <a:latin typeface="Inter" charset="0"/>
                        <a:ea typeface="Inter" charset="0"/>
                        <a:cs typeface="Inter" charset="0"/>
                      </a:endParaRPr>
                    </a:p>
                  </a:txBody>
                  <a:tcPr marL="127000" marR="127000" marT="88900" marB="889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Review and correct AI-proposed artifacts</a:t>
                      </a:r>
                      <a:endParaRPr lang="en-US" sz="1200" dirty="0">
                        <a:latin typeface="Inter" charset="0"/>
                        <a:ea typeface="Inter" charset="0"/>
                        <a:cs typeface="Inter" charset="0"/>
                      </a:endParaRPr>
                    </a:p>
                  </a:txBody>
                  <a:tcPr marL="127000" marR="127000" marT="88900" marB="889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81661">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Domain Architects, SMEs</a:t>
                      </a:r>
                      <a:endParaRPr lang="en-US" sz="1200" dirty="0">
                        <a:latin typeface="Inter" charset="0"/>
                        <a:ea typeface="Inter" charset="0"/>
                        <a:cs typeface="Inter" charset="0"/>
                      </a:endParaRPr>
                    </a:p>
                  </a:txBody>
                  <a:tcPr marL="127000" marR="127000" marT="88900" marB="88900" anchor="t">
                    <a:lnL w="12700" cap="flat" cmpd="sng" algn="ctr">
                      <a:solidFill>
                        <a:srgbClr val="CBCBCB"/>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Correctness reviewers</a:t>
                      </a:r>
                      <a:endParaRPr lang="en-US" sz="1200" dirty="0">
                        <a:latin typeface="Inter" charset="0"/>
                        <a:ea typeface="Inter" charset="0"/>
                        <a:cs typeface="Inter" charset="0"/>
                      </a:endParaRPr>
                    </a:p>
                  </a:txBody>
                  <a:tcPr marL="127000" marR="127000" marT="88900" marB="889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~2–4</a:t>
                      </a:r>
                      <a:endParaRPr lang="en-US" sz="1200" dirty="0">
                        <a:latin typeface="Inter" charset="0"/>
                        <a:ea typeface="Inter" charset="0"/>
                        <a:cs typeface="Inter" charset="0"/>
                      </a:endParaRPr>
                    </a:p>
                  </a:txBody>
                  <a:tcPr marL="127000" marR="127000" marT="88900" marB="889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Attest models reflect business intent</a:t>
                      </a:r>
                      <a:endParaRPr lang="en-US" sz="1200" dirty="0">
                        <a:latin typeface="Inter" charset="0"/>
                        <a:ea typeface="Inter" charset="0"/>
                        <a:cs typeface="Inter" charset="0"/>
                      </a:endParaRPr>
                    </a:p>
                  </a:txBody>
                  <a:tcPr marL="127000" marR="127000" marT="88900" marB="889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r>
              <a:tr h="381661">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Eng. Managers, Tech Leads</a:t>
                      </a:r>
                      <a:endParaRPr lang="en-US" sz="1200" dirty="0">
                        <a:latin typeface="Inter" charset="0"/>
                        <a:ea typeface="Inter" charset="0"/>
                        <a:cs typeface="Inter" charset="0"/>
                      </a:endParaRPr>
                    </a:p>
                  </a:txBody>
                  <a:tcPr marL="127000" marR="127000" marT="88900" marB="889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Spec review, priorities</a:t>
                      </a:r>
                      <a:endParaRPr lang="en-US" sz="1200" dirty="0">
                        <a:latin typeface="Inter" charset="0"/>
                        <a:ea typeface="Inter" charset="0"/>
                        <a:cs typeface="Inter" charset="0"/>
                      </a:endParaRPr>
                    </a:p>
                  </a:txBody>
                  <a:tcPr marL="127000" marR="127000" marT="88900" marB="889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~3–5</a:t>
                      </a:r>
                      <a:endParaRPr lang="en-US" sz="1200" dirty="0">
                        <a:latin typeface="Inter" charset="0"/>
                        <a:ea typeface="Inter" charset="0"/>
                        <a:cs typeface="Inter" charset="0"/>
                      </a:endParaRPr>
                    </a:p>
                  </a:txBody>
                  <a:tcPr marL="127000" marR="127000" marT="88900" marB="889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Faster, higher-confidence definition of done</a:t>
                      </a:r>
                      <a:endParaRPr lang="en-US" sz="1200" dirty="0">
                        <a:latin typeface="Inter" charset="0"/>
                        <a:ea typeface="Inter" charset="0"/>
                        <a:cs typeface="Inter" charset="0"/>
                      </a:endParaRPr>
                    </a:p>
                  </a:txBody>
                  <a:tcPr marL="127000" marR="127000" marT="88900" marB="889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bl>
          </a:graphicData>
        </a:graphic>
      </p:graphicFrame>
      <p:sp>
        <p:nvSpPr>
          <p:cNvPr id="8" name="Shape 5"/>
          <p:cNvSpPr/>
          <p:nvPr/>
        </p:nvSpPr>
        <p:spPr>
          <a:xfrm>
            <a:off x="815975" y="4326806"/>
            <a:ext cx="5200650" cy="1209119"/>
          </a:xfrm>
          <a:prstGeom prst="roundRect">
            <a:avLst>
              <a:gd name="adj" fmla="val 3939"/>
            </a:avLst>
          </a:prstGeom>
          <a:solidFill>
            <a:srgbClr val="F0F0F0"/>
          </a:solidFill>
          <a:ln w="6350">
            <a:solidFill>
              <a:srgbClr val="D0D0D0"/>
            </a:solidFill>
            <a:prstDash val="solid"/>
          </a:ln>
        </p:spPr>
      </p:sp>
      <p:sp>
        <p:nvSpPr>
          <p:cNvPr id="9" name="Text 6"/>
          <p:cNvSpPr/>
          <p:nvPr/>
        </p:nvSpPr>
        <p:spPr>
          <a:xfrm>
            <a:off x="1021080" y="4506516"/>
            <a:ext cx="4934153"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Anticipated positive impact</a:t>
            </a:r>
            <a:endParaRPr lang="en-US" sz="1500" dirty="0"/>
          </a:p>
        </p:txBody>
      </p:sp>
      <p:sp>
        <p:nvSpPr>
          <p:cNvPr id="10" name="Text 7"/>
          <p:cNvSpPr/>
          <p:nvPr/>
        </p:nvSpPr>
        <p:spPr>
          <a:xfrm>
            <a:off x="1021080" y="4780198"/>
            <a:ext cx="4934153"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Fewer rework cycles, more testable acceptance criteria, and consistent rigor regardless of individual BSA experience.</a:t>
            </a:r>
            <a:endParaRPr lang="en-US" sz="1200" dirty="0"/>
          </a:p>
        </p:txBody>
      </p:sp>
      <p:sp>
        <p:nvSpPr>
          <p:cNvPr id="11" name="Shape 8"/>
          <p:cNvSpPr/>
          <p:nvPr/>
        </p:nvSpPr>
        <p:spPr>
          <a:xfrm>
            <a:off x="6175375" y="4326806"/>
            <a:ext cx="5200650" cy="1209119"/>
          </a:xfrm>
          <a:prstGeom prst="roundRect">
            <a:avLst>
              <a:gd name="adj" fmla="val 3939"/>
            </a:avLst>
          </a:prstGeom>
          <a:solidFill>
            <a:srgbClr val="FDECEE"/>
          </a:solidFill>
          <a:ln w="6350">
            <a:solidFill>
              <a:srgbClr val="F5B5BC"/>
            </a:solidFill>
            <a:prstDash val="solid"/>
          </a:ln>
        </p:spPr>
      </p:sp>
      <p:sp>
        <p:nvSpPr>
          <p:cNvPr id="12" name="Text 9"/>
          <p:cNvSpPr/>
          <p:nvPr/>
        </p:nvSpPr>
        <p:spPr>
          <a:xfrm>
            <a:off x="6380480" y="4506516"/>
            <a:ext cx="4934153"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Adoption trade-off</a:t>
            </a:r>
            <a:endParaRPr lang="en-US" sz="1500" dirty="0"/>
          </a:p>
        </p:txBody>
      </p:sp>
      <p:sp>
        <p:nvSpPr>
          <p:cNvPr id="13" name="Text 10"/>
          <p:cNvSpPr/>
          <p:nvPr/>
        </p:nvSpPr>
        <p:spPr>
          <a:xfrm>
            <a:off x="6380480" y="4780198"/>
            <a:ext cx="4934153" cy="60142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Users work through a structured, question-driven process and review AI-proposed models. The PoC stays opt-in, CX Engineering only, in development.</a:t>
            </a:r>
            <a:endParaRPr lang="en-US" sz="1200" dirty="0"/>
          </a:p>
        </p:txBody>
      </p:sp>
      <p:sp>
        <p:nvSpPr>
          <p:cNvPr id="14" name="Text 11"/>
          <p:cNvSpPr/>
          <p:nvPr/>
        </p:nvSpPr>
        <p:spPr>
          <a:xfrm>
            <a:off x="812800" y="6259587"/>
            <a:ext cx="784860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Inter" pitchFamily="34" charset="0"/>
                <a:ea typeface="Inter" pitchFamily="34" charset="-122"/>
                <a:cs typeface="Inter" pitchFamily="34" charset="-120"/>
              </a:rPr>
              <a:t>Proof of concept proposal · Policy CP6.55</a:t>
            </a:r>
            <a:endParaRPr lang="en-US" sz="1200" dirty="0"/>
          </a:p>
        </p:txBody>
      </p:sp>
      <p:sp>
        <p:nvSpPr>
          <p:cNvPr id="15" name="Text 12"/>
          <p:cNvSpPr/>
          <p:nvPr/>
        </p:nvSpPr>
        <p:spPr>
          <a:xfrm>
            <a:off x="10058401" y="6259587"/>
            <a:ext cx="132080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BM Plex Mono" pitchFamily="49" charset="0"/>
                <a:ea typeface="IBM Plex Mono" pitchFamily="49" charset="-122"/>
                <a:cs typeface="IBM Plex Mono" pitchFamily="49" charset="-120"/>
              </a:rPr>
              <a:t>10 / 23</a:t>
            </a:r>
            <a:endParaRPr lang="en-US" sz="1200" dirty="0"/>
          </a:p>
        </p:txBody>
      </p:sp>
      <p:sp>
        <p:nvSpPr>
          <p:cNvPr id="16" name="Text 13"/>
          <p:cNvSpPr/>
          <p:nvPr/>
        </p:nvSpPr>
        <p:spPr>
          <a:xfrm>
            <a:off x="812800" y="1778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1111"/>
                </a:solidFill>
                <a:latin typeface="Inter" pitchFamily="34" charset="0"/>
                <a:ea typeface="Inter" pitchFamily="34" charset="-122"/>
                <a:cs typeface="Inter" pitchFamily="34" charset="-120"/>
              </a:rPr>
              <a:t>Intent Discovery Service</a:t>
            </a:r>
            <a:endParaRPr lang="en-US" sz="1200" dirty="0"/>
          </a:p>
        </p:txBody>
      </p:sp>
      <p:sp>
        <p:nvSpPr>
          <p:cNvPr id="17" name="Text 14"/>
          <p:cNvSpPr/>
          <p:nvPr/>
        </p:nvSpPr>
        <p:spPr>
          <a:xfrm>
            <a:off x="6800850" y="177800"/>
            <a:ext cx="457835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nter" pitchFamily="34" charset="0"/>
                <a:ea typeface="Inter" pitchFamily="34" charset="-122"/>
                <a:cs typeface="Inter" pitchFamily="34" charset="-120"/>
              </a:rPr>
              <a:t>GenAI Governance Panel</a:t>
            </a:r>
            <a:endParaRPr lang="en-US" sz="1200" dirty="0"/>
          </a:p>
        </p:txBody>
      </p:sp>
      <p:pic>
        <p:nvPicPr>
          <p:cNvPr id="18" name="Image 0" descr="line">    </p:cNvPr>
          <p:cNvPicPr>
            <a:picLocks noChangeAspect="1"/>
          </p:cNvPicPr>
          <p:nvPr/>
        </p:nvPicPr>
        <p:blipFill>
          <a:blip r:embed="rId1"/>
          <a:srcRect l="-1137" r="-1137" t="0" b="0"/>
          <a:stretch/>
        </p:blipFill>
        <p:spPr>
          <a:xfrm>
            <a:off x="0" y="533400"/>
            <a:ext cx="12192001" cy="3725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896088"/>
            <a:ext cx="304800" cy="25400"/>
          </a:xfrm>
          <a:prstGeom prst="rect">
            <a:avLst/>
          </a:prstGeom>
          <a:solidFill>
            <a:srgbClr val="EB0A1E"/>
          </a:solidFill>
          <a:ln/>
        </p:spPr>
      </p:sp>
      <p:sp>
        <p:nvSpPr>
          <p:cNvPr id="3" name="Text 1"/>
          <p:cNvSpPr/>
          <p:nvPr/>
        </p:nvSpPr>
        <p:spPr>
          <a:xfrm>
            <a:off x="1219200" y="812800"/>
            <a:ext cx="3820637"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HOW IT WOULD WORK · INTERROGATION</a:t>
            </a:r>
            <a:endParaRPr lang="en-US" sz="1200" dirty="0"/>
          </a:p>
        </p:txBody>
      </p:sp>
      <p:sp>
        <p:nvSpPr>
          <p:cNvPr id="4" name="Text 2"/>
          <p:cNvSpPr/>
          <p:nvPr>
            <p:ph type="title"/>
          </p:nvPr>
        </p:nvSpPr>
        <p:spPr>
          <a:xfrm>
            <a:off x="812800" y="1106407"/>
            <a:ext cx="10883393" cy="427725"/>
          </a:xfrm>
          <a:prstGeom prst="rect">
            <a:avLst/>
          </a:prstGeom>
          <a:noFill/>
          <a:ln/>
        </p:spPr>
        <p:txBody>
          <a:bodyPr wrap="square" lIns="0" tIns="0" rIns="0" bIns="0" rtlCol="0" anchor="t">
            <a:normAutofit/>
          </a:bodyPr>
          <a:lstStyle/>
          <a:p>
            <a:pPr algn="l" indent="0" marL="0">
              <a:lnSpc>
                <a:spcPts val="3520"/>
              </a:lnSpc>
              <a:buNone/>
            </a:pPr>
            <a:r>
              <a:rPr lang="en-US" sz="3200" b="1" i="0" spc="-50" kern="0" dirty="0">
                <a:solidFill>
                  <a:srgbClr val="1A1A1A"/>
                </a:solidFill>
                <a:latin typeface="Inter" pitchFamily="34" charset="0"/>
                <a:ea typeface="Inter" pitchFamily="34" charset="-122"/>
                <a:cs typeface="Inter" pitchFamily="34" charset="-120"/>
              </a:rPr>
              <a:t>A 12-rung interrogation ladder</a:t>
            </a:r>
            <a:endParaRPr lang="en-US" sz="3200" dirty="0"/>
          </a:p>
        </p:txBody>
      </p:sp>
      <p:sp>
        <p:nvSpPr>
          <p:cNvPr id="5" name="Text 3"/>
          <p:cNvSpPr/>
          <p:nvPr/>
        </p:nvSpPr>
        <p:spPr>
          <a:xfrm>
            <a:off x="812800" y="1813533"/>
            <a:ext cx="6148070"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8595B"/>
                </a:solidFill>
                <a:latin typeface="Inter" pitchFamily="34" charset="0"/>
                <a:ea typeface="Inter" pitchFamily="34" charset="-122"/>
                <a:cs typeface="Inter" pitchFamily="34" charset="-120"/>
              </a:rPr>
              <a:t>ONE CLOSED QUESTION AT A TIME</a:t>
            </a:r>
            <a:endParaRPr lang="en-US" sz="1200" dirty="0"/>
          </a:p>
        </p:txBody>
      </p:sp>
      <p:sp>
        <p:nvSpPr>
          <p:cNvPr id="6" name="Shape 4"/>
          <p:cNvSpPr/>
          <p:nvPr/>
        </p:nvSpPr>
        <p:spPr>
          <a:xfrm>
            <a:off x="815975" y="2110315"/>
            <a:ext cx="2940050" cy="353695"/>
          </a:xfrm>
          <a:prstGeom prst="roundRect">
            <a:avLst>
              <a:gd name="adj" fmla="val 17056"/>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7" name="Text 5"/>
          <p:cNvSpPr/>
          <p:nvPr/>
        </p:nvSpPr>
        <p:spPr>
          <a:xfrm>
            <a:off x="919480" y="2191147"/>
            <a:ext cx="330200"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B0A1E"/>
                </a:solidFill>
                <a:latin typeface="IBM Plex Mono" pitchFamily="49" charset="0"/>
                <a:ea typeface="IBM Plex Mono" pitchFamily="49" charset="-122"/>
                <a:cs typeface="IBM Plex Mono" pitchFamily="49" charset="-120"/>
              </a:rPr>
              <a:t>01</a:t>
            </a:r>
            <a:endParaRPr lang="en-US" sz="1200" dirty="0"/>
          </a:p>
        </p:txBody>
      </p:sp>
      <p:sp>
        <p:nvSpPr>
          <p:cNvPr id="8" name="Text 6"/>
          <p:cNvSpPr/>
          <p:nvPr/>
        </p:nvSpPr>
        <p:spPr>
          <a:xfrm>
            <a:off x="1300480" y="2175718"/>
            <a:ext cx="1050703" cy="248285"/>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A1A1A"/>
                </a:solidFill>
                <a:latin typeface="Inter" pitchFamily="34" charset="0"/>
                <a:ea typeface="Inter" pitchFamily="34" charset="-122"/>
                <a:cs typeface="Inter" pitchFamily="34" charset="-120"/>
              </a:rPr>
              <a:t>Ownership</a:t>
            </a:r>
            <a:endParaRPr lang="en-US" sz="1500" dirty="0"/>
          </a:p>
        </p:txBody>
      </p:sp>
      <p:sp>
        <p:nvSpPr>
          <p:cNvPr id="9" name="Shape 7"/>
          <p:cNvSpPr/>
          <p:nvPr/>
        </p:nvSpPr>
        <p:spPr>
          <a:xfrm>
            <a:off x="815975" y="2546561"/>
            <a:ext cx="2940050" cy="353695"/>
          </a:xfrm>
          <a:prstGeom prst="roundRect">
            <a:avLst>
              <a:gd name="adj" fmla="val 17056"/>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10" name="Text 8"/>
          <p:cNvSpPr/>
          <p:nvPr/>
        </p:nvSpPr>
        <p:spPr>
          <a:xfrm>
            <a:off x="919480" y="2627387"/>
            <a:ext cx="330200"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B0A1E"/>
                </a:solidFill>
                <a:latin typeface="IBM Plex Mono" pitchFamily="49" charset="0"/>
                <a:ea typeface="IBM Plex Mono" pitchFamily="49" charset="-122"/>
                <a:cs typeface="IBM Plex Mono" pitchFamily="49" charset="-120"/>
              </a:rPr>
              <a:t>02</a:t>
            </a:r>
            <a:endParaRPr lang="en-US" sz="1200" dirty="0"/>
          </a:p>
        </p:txBody>
      </p:sp>
      <p:sp>
        <p:nvSpPr>
          <p:cNvPr id="11" name="Text 9"/>
          <p:cNvSpPr/>
          <p:nvPr/>
        </p:nvSpPr>
        <p:spPr>
          <a:xfrm>
            <a:off x="1300480" y="2611965"/>
            <a:ext cx="1958975" cy="248285"/>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A1A1A"/>
                </a:solidFill>
                <a:latin typeface="Inter" pitchFamily="34" charset="0"/>
                <a:ea typeface="Inter" pitchFamily="34" charset="-122"/>
                <a:cs typeface="Inter" pitchFamily="34" charset="-120"/>
              </a:rPr>
              <a:t>Scope &amp; boundaries</a:t>
            </a:r>
            <a:endParaRPr lang="en-US" sz="1500" dirty="0"/>
          </a:p>
        </p:txBody>
      </p:sp>
      <p:sp>
        <p:nvSpPr>
          <p:cNvPr id="12" name="Shape 10"/>
          <p:cNvSpPr/>
          <p:nvPr/>
        </p:nvSpPr>
        <p:spPr>
          <a:xfrm>
            <a:off x="815975" y="2982807"/>
            <a:ext cx="2940050" cy="353695"/>
          </a:xfrm>
          <a:prstGeom prst="roundRect">
            <a:avLst>
              <a:gd name="adj" fmla="val 17056"/>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13" name="Text 11"/>
          <p:cNvSpPr/>
          <p:nvPr/>
        </p:nvSpPr>
        <p:spPr>
          <a:xfrm>
            <a:off x="919480" y="3063633"/>
            <a:ext cx="330200"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B0A1E"/>
                </a:solidFill>
                <a:latin typeface="IBM Plex Mono" pitchFamily="49" charset="0"/>
                <a:ea typeface="IBM Plex Mono" pitchFamily="49" charset="-122"/>
                <a:cs typeface="IBM Plex Mono" pitchFamily="49" charset="-120"/>
              </a:rPr>
              <a:t>03</a:t>
            </a:r>
            <a:endParaRPr lang="en-US" sz="1200" dirty="0"/>
          </a:p>
        </p:txBody>
      </p:sp>
      <p:sp>
        <p:nvSpPr>
          <p:cNvPr id="14" name="Text 12"/>
          <p:cNvSpPr/>
          <p:nvPr/>
        </p:nvSpPr>
        <p:spPr>
          <a:xfrm>
            <a:off x="1300480" y="3048211"/>
            <a:ext cx="1626648" cy="248285"/>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A1A1A"/>
                </a:solidFill>
                <a:latin typeface="Inter" pitchFamily="34" charset="0"/>
                <a:ea typeface="Inter" pitchFamily="34" charset="-122"/>
                <a:cs typeface="Inter" pitchFamily="34" charset="-120"/>
              </a:rPr>
              <a:t>Process &amp; timing</a:t>
            </a:r>
            <a:endParaRPr lang="en-US" sz="1500" dirty="0"/>
          </a:p>
        </p:txBody>
      </p:sp>
      <p:sp>
        <p:nvSpPr>
          <p:cNvPr id="15" name="Shape 13"/>
          <p:cNvSpPr/>
          <p:nvPr/>
        </p:nvSpPr>
        <p:spPr>
          <a:xfrm>
            <a:off x="815975" y="3419047"/>
            <a:ext cx="2940050" cy="353695"/>
          </a:xfrm>
          <a:prstGeom prst="roundRect">
            <a:avLst>
              <a:gd name="adj" fmla="val 17056"/>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16" name="Text 14"/>
          <p:cNvSpPr/>
          <p:nvPr/>
        </p:nvSpPr>
        <p:spPr>
          <a:xfrm>
            <a:off x="919480" y="3499879"/>
            <a:ext cx="330200"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B0A1E"/>
                </a:solidFill>
                <a:latin typeface="IBM Plex Mono" pitchFamily="49" charset="0"/>
                <a:ea typeface="IBM Plex Mono" pitchFamily="49" charset="-122"/>
                <a:cs typeface="IBM Plex Mono" pitchFamily="49" charset="-120"/>
              </a:rPr>
              <a:t>04</a:t>
            </a:r>
            <a:endParaRPr lang="en-US" sz="1200" dirty="0"/>
          </a:p>
        </p:txBody>
      </p:sp>
      <p:sp>
        <p:nvSpPr>
          <p:cNvPr id="17" name="Text 15"/>
          <p:cNvSpPr/>
          <p:nvPr/>
        </p:nvSpPr>
        <p:spPr>
          <a:xfrm>
            <a:off x="1300480" y="3484457"/>
            <a:ext cx="1408748" cy="248285"/>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A1A1A"/>
                </a:solidFill>
                <a:latin typeface="Inter" pitchFamily="34" charset="0"/>
                <a:ea typeface="Inter" pitchFamily="34" charset="-122"/>
                <a:cs typeface="Inter" pitchFamily="34" charset="-120"/>
              </a:rPr>
              <a:t>Business rules</a:t>
            </a:r>
            <a:endParaRPr lang="en-US" sz="1500" dirty="0"/>
          </a:p>
        </p:txBody>
      </p:sp>
      <p:sp>
        <p:nvSpPr>
          <p:cNvPr id="18" name="Shape 16"/>
          <p:cNvSpPr/>
          <p:nvPr/>
        </p:nvSpPr>
        <p:spPr>
          <a:xfrm>
            <a:off x="815975" y="3855293"/>
            <a:ext cx="2940050" cy="353695"/>
          </a:xfrm>
          <a:prstGeom prst="roundRect">
            <a:avLst>
              <a:gd name="adj" fmla="val 17056"/>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19" name="Text 17"/>
          <p:cNvSpPr/>
          <p:nvPr/>
        </p:nvSpPr>
        <p:spPr>
          <a:xfrm>
            <a:off x="919480" y="3936126"/>
            <a:ext cx="330200"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B0A1E"/>
                </a:solidFill>
                <a:latin typeface="IBM Plex Mono" pitchFamily="49" charset="0"/>
                <a:ea typeface="IBM Plex Mono" pitchFamily="49" charset="-122"/>
                <a:cs typeface="IBM Plex Mono" pitchFamily="49" charset="-120"/>
              </a:rPr>
              <a:t>05</a:t>
            </a:r>
            <a:endParaRPr lang="en-US" sz="1200" dirty="0"/>
          </a:p>
        </p:txBody>
      </p:sp>
      <p:sp>
        <p:nvSpPr>
          <p:cNvPr id="20" name="Text 18"/>
          <p:cNvSpPr/>
          <p:nvPr/>
        </p:nvSpPr>
        <p:spPr>
          <a:xfrm>
            <a:off x="1300480" y="3920697"/>
            <a:ext cx="1481487" cy="248285"/>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A1A1A"/>
                </a:solidFill>
                <a:latin typeface="Inter" pitchFamily="34" charset="0"/>
                <a:ea typeface="Inter" pitchFamily="34" charset="-122"/>
                <a:cs typeface="Inter" pitchFamily="34" charset="-120"/>
              </a:rPr>
              <a:t>Error scenarios</a:t>
            </a:r>
            <a:endParaRPr lang="en-US" sz="1500" dirty="0"/>
          </a:p>
        </p:txBody>
      </p:sp>
      <p:sp>
        <p:nvSpPr>
          <p:cNvPr id="21" name="Shape 19"/>
          <p:cNvSpPr/>
          <p:nvPr/>
        </p:nvSpPr>
        <p:spPr>
          <a:xfrm>
            <a:off x="815975" y="4291540"/>
            <a:ext cx="2940050" cy="353695"/>
          </a:xfrm>
          <a:prstGeom prst="roundRect">
            <a:avLst>
              <a:gd name="adj" fmla="val 17056"/>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22" name="Text 20"/>
          <p:cNvSpPr/>
          <p:nvPr/>
        </p:nvSpPr>
        <p:spPr>
          <a:xfrm>
            <a:off x="919480" y="4372372"/>
            <a:ext cx="330200"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B0A1E"/>
                </a:solidFill>
                <a:latin typeface="IBM Plex Mono" pitchFamily="49" charset="0"/>
                <a:ea typeface="IBM Plex Mono" pitchFamily="49" charset="-122"/>
                <a:cs typeface="IBM Plex Mono" pitchFamily="49" charset="-120"/>
              </a:rPr>
              <a:t>06</a:t>
            </a:r>
            <a:endParaRPr lang="en-US" sz="1200" dirty="0"/>
          </a:p>
        </p:txBody>
      </p:sp>
      <p:sp>
        <p:nvSpPr>
          <p:cNvPr id="23" name="Text 21"/>
          <p:cNvSpPr/>
          <p:nvPr/>
        </p:nvSpPr>
        <p:spPr>
          <a:xfrm>
            <a:off x="1300480" y="4356943"/>
            <a:ext cx="1919288" cy="248285"/>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A1A1A"/>
                </a:solidFill>
                <a:latin typeface="Inter" pitchFamily="34" charset="0"/>
                <a:ea typeface="Inter" pitchFamily="34" charset="-122"/>
                <a:cs typeface="Inter" pitchFamily="34" charset="-120"/>
              </a:rPr>
              <a:t>Recorded decisions</a:t>
            </a:r>
            <a:endParaRPr lang="en-US" sz="1500" dirty="0"/>
          </a:p>
        </p:txBody>
      </p:sp>
      <p:sp>
        <p:nvSpPr>
          <p:cNvPr id="24" name="Shape 22"/>
          <p:cNvSpPr/>
          <p:nvPr/>
        </p:nvSpPr>
        <p:spPr>
          <a:xfrm>
            <a:off x="3838575" y="2110315"/>
            <a:ext cx="2940050" cy="353695"/>
          </a:xfrm>
          <a:prstGeom prst="roundRect">
            <a:avLst>
              <a:gd name="adj" fmla="val 17056"/>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25" name="Text 23"/>
          <p:cNvSpPr/>
          <p:nvPr/>
        </p:nvSpPr>
        <p:spPr>
          <a:xfrm>
            <a:off x="3942080" y="2191147"/>
            <a:ext cx="330200"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B0A1E"/>
                </a:solidFill>
                <a:latin typeface="IBM Plex Mono" pitchFamily="49" charset="0"/>
                <a:ea typeface="IBM Plex Mono" pitchFamily="49" charset="-122"/>
                <a:cs typeface="IBM Plex Mono" pitchFamily="49" charset="-120"/>
              </a:rPr>
              <a:t>07</a:t>
            </a:r>
            <a:endParaRPr lang="en-US" sz="1200" dirty="0"/>
          </a:p>
        </p:txBody>
      </p:sp>
      <p:sp>
        <p:nvSpPr>
          <p:cNvPr id="26" name="Text 24"/>
          <p:cNvSpPr/>
          <p:nvPr/>
        </p:nvSpPr>
        <p:spPr>
          <a:xfrm>
            <a:off x="4323080" y="2175718"/>
            <a:ext cx="1485202" cy="248285"/>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A1A1A"/>
                </a:solidFill>
                <a:latin typeface="Inter" pitchFamily="34" charset="0"/>
                <a:ea typeface="Inter" pitchFamily="34" charset="-122"/>
                <a:cs typeface="Inter" pitchFamily="34" charset="-120"/>
              </a:rPr>
              <a:t>Decision tables</a:t>
            </a:r>
            <a:endParaRPr lang="en-US" sz="1500" dirty="0"/>
          </a:p>
        </p:txBody>
      </p:sp>
      <p:sp>
        <p:nvSpPr>
          <p:cNvPr id="27" name="Shape 25"/>
          <p:cNvSpPr/>
          <p:nvPr/>
        </p:nvSpPr>
        <p:spPr>
          <a:xfrm>
            <a:off x="3838575" y="2546561"/>
            <a:ext cx="2940050" cy="353695"/>
          </a:xfrm>
          <a:prstGeom prst="roundRect">
            <a:avLst>
              <a:gd name="adj" fmla="val 17056"/>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28" name="Text 26"/>
          <p:cNvSpPr/>
          <p:nvPr/>
        </p:nvSpPr>
        <p:spPr>
          <a:xfrm>
            <a:off x="3942080" y="2627387"/>
            <a:ext cx="330200"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B0A1E"/>
                </a:solidFill>
                <a:latin typeface="IBM Plex Mono" pitchFamily="49" charset="0"/>
                <a:ea typeface="IBM Plex Mono" pitchFamily="49" charset="-122"/>
                <a:cs typeface="IBM Plex Mono" pitchFamily="49" charset="-120"/>
              </a:rPr>
              <a:t>08</a:t>
            </a:r>
            <a:endParaRPr lang="en-US" sz="1200" dirty="0"/>
          </a:p>
        </p:txBody>
      </p:sp>
      <p:sp>
        <p:nvSpPr>
          <p:cNvPr id="29" name="Text 27"/>
          <p:cNvSpPr/>
          <p:nvPr/>
        </p:nvSpPr>
        <p:spPr>
          <a:xfrm>
            <a:off x="4323080" y="2611965"/>
            <a:ext cx="1924399" cy="248285"/>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A1A1A"/>
                </a:solidFill>
                <a:latin typeface="Inter" pitchFamily="34" charset="0"/>
                <a:ea typeface="Inter" pitchFamily="34" charset="-122"/>
                <a:cs typeface="Inter" pitchFamily="34" charset="-120"/>
              </a:rPr>
              <a:t>Recovery &amp; fallback</a:t>
            </a:r>
            <a:endParaRPr lang="en-US" sz="1500" dirty="0"/>
          </a:p>
        </p:txBody>
      </p:sp>
      <p:sp>
        <p:nvSpPr>
          <p:cNvPr id="30" name="Shape 28"/>
          <p:cNvSpPr/>
          <p:nvPr/>
        </p:nvSpPr>
        <p:spPr>
          <a:xfrm>
            <a:off x="3838575" y="2982807"/>
            <a:ext cx="2940050" cy="353695"/>
          </a:xfrm>
          <a:prstGeom prst="roundRect">
            <a:avLst>
              <a:gd name="adj" fmla="val 17056"/>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31" name="Text 29"/>
          <p:cNvSpPr/>
          <p:nvPr/>
        </p:nvSpPr>
        <p:spPr>
          <a:xfrm>
            <a:off x="3942080" y="3063633"/>
            <a:ext cx="330200"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B0A1E"/>
                </a:solidFill>
                <a:latin typeface="IBM Plex Mono" pitchFamily="49" charset="0"/>
                <a:ea typeface="IBM Plex Mono" pitchFamily="49" charset="-122"/>
                <a:cs typeface="IBM Plex Mono" pitchFamily="49" charset="-120"/>
              </a:rPr>
              <a:t>09</a:t>
            </a:r>
            <a:endParaRPr lang="en-US" sz="1200" dirty="0"/>
          </a:p>
        </p:txBody>
      </p:sp>
      <p:sp>
        <p:nvSpPr>
          <p:cNvPr id="32" name="Text 30"/>
          <p:cNvSpPr/>
          <p:nvPr/>
        </p:nvSpPr>
        <p:spPr>
          <a:xfrm>
            <a:off x="4323080" y="3048211"/>
            <a:ext cx="1978755" cy="248285"/>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A1A1A"/>
                </a:solidFill>
                <a:latin typeface="Inter" pitchFamily="34" charset="0"/>
                <a:ea typeface="Inter" pitchFamily="34" charset="-122"/>
                <a:cs typeface="Inter" pitchFamily="34" charset="-120"/>
              </a:rPr>
              <a:t>Reporting &amp; visibility</a:t>
            </a:r>
            <a:endParaRPr lang="en-US" sz="1500" dirty="0"/>
          </a:p>
        </p:txBody>
      </p:sp>
      <p:sp>
        <p:nvSpPr>
          <p:cNvPr id="33" name="Shape 31"/>
          <p:cNvSpPr/>
          <p:nvPr/>
        </p:nvSpPr>
        <p:spPr>
          <a:xfrm>
            <a:off x="3838575" y="3419047"/>
            <a:ext cx="2940050" cy="353695"/>
          </a:xfrm>
          <a:prstGeom prst="roundRect">
            <a:avLst>
              <a:gd name="adj" fmla="val 17056"/>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34" name="Text 32"/>
          <p:cNvSpPr/>
          <p:nvPr/>
        </p:nvSpPr>
        <p:spPr>
          <a:xfrm>
            <a:off x="3942080" y="3499879"/>
            <a:ext cx="330200"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B0A1E"/>
                </a:solidFill>
                <a:latin typeface="IBM Plex Mono" pitchFamily="49" charset="0"/>
                <a:ea typeface="IBM Plex Mono" pitchFamily="49" charset="-122"/>
                <a:cs typeface="IBM Plex Mono" pitchFamily="49" charset="-120"/>
              </a:rPr>
              <a:t>10</a:t>
            </a:r>
            <a:endParaRPr lang="en-US" sz="1200" dirty="0"/>
          </a:p>
        </p:txBody>
      </p:sp>
      <p:sp>
        <p:nvSpPr>
          <p:cNvPr id="35" name="Text 33"/>
          <p:cNvSpPr/>
          <p:nvPr/>
        </p:nvSpPr>
        <p:spPr>
          <a:xfrm>
            <a:off x="4323080" y="3484457"/>
            <a:ext cx="1047496" cy="248285"/>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A1A1A"/>
                </a:solidFill>
                <a:latin typeface="Inter" pitchFamily="34" charset="0"/>
                <a:ea typeface="Inter" pitchFamily="34" charset="-122"/>
                <a:cs typeface="Inter" pitchFamily="34" charset="-120"/>
              </a:rPr>
              <a:t>Regulatory</a:t>
            </a:r>
            <a:endParaRPr lang="en-US" sz="1500" dirty="0"/>
          </a:p>
        </p:txBody>
      </p:sp>
      <p:sp>
        <p:nvSpPr>
          <p:cNvPr id="36" name="Shape 34"/>
          <p:cNvSpPr/>
          <p:nvPr/>
        </p:nvSpPr>
        <p:spPr>
          <a:xfrm>
            <a:off x="3838575" y="3855293"/>
            <a:ext cx="2940050" cy="353695"/>
          </a:xfrm>
          <a:prstGeom prst="roundRect">
            <a:avLst>
              <a:gd name="adj" fmla="val 17056"/>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37" name="Text 35"/>
          <p:cNvSpPr/>
          <p:nvPr/>
        </p:nvSpPr>
        <p:spPr>
          <a:xfrm>
            <a:off x="3942080" y="3936126"/>
            <a:ext cx="330200"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B0A1E"/>
                </a:solidFill>
                <a:latin typeface="IBM Plex Mono" pitchFamily="49" charset="0"/>
                <a:ea typeface="IBM Plex Mono" pitchFamily="49" charset="-122"/>
                <a:cs typeface="IBM Plex Mono" pitchFamily="49" charset="-120"/>
              </a:rPr>
              <a:t>11</a:t>
            </a:r>
            <a:endParaRPr lang="en-US" sz="1200" dirty="0"/>
          </a:p>
        </p:txBody>
      </p:sp>
      <p:sp>
        <p:nvSpPr>
          <p:cNvPr id="38" name="Text 36"/>
          <p:cNvSpPr/>
          <p:nvPr/>
        </p:nvSpPr>
        <p:spPr>
          <a:xfrm>
            <a:off x="4323080" y="3920697"/>
            <a:ext cx="776161" cy="248285"/>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A1A1A"/>
                </a:solidFill>
                <a:latin typeface="Inter" pitchFamily="34" charset="0"/>
                <a:ea typeface="Inter" pitchFamily="34" charset="-122"/>
                <a:cs typeface="Inter" pitchFamily="34" charset="-120"/>
              </a:rPr>
              <a:t>Risk tier</a:t>
            </a:r>
            <a:endParaRPr lang="en-US" sz="1500" dirty="0"/>
          </a:p>
        </p:txBody>
      </p:sp>
      <p:sp>
        <p:nvSpPr>
          <p:cNvPr id="39" name="Shape 37"/>
          <p:cNvSpPr/>
          <p:nvPr/>
        </p:nvSpPr>
        <p:spPr>
          <a:xfrm>
            <a:off x="3838575" y="4291540"/>
            <a:ext cx="2940050" cy="353695"/>
          </a:xfrm>
          <a:prstGeom prst="roundRect">
            <a:avLst>
              <a:gd name="adj" fmla="val 17056"/>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40" name="Text 38"/>
          <p:cNvSpPr/>
          <p:nvPr/>
        </p:nvSpPr>
        <p:spPr>
          <a:xfrm>
            <a:off x="3942080" y="4372372"/>
            <a:ext cx="330200"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B0A1E"/>
                </a:solidFill>
                <a:latin typeface="IBM Plex Mono" pitchFamily="49" charset="0"/>
                <a:ea typeface="IBM Plex Mono" pitchFamily="49" charset="-122"/>
                <a:cs typeface="IBM Plex Mono" pitchFamily="49" charset="-120"/>
              </a:rPr>
              <a:t>12</a:t>
            </a:r>
            <a:endParaRPr lang="en-US" sz="1200" dirty="0"/>
          </a:p>
        </p:txBody>
      </p:sp>
      <p:sp>
        <p:nvSpPr>
          <p:cNvPr id="41" name="Text 39"/>
          <p:cNvSpPr/>
          <p:nvPr/>
        </p:nvSpPr>
        <p:spPr>
          <a:xfrm>
            <a:off x="4323080" y="4356943"/>
            <a:ext cx="1020064" cy="248285"/>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A1A1A"/>
                </a:solidFill>
                <a:latin typeface="Inter" pitchFamily="34" charset="0"/>
                <a:ea typeface="Inter" pitchFamily="34" charset="-122"/>
                <a:cs typeface="Inter" pitchFamily="34" charset="-120"/>
              </a:rPr>
              <a:t>Non-goals</a:t>
            </a:r>
            <a:endParaRPr lang="en-US" sz="1500" dirty="0"/>
          </a:p>
        </p:txBody>
      </p:sp>
      <p:sp>
        <p:nvSpPr>
          <p:cNvPr id="42" name="Text 40"/>
          <p:cNvSpPr/>
          <p:nvPr/>
        </p:nvSpPr>
        <p:spPr>
          <a:xfrm>
            <a:off x="812800" y="4750011"/>
            <a:ext cx="6148070"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As answers land, the tool auto-drafts the spec: business brief, decision rules, domain model, decision tables, process flow, verification requirements and open gaps.</a:t>
            </a:r>
            <a:endParaRPr lang="en-US" sz="1200" dirty="0"/>
          </a:p>
        </p:txBody>
      </p:sp>
      <p:sp>
        <p:nvSpPr>
          <p:cNvPr id="43" name="Text 41"/>
          <p:cNvSpPr/>
          <p:nvPr/>
        </p:nvSpPr>
        <p:spPr>
          <a:xfrm>
            <a:off x="7188200" y="1813533"/>
            <a:ext cx="4316730"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8595B"/>
                </a:solidFill>
                <a:latin typeface="Inter" pitchFamily="34" charset="0"/>
                <a:ea typeface="Inter" pitchFamily="34" charset="-122"/>
                <a:cs typeface="Inter" pitchFamily="34" charset="-120"/>
              </a:rPr>
              <a:t>THE AI PROPOSES; THE USER DECIDES</a:t>
            </a:r>
            <a:endParaRPr lang="en-US" sz="1200" dirty="0"/>
          </a:p>
        </p:txBody>
      </p:sp>
      <p:sp>
        <p:nvSpPr>
          <p:cNvPr id="44" name="Shape 42"/>
          <p:cNvSpPr/>
          <p:nvPr/>
        </p:nvSpPr>
        <p:spPr>
          <a:xfrm>
            <a:off x="7191375" y="2084915"/>
            <a:ext cx="4184650" cy="641826"/>
          </a:xfrm>
          <a:prstGeom prst="roundRect">
            <a:avLst>
              <a:gd name="adj" fmla="val 9399"/>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45" name="Text 43"/>
          <p:cNvSpPr/>
          <p:nvPr/>
        </p:nvSpPr>
        <p:spPr>
          <a:xfrm>
            <a:off x="7345680" y="2213818"/>
            <a:ext cx="939800"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58595B"/>
                </a:solidFill>
                <a:latin typeface="Inter" pitchFamily="34" charset="0"/>
                <a:ea typeface="Inter" pitchFamily="34" charset="-122"/>
                <a:cs typeface="Inter" pitchFamily="34" charset="-120"/>
              </a:rPr>
              <a:t>Answer</a:t>
            </a:r>
            <a:endParaRPr lang="en-US" sz="1500" dirty="0"/>
          </a:p>
        </p:txBody>
      </p:sp>
      <p:sp>
        <p:nvSpPr>
          <p:cNvPr id="46" name="Text 44"/>
          <p:cNvSpPr/>
          <p:nvPr/>
        </p:nvSpPr>
        <p:spPr>
          <a:xfrm>
            <a:off x="8361680" y="2213818"/>
            <a:ext cx="2945841"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Confirm or refine the proposed answer; the ladder moves forward.</a:t>
            </a:r>
            <a:endParaRPr lang="en-US" sz="1200" dirty="0"/>
          </a:p>
        </p:txBody>
      </p:sp>
      <p:sp>
        <p:nvSpPr>
          <p:cNvPr id="47" name="Shape 45"/>
          <p:cNvSpPr/>
          <p:nvPr/>
        </p:nvSpPr>
        <p:spPr>
          <a:xfrm>
            <a:off x="7191375" y="2809292"/>
            <a:ext cx="4184650" cy="641826"/>
          </a:xfrm>
          <a:prstGeom prst="roundRect">
            <a:avLst>
              <a:gd name="adj" fmla="val 9399"/>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48" name="Text 46"/>
          <p:cNvSpPr/>
          <p:nvPr/>
        </p:nvSpPr>
        <p:spPr>
          <a:xfrm>
            <a:off x="7345680" y="2938196"/>
            <a:ext cx="939800"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58595B"/>
                </a:solidFill>
                <a:latin typeface="Inter" pitchFamily="34" charset="0"/>
                <a:ea typeface="Inter" pitchFamily="34" charset="-122"/>
                <a:cs typeface="Inter" pitchFamily="34" charset="-120"/>
              </a:rPr>
              <a:t>Defer</a:t>
            </a:r>
            <a:endParaRPr lang="en-US" sz="1500" dirty="0"/>
          </a:p>
        </p:txBody>
      </p:sp>
      <p:sp>
        <p:nvSpPr>
          <p:cNvPr id="49" name="Text 47"/>
          <p:cNvSpPr/>
          <p:nvPr/>
        </p:nvSpPr>
        <p:spPr>
          <a:xfrm>
            <a:off x="8361680" y="2938196"/>
            <a:ext cx="2945841"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Skip a hard question now and resume it later.</a:t>
            </a:r>
            <a:endParaRPr lang="en-US" sz="1200" dirty="0"/>
          </a:p>
        </p:txBody>
      </p:sp>
      <p:sp>
        <p:nvSpPr>
          <p:cNvPr id="50" name="Shape 48"/>
          <p:cNvSpPr/>
          <p:nvPr/>
        </p:nvSpPr>
        <p:spPr>
          <a:xfrm>
            <a:off x="7191375" y="3533670"/>
            <a:ext cx="4184650" cy="641826"/>
          </a:xfrm>
          <a:prstGeom prst="roundRect">
            <a:avLst>
              <a:gd name="adj" fmla="val 9399"/>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51" name="Text 49"/>
          <p:cNvSpPr/>
          <p:nvPr/>
        </p:nvSpPr>
        <p:spPr>
          <a:xfrm>
            <a:off x="7345680" y="3662573"/>
            <a:ext cx="939800"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58595B"/>
                </a:solidFill>
                <a:latin typeface="Inter" pitchFamily="34" charset="0"/>
                <a:ea typeface="Inter" pitchFamily="34" charset="-122"/>
                <a:cs typeface="Inter" pitchFamily="34" charset="-120"/>
              </a:rPr>
              <a:t>Contest</a:t>
            </a:r>
            <a:endParaRPr lang="en-US" sz="1500" dirty="0"/>
          </a:p>
        </p:txBody>
      </p:sp>
      <p:sp>
        <p:nvSpPr>
          <p:cNvPr id="52" name="Text 50"/>
          <p:cNvSpPr/>
          <p:nvPr/>
        </p:nvSpPr>
        <p:spPr>
          <a:xfrm>
            <a:off x="8361680" y="3662573"/>
            <a:ext cx="2945841"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Reject it and supply the right answer; saved as a correction.</a:t>
            </a:r>
            <a:endParaRPr lang="en-US" sz="1200" dirty="0"/>
          </a:p>
        </p:txBody>
      </p:sp>
      <p:sp>
        <p:nvSpPr>
          <p:cNvPr id="53" name="Shape 51"/>
          <p:cNvSpPr/>
          <p:nvPr/>
        </p:nvSpPr>
        <p:spPr>
          <a:xfrm>
            <a:off x="7191375" y="4258041"/>
            <a:ext cx="4184650" cy="641826"/>
          </a:xfrm>
          <a:prstGeom prst="roundRect">
            <a:avLst>
              <a:gd name="adj" fmla="val 9399"/>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54" name="Text 52"/>
          <p:cNvSpPr/>
          <p:nvPr/>
        </p:nvSpPr>
        <p:spPr>
          <a:xfrm>
            <a:off x="7345680" y="4386951"/>
            <a:ext cx="939800"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58595B"/>
                </a:solidFill>
                <a:latin typeface="Inter" pitchFamily="34" charset="0"/>
                <a:ea typeface="Inter" pitchFamily="34" charset="-122"/>
                <a:cs typeface="Inter" pitchFamily="34" charset="-120"/>
              </a:rPr>
              <a:t>Flag</a:t>
            </a:r>
            <a:endParaRPr lang="en-US" sz="1500" dirty="0"/>
          </a:p>
        </p:txBody>
      </p:sp>
      <p:sp>
        <p:nvSpPr>
          <p:cNvPr id="55" name="Text 53"/>
          <p:cNvSpPr/>
          <p:nvPr/>
        </p:nvSpPr>
        <p:spPr>
          <a:xfrm>
            <a:off x="8361680" y="4386951"/>
            <a:ext cx="2945841"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Flag a flawed question; kept as a cross-session learning.</a:t>
            </a:r>
            <a:endParaRPr lang="en-US" sz="1200" dirty="0"/>
          </a:p>
        </p:txBody>
      </p:sp>
      <p:sp>
        <p:nvSpPr>
          <p:cNvPr id="56" name="Text 54"/>
          <p:cNvSpPr/>
          <p:nvPr/>
        </p:nvSpPr>
        <p:spPr>
          <a:xfrm>
            <a:off x="812800" y="6259587"/>
            <a:ext cx="784860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Inter" pitchFamily="34" charset="0"/>
                <a:ea typeface="Inter" pitchFamily="34" charset="-122"/>
                <a:cs typeface="Inter" pitchFamily="34" charset="-120"/>
              </a:rPr>
              <a:t>Proof of concept proposal · Policy CP6.55</a:t>
            </a:r>
            <a:endParaRPr lang="en-US" sz="1200" dirty="0"/>
          </a:p>
        </p:txBody>
      </p:sp>
      <p:sp>
        <p:nvSpPr>
          <p:cNvPr id="57" name="Text 55"/>
          <p:cNvSpPr/>
          <p:nvPr/>
        </p:nvSpPr>
        <p:spPr>
          <a:xfrm>
            <a:off x="10058401" y="6259587"/>
            <a:ext cx="132080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BM Plex Mono" pitchFamily="49" charset="0"/>
                <a:ea typeface="IBM Plex Mono" pitchFamily="49" charset="-122"/>
                <a:cs typeface="IBM Plex Mono" pitchFamily="49" charset="-120"/>
              </a:rPr>
              <a:t>11 / 23</a:t>
            </a:r>
            <a:endParaRPr lang="en-US" sz="1200" dirty="0"/>
          </a:p>
        </p:txBody>
      </p:sp>
      <p:sp>
        <p:nvSpPr>
          <p:cNvPr id="58" name="Text 56"/>
          <p:cNvSpPr/>
          <p:nvPr/>
        </p:nvSpPr>
        <p:spPr>
          <a:xfrm>
            <a:off x="812800" y="1778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1111"/>
                </a:solidFill>
                <a:latin typeface="Inter" pitchFamily="34" charset="0"/>
                <a:ea typeface="Inter" pitchFamily="34" charset="-122"/>
                <a:cs typeface="Inter" pitchFamily="34" charset="-120"/>
              </a:rPr>
              <a:t>Intent Discovery Service</a:t>
            </a:r>
            <a:endParaRPr lang="en-US" sz="1200" dirty="0"/>
          </a:p>
        </p:txBody>
      </p:sp>
      <p:sp>
        <p:nvSpPr>
          <p:cNvPr id="59" name="Text 57"/>
          <p:cNvSpPr/>
          <p:nvPr/>
        </p:nvSpPr>
        <p:spPr>
          <a:xfrm>
            <a:off x="6800850" y="177800"/>
            <a:ext cx="457835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nter" pitchFamily="34" charset="0"/>
                <a:ea typeface="Inter" pitchFamily="34" charset="-122"/>
                <a:cs typeface="Inter" pitchFamily="34" charset="-120"/>
              </a:rPr>
              <a:t>GenAI Governance Panel</a:t>
            </a:r>
            <a:endParaRPr lang="en-US" sz="1200" dirty="0"/>
          </a:p>
        </p:txBody>
      </p:sp>
      <p:pic>
        <p:nvPicPr>
          <p:cNvPr id="60" name="Image 0" descr="line">    </p:cNvPr>
          <p:cNvPicPr>
            <a:picLocks noChangeAspect="1"/>
          </p:cNvPicPr>
          <p:nvPr/>
        </p:nvPicPr>
        <p:blipFill>
          <a:blip r:embed="rId1"/>
          <a:srcRect l="-1137" r="-1137" t="0" b="0"/>
          <a:stretch/>
        </p:blipFill>
        <p:spPr>
          <a:xfrm>
            <a:off x="0" y="533400"/>
            <a:ext cx="12192001" cy="3725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896088"/>
            <a:ext cx="304800" cy="25400"/>
          </a:xfrm>
          <a:prstGeom prst="rect">
            <a:avLst/>
          </a:prstGeom>
          <a:solidFill>
            <a:srgbClr val="EB0A1E"/>
          </a:solidFill>
          <a:ln/>
        </p:spPr>
      </p:sp>
      <p:sp>
        <p:nvSpPr>
          <p:cNvPr id="3" name="Text 1"/>
          <p:cNvSpPr/>
          <p:nvPr/>
        </p:nvSpPr>
        <p:spPr>
          <a:xfrm>
            <a:off x="1219200" y="812800"/>
            <a:ext cx="4077462"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HOW IT WOULD WORK · END-TO-END FLOW</a:t>
            </a:r>
            <a:endParaRPr lang="en-US" sz="1200" dirty="0"/>
          </a:p>
        </p:txBody>
      </p:sp>
      <p:sp>
        <p:nvSpPr>
          <p:cNvPr id="4" name="Text 2"/>
          <p:cNvSpPr/>
          <p:nvPr>
            <p:ph type="title"/>
          </p:nvPr>
        </p:nvSpPr>
        <p:spPr>
          <a:xfrm>
            <a:off x="812800" y="1106407"/>
            <a:ext cx="10883393" cy="427725"/>
          </a:xfrm>
          <a:prstGeom prst="rect">
            <a:avLst/>
          </a:prstGeom>
          <a:noFill/>
          <a:ln/>
        </p:spPr>
        <p:txBody>
          <a:bodyPr wrap="square" lIns="0" tIns="0" rIns="0" bIns="0" rtlCol="0" anchor="t">
            <a:normAutofit/>
          </a:bodyPr>
          <a:lstStyle/>
          <a:p>
            <a:pPr algn="l" indent="0" marL="0">
              <a:lnSpc>
                <a:spcPts val="3520"/>
              </a:lnSpc>
              <a:buNone/>
            </a:pPr>
            <a:r>
              <a:rPr lang="en-US" sz="3200" b="1" i="0" spc="-50" kern="0" dirty="0">
                <a:solidFill>
                  <a:srgbClr val="1A1A1A"/>
                </a:solidFill>
                <a:latin typeface="Inter" pitchFamily="34" charset="0"/>
                <a:ea typeface="Inter" pitchFamily="34" charset="-122"/>
                <a:cs typeface="Inter" pitchFamily="34" charset="-120"/>
              </a:rPr>
              <a:t>From conversation to approved specification</a:t>
            </a:r>
            <a:endParaRPr lang="en-US" sz="3200" dirty="0"/>
          </a:p>
        </p:txBody>
      </p:sp>
      <p:sp>
        <p:nvSpPr>
          <p:cNvPr id="5" name="Shape 3"/>
          <p:cNvSpPr/>
          <p:nvPr/>
        </p:nvSpPr>
        <p:spPr>
          <a:xfrm>
            <a:off x="815975" y="1816708"/>
            <a:ext cx="5175250" cy="609203"/>
          </a:xfrm>
          <a:prstGeom prst="roundRect">
            <a:avLst>
              <a:gd name="adj" fmla="val 7818"/>
            </a:avLst>
          </a:prstGeom>
          <a:solidFill>
            <a:srgbClr val="FDECEE"/>
          </a:solidFill>
          <a:ln w="6350">
            <a:solidFill>
              <a:srgbClr val="F5B5BC"/>
            </a:solidFill>
            <a:prstDash val="solid"/>
          </a:ln>
        </p:spPr>
      </p:sp>
      <p:sp>
        <p:nvSpPr>
          <p:cNvPr id="6" name="Text 4"/>
          <p:cNvSpPr/>
          <p:nvPr/>
        </p:nvSpPr>
        <p:spPr>
          <a:xfrm>
            <a:off x="944880" y="1968897"/>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1A1A1A"/>
          </a:solidFill>
          <a:ln/>
        </p:spPr>
        <p:txBody>
          <a:bodyPr wrap="square" lIns="0" tIns="0" rIns="0" bIns="0" rtlCol="0" anchor="t">
            <a:normAutofit/>
          </a:bodyPr>
          <a:lstStyle/>
          <a:p>
            <a:pPr algn="ctr" indent="0" marL="0">
              <a:lnSpc>
                <a:spcPts val="2400"/>
              </a:lnSpc>
              <a:buNone/>
            </a:pPr>
            <a:r>
              <a:rPr lang="en-US" sz="1200" dirty="0">
                <a:solidFill>
                  <a:srgbClr val="FFFFFF"/>
                </a:solidFill>
                <a:latin typeface="IBM Plex Mono" pitchFamily="49" charset="0"/>
                <a:ea typeface="IBM Plex Mono" pitchFamily="49" charset="-122"/>
                <a:cs typeface="IBM Plex Mono" pitchFamily="49" charset="-120"/>
              </a:rPr>
              <a:t>1</a:t>
            </a:r>
            <a:endParaRPr lang="en-US" sz="1200" dirty="0"/>
          </a:p>
        </p:txBody>
      </p:sp>
      <p:sp>
        <p:nvSpPr>
          <p:cNvPr id="7" name="Text 5"/>
          <p:cNvSpPr/>
          <p:nvPr/>
        </p:nvSpPr>
        <p:spPr>
          <a:xfrm>
            <a:off x="1376680" y="1907511"/>
            <a:ext cx="3767328"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Create a session</a:t>
            </a:r>
            <a:endParaRPr lang="en-US" sz="1500" dirty="0"/>
          </a:p>
        </p:txBody>
      </p:sp>
      <p:sp>
        <p:nvSpPr>
          <p:cNvPr id="8" name="Text 6"/>
          <p:cNvSpPr/>
          <p:nvPr/>
        </p:nvSpPr>
        <p:spPr>
          <a:xfrm>
            <a:off x="1376680" y="2143094"/>
            <a:ext cx="3767328"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A BSA or engineer opens one feature</a:t>
            </a:r>
            <a:endParaRPr lang="en-US" sz="1200" dirty="0"/>
          </a:p>
        </p:txBody>
      </p:sp>
      <p:sp>
        <p:nvSpPr>
          <p:cNvPr id="9" name="Text 7"/>
          <p:cNvSpPr/>
          <p:nvPr/>
        </p:nvSpPr>
        <p:spPr>
          <a:xfrm>
            <a:off x="5161280" y="1999903"/>
            <a:ext cx="701040" cy="242808"/>
          </a:xfrm>
          <a:custGeom>
            <a:avLst/>
            <a:gdLst/>
            <a:ahLst/>
            <a:cxnLst/>
            <a:rect l="l" t="t" r="r" b="b"/>
            <a:pathLst>
              <a:path w="701040" h="242808">
                <a:moveTo>
                  <a:pt x="121404" y="0"/>
                </a:moveTo>
                <a:lnTo>
                  <a:pt x="579636" y="0"/>
                </a:lnTo>
                <a:arcTo hR="121404" wR="121404" stAng="16200000" swAng="5400000"/>
                <a:lnTo>
                  <a:pt x="701040" y="121404"/>
                </a:lnTo>
                <a:arcTo hR="121404" wR="121404" stAng="0" swAng="5400000"/>
                <a:lnTo>
                  <a:pt x="121404" y="242808"/>
                </a:lnTo>
                <a:arcTo hR="121404" wR="121404" stAng="5400000" swAng="5400000"/>
                <a:lnTo>
                  <a:pt x="0" y="121404"/>
                </a:lnTo>
                <a:arcTo hR="121404" wR="121404" stAng="10800000" swAng="5400000"/>
                <a:close/>
              </a:path>
            </a:pathLst>
          </a:custGeom>
          <a:solidFill>
            <a:srgbClr val="EB0A1E"/>
          </a:solidFill>
          <a:ln/>
        </p:spPr>
        <p:txBody>
          <a:bodyPr wrap="none" lIns="0" tIns="25400" rIns="0" bIns="0" rtlCol="0" anchor="t">
            <a:normAutofit/>
          </a:bodyPr>
          <a:lstStyle/>
          <a:p>
            <a:pPr algn="ctr" indent="0" marL="0">
              <a:lnSpc>
                <a:spcPts val="1680"/>
              </a:lnSpc>
              <a:buNone/>
            </a:pPr>
            <a:r>
              <a:rPr lang="en-US" sz="1200" b="1" dirty="0">
                <a:solidFill>
                  <a:srgbClr val="FFFFFF"/>
                </a:solidFill>
                <a:latin typeface="Inter" pitchFamily="34" charset="0"/>
                <a:ea typeface="Inter" pitchFamily="34" charset="-122"/>
                <a:cs typeface="Inter" pitchFamily="34" charset="-120"/>
              </a:rPr>
              <a:t>Human</a:t>
            </a:r>
            <a:endParaRPr lang="en-US" sz="1200" dirty="0"/>
          </a:p>
        </p:txBody>
      </p:sp>
      <p:sp>
        <p:nvSpPr>
          <p:cNvPr id="10" name="Shape 8"/>
          <p:cNvSpPr/>
          <p:nvPr/>
        </p:nvSpPr>
        <p:spPr>
          <a:xfrm>
            <a:off x="815975" y="2521161"/>
            <a:ext cx="5175250" cy="609203"/>
          </a:xfrm>
          <a:prstGeom prst="roundRect">
            <a:avLst>
              <a:gd name="adj" fmla="val 7818"/>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11" name="Text 9"/>
          <p:cNvSpPr/>
          <p:nvPr/>
        </p:nvSpPr>
        <p:spPr>
          <a:xfrm>
            <a:off x="944880" y="2673350"/>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1A1A1A"/>
          </a:solidFill>
          <a:ln/>
        </p:spPr>
        <p:txBody>
          <a:bodyPr wrap="square" lIns="0" tIns="0" rIns="0" bIns="0" rtlCol="0" anchor="t">
            <a:normAutofit/>
          </a:bodyPr>
          <a:lstStyle/>
          <a:p>
            <a:pPr algn="ctr" indent="0" marL="0">
              <a:lnSpc>
                <a:spcPts val="2400"/>
              </a:lnSpc>
              <a:buNone/>
            </a:pPr>
            <a:r>
              <a:rPr lang="en-US" sz="1200" dirty="0">
                <a:solidFill>
                  <a:srgbClr val="FFFFFF"/>
                </a:solidFill>
                <a:latin typeface="IBM Plex Mono" pitchFamily="49" charset="0"/>
                <a:ea typeface="IBM Plex Mono" pitchFamily="49" charset="-122"/>
                <a:cs typeface="IBM Plex Mono" pitchFamily="49" charset="-120"/>
              </a:rPr>
              <a:t>2</a:t>
            </a:r>
            <a:endParaRPr lang="en-US" sz="1200" dirty="0"/>
          </a:p>
        </p:txBody>
      </p:sp>
      <p:sp>
        <p:nvSpPr>
          <p:cNvPr id="12" name="Text 10"/>
          <p:cNvSpPr/>
          <p:nvPr/>
        </p:nvSpPr>
        <p:spPr>
          <a:xfrm>
            <a:off x="1376680" y="2611965"/>
            <a:ext cx="4112040"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Interrogate</a:t>
            </a:r>
            <a:endParaRPr lang="en-US" sz="1500" dirty="0"/>
          </a:p>
        </p:txBody>
      </p:sp>
      <p:sp>
        <p:nvSpPr>
          <p:cNvPr id="13" name="Text 11"/>
          <p:cNvSpPr/>
          <p:nvPr/>
        </p:nvSpPr>
        <p:spPr>
          <a:xfrm>
            <a:off x="1376680" y="2847547"/>
            <a:ext cx="4112040"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One closed question at a time, 12 rungs</a:t>
            </a:r>
            <a:endParaRPr lang="en-US" sz="1200" dirty="0"/>
          </a:p>
        </p:txBody>
      </p:sp>
      <p:sp>
        <p:nvSpPr>
          <p:cNvPr id="14" name="Text 12"/>
          <p:cNvSpPr/>
          <p:nvPr/>
        </p:nvSpPr>
        <p:spPr>
          <a:xfrm>
            <a:off x="5495952" y="2704356"/>
            <a:ext cx="366369" cy="242808"/>
          </a:xfrm>
          <a:custGeom>
            <a:avLst/>
            <a:gdLst/>
            <a:ahLst/>
            <a:cxnLst/>
            <a:rect l="l" t="t" r="r" b="b"/>
            <a:pathLst>
              <a:path w="366369" h="242808">
                <a:moveTo>
                  <a:pt x="121404" y="0"/>
                </a:moveTo>
                <a:lnTo>
                  <a:pt x="244964" y="0"/>
                </a:lnTo>
                <a:arcTo hR="121404" wR="121404" stAng="16200000" swAng="5400000"/>
                <a:lnTo>
                  <a:pt x="366369" y="121404"/>
                </a:lnTo>
                <a:arcTo hR="121404" wR="121404" stAng="0" swAng="5400000"/>
                <a:lnTo>
                  <a:pt x="121404" y="242808"/>
                </a:lnTo>
                <a:arcTo hR="121404" wR="121404" stAng="5400000" swAng="5400000"/>
                <a:lnTo>
                  <a:pt x="0" y="121404"/>
                </a:lnTo>
                <a:arcTo hR="121404" wR="121404" stAng="10800000" swAng="5400000"/>
                <a:close/>
              </a:path>
            </a:pathLst>
          </a:custGeom>
          <a:solidFill>
            <a:srgbClr val="58595B"/>
          </a:solidFill>
          <a:ln/>
        </p:spPr>
        <p:txBody>
          <a:bodyPr wrap="none" lIns="0" tIns="25400" rIns="0" bIns="0" rtlCol="0" anchor="t">
            <a:normAutofit/>
          </a:bodyPr>
          <a:lstStyle/>
          <a:p>
            <a:pPr algn="ctr" indent="0" marL="0">
              <a:lnSpc>
                <a:spcPts val="1680"/>
              </a:lnSpc>
              <a:buNone/>
            </a:pPr>
            <a:r>
              <a:rPr lang="en-US" sz="1200" b="1" dirty="0">
                <a:solidFill>
                  <a:srgbClr val="FFFFFF"/>
                </a:solidFill>
                <a:latin typeface="Inter" pitchFamily="34" charset="0"/>
                <a:ea typeface="Inter" pitchFamily="34" charset="-122"/>
                <a:cs typeface="Inter" pitchFamily="34" charset="-120"/>
              </a:rPr>
              <a:t>AI</a:t>
            </a:r>
            <a:endParaRPr lang="en-US" sz="1200" dirty="0"/>
          </a:p>
        </p:txBody>
      </p:sp>
      <p:sp>
        <p:nvSpPr>
          <p:cNvPr id="15" name="Shape 13"/>
          <p:cNvSpPr/>
          <p:nvPr/>
        </p:nvSpPr>
        <p:spPr>
          <a:xfrm>
            <a:off x="815975" y="3225614"/>
            <a:ext cx="5175250" cy="609203"/>
          </a:xfrm>
          <a:prstGeom prst="roundRect">
            <a:avLst>
              <a:gd name="adj" fmla="val 7818"/>
            </a:avLst>
          </a:prstGeom>
          <a:solidFill>
            <a:srgbClr val="FDECEE"/>
          </a:solidFill>
          <a:ln w="6350">
            <a:solidFill>
              <a:srgbClr val="F5B5BC"/>
            </a:solidFill>
            <a:prstDash val="solid"/>
          </a:ln>
        </p:spPr>
      </p:sp>
      <p:sp>
        <p:nvSpPr>
          <p:cNvPr id="16" name="Text 14"/>
          <p:cNvSpPr/>
          <p:nvPr/>
        </p:nvSpPr>
        <p:spPr>
          <a:xfrm>
            <a:off x="944880" y="3377803"/>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1A1A1A"/>
          </a:solidFill>
          <a:ln/>
        </p:spPr>
        <p:txBody>
          <a:bodyPr wrap="square" lIns="0" tIns="0" rIns="0" bIns="0" rtlCol="0" anchor="t">
            <a:normAutofit/>
          </a:bodyPr>
          <a:lstStyle/>
          <a:p>
            <a:pPr algn="ctr" indent="0" marL="0">
              <a:lnSpc>
                <a:spcPts val="2400"/>
              </a:lnSpc>
              <a:buNone/>
            </a:pPr>
            <a:r>
              <a:rPr lang="en-US" sz="1200" dirty="0">
                <a:solidFill>
                  <a:srgbClr val="FFFFFF"/>
                </a:solidFill>
                <a:latin typeface="IBM Plex Mono" pitchFamily="49" charset="0"/>
                <a:ea typeface="IBM Plex Mono" pitchFamily="49" charset="-122"/>
                <a:cs typeface="IBM Plex Mono" pitchFamily="49" charset="-120"/>
              </a:rPr>
              <a:t>3</a:t>
            </a:r>
            <a:endParaRPr lang="en-US" sz="1200" dirty="0"/>
          </a:p>
        </p:txBody>
      </p:sp>
      <p:sp>
        <p:nvSpPr>
          <p:cNvPr id="17" name="Text 15"/>
          <p:cNvSpPr/>
          <p:nvPr/>
        </p:nvSpPr>
        <p:spPr>
          <a:xfrm>
            <a:off x="1376680" y="3316418"/>
            <a:ext cx="3767328"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Respond</a:t>
            </a:r>
            <a:endParaRPr lang="en-US" sz="1500" dirty="0"/>
          </a:p>
        </p:txBody>
      </p:sp>
      <p:sp>
        <p:nvSpPr>
          <p:cNvPr id="18" name="Text 16"/>
          <p:cNvSpPr/>
          <p:nvPr/>
        </p:nvSpPr>
        <p:spPr>
          <a:xfrm>
            <a:off x="1376680" y="3552000"/>
            <a:ext cx="3767328"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Answer, defer, contest or flag</a:t>
            </a:r>
            <a:endParaRPr lang="en-US" sz="1200" dirty="0"/>
          </a:p>
        </p:txBody>
      </p:sp>
      <p:sp>
        <p:nvSpPr>
          <p:cNvPr id="19" name="Text 17"/>
          <p:cNvSpPr/>
          <p:nvPr/>
        </p:nvSpPr>
        <p:spPr>
          <a:xfrm>
            <a:off x="5161280" y="3408809"/>
            <a:ext cx="701040" cy="242808"/>
          </a:xfrm>
          <a:custGeom>
            <a:avLst/>
            <a:gdLst/>
            <a:ahLst/>
            <a:cxnLst/>
            <a:rect l="l" t="t" r="r" b="b"/>
            <a:pathLst>
              <a:path w="701040" h="242808">
                <a:moveTo>
                  <a:pt x="121404" y="0"/>
                </a:moveTo>
                <a:lnTo>
                  <a:pt x="579636" y="0"/>
                </a:lnTo>
                <a:arcTo hR="121404" wR="121404" stAng="16200000" swAng="5400000"/>
                <a:lnTo>
                  <a:pt x="701040" y="121404"/>
                </a:lnTo>
                <a:arcTo hR="121404" wR="121404" stAng="0" swAng="5400000"/>
                <a:lnTo>
                  <a:pt x="121404" y="242808"/>
                </a:lnTo>
                <a:arcTo hR="121404" wR="121404" stAng="5400000" swAng="5400000"/>
                <a:lnTo>
                  <a:pt x="0" y="121404"/>
                </a:lnTo>
                <a:arcTo hR="121404" wR="121404" stAng="10800000" swAng="5400000"/>
                <a:close/>
              </a:path>
            </a:pathLst>
          </a:custGeom>
          <a:solidFill>
            <a:srgbClr val="EB0A1E"/>
          </a:solidFill>
          <a:ln/>
        </p:spPr>
        <p:txBody>
          <a:bodyPr wrap="none" lIns="0" tIns="25400" rIns="0" bIns="0" rtlCol="0" anchor="t">
            <a:normAutofit/>
          </a:bodyPr>
          <a:lstStyle/>
          <a:p>
            <a:pPr algn="ctr" indent="0" marL="0">
              <a:lnSpc>
                <a:spcPts val="1680"/>
              </a:lnSpc>
              <a:buNone/>
            </a:pPr>
            <a:r>
              <a:rPr lang="en-US" sz="1200" b="1" dirty="0">
                <a:solidFill>
                  <a:srgbClr val="FFFFFF"/>
                </a:solidFill>
                <a:latin typeface="Inter" pitchFamily="34" charset="0"/>
                <a:ea typeface="Inter" pitchFamily="34" charset="-122"/>
                <a:cs typeface="Inter" pitchFamily="34" charset="-120"/>
              </a:rPr>
              <a:t>Human</a:t>
            </a:r>
            <a:endParaRPr lang="en-US" sz="1200" dirty="0"/>
          </a:p>
        </p:txBody>
      </p:sp>
      <p:sp>
        <p:nvSpPr>
          <p:cNvPr id="20" name="Shape 18"/>
          <p:cNvSpPr/>
          <p:nvPr/>
        </p:nvSpPr>
        <p:spPr>
          <a:xfrm>
            <a:off x="815975" y="3930067"/>
            <a:ext cx="5175250" cy="609203"/>
          </a:xfrm>
          <a:prstGeom prst="roundRect">
            <a:avLst>
              <a:gd name="adj" fmla="val 7818"/>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21" name="Text 19"/>
          <p:cNvSpPr/>
          <p:nvPr/>
        </p:nvSpPr>
        <p:spPr>
          <a:xfrm>
            <a:off x="944880" y="4082256"/>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1A1A1A"/>
          </a:solidFill>
          <a:ln/>
        </p:spPr>
        <p:txBody>
          <a:bodyPr wrap="square" lIns="0" tIns="0" rIns="0" bIns="0" rtlCol="0" anchor="t">
            <a:normAutofit/>
          </a:bodyPr>
          <a:lstStyle/>
          <a:p>
            <a:pPr algn="ctr" indent="0" marL="0">
              <a:lnSpc>
                <a:spcPts val="2400"/>
              </a:lnSpc>
              <a:buNone/>
            </a:pPr>
            <a:r>
              <a:rPr lang="en-US" sz="1200" dirty="0">
                <a:solidFill>
                  <a:srgbClr val="FFFFFF"/>
                </a:solidFill>
                <a:latin typeface="IBM Plex Mono" pitchFamily="49" charset="0"/>
                <a:ea typeface="IBM Plex Mono" pitchFamily="49" charset="-122"/>
                <a:cs typeface="IBM Plex Mono" pitchFamily="49" charset="-120"/>
              </a:rPr>
              <a:t>4</a:t>
            </a:r>
            <a:endParaRPr lang="en-US" sz="1200" dirty="0"/>
          </a:p>
        </p:txBody>
      </p:sp>
      <p:sp>
        <p:nvSpPr>
          <p:cNvPr id="22" name="Text 20"/>
          <p:cNvSpPr/>
          <p:nvPr/>
        </p:nvSpPr>
        <p:spPr>
          <a:xfrm>
            <a:off x="1376680" y="4020871"/>
            <a:ext cx="4112040"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Auto-draft</a:t>
            </a:r>
            <a:endParaRPr lang="en-US" sz="1500" dirty="0"/>
          </a:p>
        </p:txBody>
      </p:sp>
      <p:sp>
        <p:nvSpPr>
          <p:cNvPr id="23" name="Text 21"/>
          <p:cNvSpPr/>
          <p:nvPr/>
        </p:nvSpPr>
        <p:spPr>
          <a:xfrm>
            <a:off x="1376680" y="4256453"/>
            <a:ext cx="4112040"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Spec sections draft as answers land</a:t>
            </a:r>
            <a:endParaRPr lang="en-US" sz="1200" dirty="0"/>
          </a:p>
        </p:txBody>
      </p:sp>
      <p:sp>
        <p:nvSpPr>
          <p:cNvPr id="24" name="Text 22"/>
          <p:cNvSpPr/>
          <p:nvPr/>
        </p:nvSpPr>
        <p:spPr>
          <a:xfrm>
            <a:off x="5495952" y="4113262"/>
            <a:ext cx="366369" cy="242808"/>
          </a:xfrm>
          <a:custGeom>
            <a:avLst/>
            <a:gdLst/>
            <a:ahLst/>
            <a:cxnLst/>
            <a:rect l="l" t="t" r="r" b="b"/>
            <a:pathLst>
              <a:path w="366369" h="242808">
                <a:moveTo>
                  <a:pt x="121404" y="0"/>
                </a:moveTo>
                <a:lnTo>
                  <a:pt x="244964" y="0"/>
                </a:lnTo>
                <a:arcTo hR="121404" wR="121404" stAng="16200000" swAng="5400000"/>
                <a:lnTo>
                  <a:pt x="366369" y="121404"/>
                </a:lnTo>
                <a:arcTo hR="121404" wR="121404" stAng="0" swAng="5400000"/>
                <a:lnTo>
                  <a:pt x="121404" y="242808"/>
                </a:lnTo>
                <a:arcTo hR="121404" wR="121404" stAng="5400000" swAng="5400000"/>
                <a:lnTo>
                  <a:pt x="0" y="121404"/>
                </a:lnTo>
                <a:arcTo hR="121404" wR="121404" stAng="10800000" swAng="5400000"/>
                <a:close/>
              </a:path>
            </a:pathLst>
          </a:custGeom>
          <a:solidFill>
            <a:srgbClr val="58595B"/>
          </a:solidFill>
          <a:ln/>
        </p:spPr>
        <p:txBody>
          <a:bodyPr wrap="none" lIns="0" tIns="25400" rIns="0" bIns="0" rtlCol="0" anchor="t">
            <a:normAutofit/>
          </a:bodyPr>
          <a:lstStyle/>
          <a:p>
            <a:pPr algn="ctr" indent="0" marL="0">
              <a:lnSpc>
                <a:spcPts val="1680"/>
              </a:lnSpc>
              <a:buNone/>
            </a:pPr>
            <a:r>
              <a:rPr lang="en-US" sz="1200" b="1" dirty="0">
                <a:solidFill>
                  <a:srgbClr val="FFFFFF"/>
                </a:solidFill>
                <a:latin typeface="Inter" pitchFamily="34" charset="0"/>
                <a:ea typeface="Inter" pitchFamily="34" charset="-122"/>
                <a:cs typeface="Inter" pitchFamily="34" charset="-120"/>
              </a:rPr>
              <a:t>AI</a:t>
            </a:r>
            <a:endParaRPr lang="en-US" sz="1200" dirty="0"/>
          </a:p>
        </p:txBody>
      </p:sp>
      <p:sp>
        <p:nvSpPr>
          <p:cNvPr id="25" name="Shape 23"/>
          <p:cNvSpPr/>
          <p:nvPr/>
        </p:nvSpPr>
        <p:spPr>
          <a:xfrm>
            <a:off x="815975" y="4634520"/>
            <a:ext cx="5175250" cy="609203"/>
          </a:xfrm>
          <a:prstGeom prst="roundRect">
            <a:avLst>
              <a:gd name="adj" fmla="val 7818"/>
            </a:avLst>
          </a:prstGeom>
          <a:solidFill>
            <a:srgbClr val="FDECEE"/>
          </a:solidFill>
          <a:ln w="6350">
            <a:solidFill>
              <a:srgbClr val="F5B5BC"/>
            </a:solidFill>
            <a:prstDash val="solid"/>
          </a:ln>
        </p:spPr>
      </p:sp>
      <p:sp>
        <p:nvSpPr>
          <p:cNvPr id="26" name="Text 24"/>
          <p:cNvSpPr/>
          <p:nvPr/>
        </p:nvSpPr>
        <p:spPr>
          <a:xfrm>
            <a:off x="944880" y="4786709"/>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1A1A1A"/>
          </a:solidFill>
          <a:ln/>
        </p:spPr>
        <p:txBody>
          <a:bodyPr wrap="square" lIns="0" tIns="0" rIns="0" bIns="0" rtlCol="0" anchor="t">
            <a:normAutofit/>
          </a:bodyPr>
          <a:lstStyle/>
          <a:p>
            <a:pPr algn="ctr" indent="0" marL="0">
              <a:lnSpc>
                <a:spcPts val="2400"/>
              </a:lnSpc>
              <a:buNone/>
            </a:pPr>
            <a:r>
              <a:rPr lang="en-US" sz="1200" dirty="0">
                <a:solidFill>
                  <a:srgbClr val="FFFFFF"/>
                </a:solidFill>
                <a:latin typeface="IBM Plex Mono" pitchFamily="49" charset="0"/>
                <a:ea typeface="IBM Plex Mono" pitchFamily="49" charset="-122"/>
                <a:cs typeface="IBM Plex Mono" pitchFamily="49" charset="-120"/>
              </a:rPr>
              <a:t>5</a:t>
            </a:r>
            <a:endParaRPr lang="en-US" sz="1200" dirty="0"/>
          </a:p>
        </p:txBody>
      </p:sp>
      <p:sp>
        <p:nvSpPr>
          <p:cNvPr id="27" name="Text 25"/>
          <p:cNvSpPr/>
          <p:nvPr/>
        </p:nvSpPr>
        <p:spPr>
          <a:xfrm>
            <a:off x="1376680" y="4725324"/>
            <a:ext cx="3767328"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Confirm the draft</a:t>
            </a:r>
            <a:endParaRPr lang="en-US" sz="1500" dirty="0"/>
          </a:p>
        </p:txBody>
      </p:sp>
      <p:sp>
        <p:nvSpPr>
          <p:cNvPr id="28" name="Text 26"/>
          <p:cNvSpPr/>
          <p:nvPr/>
        </p:nvSpPr>
        <p:spPr>
          <a:xfrm>
            <a:off x="1376680" y="4960906"/>
            <a:ext cx="3767328"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Human review before modeling begins</a:t>
            </a:r>
            <a:endParaRPr lang="en-US" sz="1200" dirty="0"/>
          </a:p>
        </p:txBody>
      </p:sp>
      <p:sp>
        <p:nvSpPr>
          <p:cNvPr id="29" name="Text 27"/>
          <p:cNvSpPr/>
          <p:nvPr/>
        </p:nvSpPr>
        <p:spPr>
          <a:xfrm>
            <a:off x="5161280" y="4817715"/>
            <a:ext cx="701040" cy="242808"/>
          </a:xfrm>
          <a:custGeom>
            <a:avLst/>
            <a:gdLst/>
            <a:ahLst/>
            <a:cxnLst/>
            <a:rect l="l" t="t" r="r" b="b"/>
            <a:pathLst>
              <a:path w="701040" h="242808">
                <a:moveTo>
                  <a:pt x="121404" y="0"/>
                </a:moveTo>
                <a:lnTo>
                  <a:pt x="579636" y="0"/>
                </a:lnTo>
                <a:arcTo hR="121404" wR="121404" stAng="16200000" swAng="5400000"/>
                <a:lnTo>
                  <a:pt x="701040" y="121404"/>
                </a:lnTo>
                <a:arcTo hR="121404" wR="121404" stAng="0" swAng="5400000"/>
                <a:lnTo>
                  <a:pt x="121404" y="242808"/>
                </a:lnTo>
                <a:arcTo hR="121404" wR="121404" stAng="5400000" swAng="5400000"/>
                <a:lnTo>
                  <a:pt x="0" y="121404"/>
                </a:lnTo>
                <a:arcTo hR="121404" wR="121404" stAng="10800000" swAng="5400000"/>
                <a:close/>
              </a:path>
            </a:pathLst>
          </a:custGeom>
          <a:solidFill>
            <a:srgbClr val="EB0A1E"/>
          </a:solidFill>
          <a:ln/>
        </p:spPr>
        <p:txBody>
          <a:bodyPr wrap="none" lIns="0" tIns="25400" rIns="0" bIns="0" rtlCol="0" anchor="t">
            <a:normAutofit/>
          </a:bodyPr>
          <a:lstStyle/>
          <a:p>
            <a:pPr algn="ctr" indent="0" marL="0">
              <a:lnSpc>
                <a:spcPts val="1680"/>
              </a:lnSpc>
              <a:buNone/>
            </a:pPr>
            <a:r>
              <a:rPr lang="en-US" sz="1200" b="1" dirty="0">
                <a:solidFill>
                  <a:srgbClr val="FFFFFF"/>
                </a:solidFill>
                <a:latin typeface="Inter" pitchFamily="34" charset="0"/>
                <a:ea typeface="Inter" pitchFamily="34" charset="-122"/>
                <a:cs typeface="Inter" pitchFamily="34" charset="-120"/>
              </a:rPr>
              <a:t>Human</a:t>
            </a:r>
            <a:endParaRPr lang="en-US" sz="1200" dirty="0"/>
          </a:p>
        </p:txBody>
      </p:sp>
      <p:sp>
        <p:nvSpPr>
          <p:cNvPr id="30" name="Shape 28"/>
          <p:cNvSpPr/>
          <p:nvPr/>
        </p:nvSpPr>
        <p:spPr>
          <a:xfrm>
            <a:off x="6200775" y="1816708"/>
            <a:ext cx="5175250" cy="609203"/>
          </a:xfrm>
          <a:prstGeom prst="roundRect">
            <a:avLst>
              <a:gd name="adj" fmla="val 7818"/>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31" name="Text 29"/>
          <p:cNvSpPr/>
          <p:nvPr/>
        </p:nvSpPr>
        <p:spPr>
          <a:xfrm>
            <a:off x="6329680" y="1968897"/>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1A1A1A"/>
          </a:solidFill>
          <a:ln/>
        </p:spPr>
        <p:txBody>
          <a:bodyPr wrap="square" lIns="0" tIns="0" rIns="0" bIns="0" rtlCol="0" anchor="t">
            <a:normAutofit/>
          </a:bodyPr>
          <a:lstStyle/>
          <a:p>
            <a:pPr algn="ctr" indent="0" marL="0">
              <a:lnSpc>
                <a:spcPts val="2400"/>
              </a:lnSpc>
              <a:buNone/>
            </a:pPr>
            <a:r>
              <a:rPr lang="en-US" sz="1200" dirty="0">
                <a:solidFill>
                  <a:srgbClr val="FFFFFF"/>
                </a:solidFill>
                <a:latin typeface="IBM Plex Mono" pitchFamily="49" charset="0"/>
                <a:ea typeface="IBM Plex Mono" pitchFamily="49" charset="-122"/>
                <a:cs typeface="IBM Plex Mono" pitchFamily="49" charset="-120"/>
              </a:rPr>
              <a:t>6</a:t>
            </a:r>
            <a:endParaRPr lang="en-US" sz="1200" dirty="0"/>
          </a:p>
        </p:txBody>
      </p:sp>
      <p:sp>
        <p:nvSpPr>
          <p:cNvPr id="32" name="Text 30"/>
          <p:cNvSpPr/>
          <p:nvPr/>
        </p:nvSpPr>
        <p:spPr>
          <a:xfrm>
            <a:off x="6761480" y="1907511"/>
            <a:ext cx="3605778"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Model and validate</a:t>
            </a:r>
            <a:endParaRPr lang="en-US" sz="1500" dirty="0"/>
          </a:p>
        </p:txBody>
      </p:sp>
      <p:sp>
        <p:nvSpPr>
          <p:cNvPr id="33" name="Text 31"/>
          <p:cNvSpPr/>
          <p:nvPr/>
        </p:nvSpPr>
        <p:spPr>
          <a:xfrm>
            <a:off x="6761480" y="2143094"/>
            <a:ext cx="3605778"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ESML → DMML → Intent Registry, gated</a:t>
            </a:r>
            <a:endParaRPr lang="en-US" sz="1200" dirty="0"/>
          </a:p>
        </p:txBody>
      </p:sp>
      <p:sp>
        <p:nvSpPr>
          <p:cNvPr id="34" name="Text 32"/>
          <p:cNvSpPr/>
          <p:nvPr/>
        </p:nvSpPr>
        <p:spPr>
          <a:xfrm>
            <a:off x="10389236" y="1999903"/>
            <a:ext cx="857885" cy="242808"/>
          </a:xfrm>
          <a:custGeom>
            <a:avLst/>
            <a:gdLst/>
            <a:ahLst/>
            <a:cxnLst/>
            <a:rect l="l" t="t" r="r" b="b"/>
            <a:pathLst>
              <a:path w="857885" h="242808">
                <a:moveTo>
                  <a:pt x="121404" y="0"/>
                </a:moveTo>
                <a:lnTo>
                  <a:pt x="736481" y="0"/>
                </a:lnTo>
                <a:arcTo hR="121404" wR="121404" stAng="16200000" swAng="5400000"/>
                <a:lnTo>
                  <a:pt x="857885" y="121404"/>
                </a:lnTo>
                <a:arcTo hR="121404" wR="121404" stAng="0" swAng="5400000"/>
                <a:lnTo>
                  <a:pt x="121404" y="242808"/>
                </a:lnTo>
                <a:arcTo hR="121404" wR="121404" stAng="5400000" swAng="5400000"/>
                <a:lnTo>
                  <a:pt x="0" y="121404"/>
                </a:lnTo>
                <a:arcTo hR="121404" wR="121404" stAng="10800000" swAng="5400000"/>
                <a:close/>
              </a:path>
            </a:pathLst>
          </a:custGeom>
          <a:solidFill>
            <a:srgbClr val="58595B"/>
          </a:solidFill>
          <a:ln/>
        </p:spPr>
        <p:txBody>
          <a:bodyPr wrap="none" lIns="0" tIns="25400" rIns="0" bIns="0" rtlCol="0" anchor="t">
            <a:normAutofit/>
          </a:bodyPr>
          <a:lstStyle/>
          <a:p>
            <a:pPr algn="ctr" indent="0" marL="0">
              <a:lnSpc>
                <a:spcPts val="1680"/>
              </a:lnSpc>
              <a:buNone/>
            </a:pPr>
            <a:r>
              <a:rPr lang="en-US" sz="1200" b="1" dirty="0">
                <a:solidFill>
                  <a:srgbClr val="FFFFFF"/>
                </a:solidFill>
                <a:latin typeface="Inter" pitchFamily="34" charset="0"/>
                <a:ea typeface="Inter" pitchFamily="34" charset="-122"/>
                <a:cs typeface="Inter" pitchFamily="34" charset="-120"/>
              </a:rPr>
              <a:t>AI + code</a:t>
            </a:r>
            <a:endParaRPr lang="en-US" sz="1200" dirty="0"/>
          </a:p>
        </p:txBody>
      </p:sp>
      <p:sp>
        <p:nvSpPr>
          <p:cNvPr id="35" name="Shape 33"/>
          <p:cNvSpPr/>
          <p:nvPr/>
        </p:nvSpPr>
        <p:spPr>
          <a:xfrm>
            <a:off x="6200775" y="2521161"/>
            <a:ext cx="5175250" cy="609203"/>
          </a:xfrm>
          <a:prstGeom prst="roundRect">
            <a:avLst>
              <a:gd name="adj" fmla="val 7818"/>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36" name="Text 34"/>
          <p:cNvSpPr/>
          <p:nvPr/>
        </p:nvSpPr>
        <p:spPr>
          <a:xfrm>
            <a:off x="6329680" y="2673350"/>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1A1A1A"/>
          </a:solidFill>
          <a:ln/>
        </p:spPr>
        <p:txBody>
          <a:bodyPr wrap="square" lIns="0" tIns="0" rIns="0" bIns="0" rtlCol="0" anchor="t">
            <a:normAutofit/>
          </a:bodyPr>
          <a:lstStyle/>
          <a:p>
            <a:pPr algn="ctr" indent="0" marL="0">
              <a:lnSpc>
                <a:spcPts val="2400"/>
              </a:lnSpc>
              <a:buNone/>
            </a:pPr>
            <a:r>
              <a:rPr lang="en-US" sz="1200" dirty="0">
                <a:solidFill>
                  <a:srgbClr val="FFFFFF"/>
                </a:solidFill>
                <a:latin typeface="IBM Plex Mono" pitchFamily="49" charset="0"/>
                <a:ea typeface="IBM Plex Mono" pitchFamily="49" charset="-122"/>
                <a:cs typeface="IBM Plex Mono" pitchFamily="49" charset="-120"/>
              </a:rPr>
              <a:t>7</a:t>
            </a:r>
            <a:endParaRPr lang="en-US" sz="1200" dirty="0"/>
          </a:p>
        </p:txBody>
      </p:sp>
      <p:sp>
        <p:nvSpPr>
          <p:cNvPr id="37" name="Text 35"/>
          <p:cNvSpPr/>
          <p:nvPr/>
        </p:nvSpPr>
        <p:spPr>
          <a:xfrm>
            <a:off x="6761480" y="2611965"/>
            <a:ext cx="4112040"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Red Team challenge</a:t>
            </a:r>
            <a:endParaRPr lang="en-US" sz="1500" dirty="0"/>
          </a:p>
        </p:txBody>
      </p:sp>
      <p:sp>
        <p:nvSpPr>
          <p:cNvPr id="38" name="Text 36"/>
          <p:cNvSpPr/>
          <p:nvPr/>
        </p:nvSpPr>
        <p:spPr>
          <a:xfrm>
            <a:off x="6761480" y="2847547"/>
            <a:ext cx="4112040"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Adversarial LLM review of the model</a:t>
            </a:r>
            <a:endParaRPr lang="en-US" sz="1200" dirty="0"/>
          </a:p>
        </p:txBody>
      </p:sp>
      <p:sp>
        <p:nvSpPr>
          <p:cNvPr id="39" name="Text 37"/>
          <p:cNvSpPr/>
          <p:nvPr/>
        </p:nvSpPr>
        <p:spPr>
          <a:xfrm>
            <a:off x="10880752" y="2704356"/>
            <a:ext cx="366369" cy="242808"/>
          </a:xfrm>
          <a:custGeom>
            <a:avLst/>
            <a:gdLst/>
            <a:ahLst/>
            <a:cxnLst/>
            <a:rect l="l" t="t" r="r" b="b"/>
            <a:pathLst>
              <a:path w="366369" h="242808">
                <a:moveTo>
                  <a:pt x="121404" y="0"/>
                </a:moveTo>
                <a:lnTo>
                  <a:pt x="244964" y="0"/>
                </a:lnTo>
                <a:arcTo hR="121404" wR="121404" stAng="16200000" swAng="5400000"/>
                <a:lnTo>
                  <a:pt x="366369" y="121404"/>
                </a:lnTo>
                <a:arcTo hR="121404" wR="121404" stAng="0" swAng="5400000"/>
                <a:lnTo>
                  <a:pt x="121404" y="242808"/>
                </a:lnTo>
                <a:arcTo hR="121404" wR="121404" stAng="5400000" swAng="5400000"/>
                <a:lnTo>
                  <a:pt x="0" y="121404"/>
                </a:lnTo>
                <a:arcTo hR="121404" wR="121404" stAng="10800000" swAng="5400000"/>
                <a:close/>
              </a:path>
            </a:pathLst>
          </a:custGeom>
          <a:solidFill>
            <a:srgbClr val="58595B"/>
          </a:solidFill>
          <a:ln/>
        </p:spPr>
        <p:txBody>
          <a:bodyPr wrap="none" lIns="0" tIns="25400" rIns="0" bIns="0" rtlCol="0" anchor="t">
            <a:normAutofit/>
          </a:bodyPr>
          <a:lstStyle/>
          <a:p>
            <a:pPr algn="ctr" indent="0" marL="0">
              <a:lnSpc>
                <a:spcPts val="1680"/>
              </a:lnSpc>
              <a:buNone/>
            </a:pPr>
            <a:r>
              <a:rPr lang="en-US" sz="1200" b="1" dirty="0">
                <a:solidFill>
                  <a:srgbClr val="FFFFFF"/>
                </a:solidFill>
                <a:latin typeface="Inter" pitchFamily="34" charset="0"/>
                <a:ea typeface="Inter" pitchFamily="34" charset="-122"/>
                <a:cs typeface="Inter" pitchFamily="34" charset="-120"/>
              </a:rPr>
              <a:t>AI</a:t>
            </a:r>
            <a:endParaRPr lang="en-US" sz="1200" dirty="0"/>
          </a:p>
        </p:txBody>
      </p:sp>
      <p:sp>
        <p:nvSpPr>
          <p:cNvPr id="40" name="Shape 38"/>
          <p:cNvSpPr/>
          <p:nvPr/>
        </p:nvSpPr>
        <p:spPr>
          <a:xfrm>
            <a:off x="6200775" y="3225614"/>
            <a:ext cx="5175250" cy="609203"/>
          </a:xfrm>
          <a:prstGeom prst="roundRect">
            <a:avLst>
              <a:gd name="adj" fmla="val 7818"/>
            </a:avLst>
          </a:prstGeom>
          <a:solidFill>
            <a:srgbClr val="FDECEE"/>
          </a:solidFill>
          <a:ln w="6350">
            <a:solidFill>
              <a:srgbClr val="F5B5BC"/>
            </a:solidFill>
            <a:prstDash val="solid"/>
          </a:ln>
        </p:spPr>
      </p:sp>
      <p:sp>
        <p:nvSpPr>
          <p:cNvPr id="41" name="Text 39"/>
          <p:cNvSpPr/>
          <p:nvPr/>
        </p:nvSpPr>
        <p:spPr>
          <a:xfrm>
            <a:off x="6329680" y="3377803"/>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1A1A1A"/>
          </a:solidFill>
          <a:ln/>
        </p:spPr>
        <p:txBody>
          <a:bodyPr wrap="square" lIns="0" tIns="0" rIns="0" bIns="0" rtlCol="0" anchor="t">
            <a:normAutofit/>
          </a:bodyPr>
          <a:lstStyle/>
          <a:p>
            <a:pPr algn="ctr" indent="0" marL="0">
              <a:lnSpc>
                <a:spcPts val="2400"/>
              </a:lnSpc>
              <a:buNone/>
            </a:pPr>
            <a:r>
              <a:rPr lang="en-US" sz="1200" dirty="0">
                <a:solidFill>
                  <a:srgbClr val="FFFFFF"/>
                </a:solidFill>
                <a:latin typeface="IBM Plex Mono" pitchFamily="49" charset="0"/>
                <a:ea typeface="IBM Plex Mono" pitchFamily="49" charset="-122"/>
                <a:cs typeface="IBM Plex Mono" pitchFamily="49" charset="-120"/>
              </a:rPr>
              <a:t>8</a:t>
            </a:r>
            <a:endParaRPr lang="en-US" sz="1200" dirty="0"/>
          </a:p>
        </p:txBody>
      </p:sp>
      <p:sp>
        <p:nvSpPr>
          <p:cNvPr id="42" name="Text 40"/>
          <p:cNvSpPr/>
          <p:nvPr/>
        </p:nvSpPr>
        <p:spPr>
          <a:xfrm>
            <a:off x="6761480" y="3316418"/>
            <a:ext cx="3767328"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Attest</a:t>
            </a:r>
            <a:endParaRPr lang="en-US" sz="1500" dirty="0"/>
          </a:p>
        </p:txBody>
      </p:sp>
      <p:sp>
        <p:nvSpPr>
          <p:cNvPr id="43" name="Text 41"/>
          <p:cNvSpPr/>
          <p:nvPr/>
        </p:nvSpPr>
        <p:spPr>
          <a:xfrm>
            <a:off x="6761480" y="3552000"/>
            <a:ext cx="3767328"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IR Author and domain SME approve</a:t>
            </a:r>
            <a:endParaRPr lang="en-US" sz="1200" dirty="0"/>
          </a:p>
        </p:txBody>
      </p:sp>
      <p:sp>
        <p:nvSpPr>
          <p:cNvPr id="44" name="Text 42"/>
          <p:cNvSpPr/>
          <p:nvPr/>
        </p:nvSpPr>
        <p:spPr>
          <a:xfrm>
            <a:off x="10546080" y="3408809"/>
            <a:ext cx="701040" cy="242808"/>
          </a:xfrm>
          <a:custGeom>
            <a:avLst/>
            <a:gdLst/>
            <a:ahLst/>
            <a:cxnLst/>
            <a:rect l="l" t="t" r="r" b="b"/>
            <a:pathLst>
              <a:path w="701040" h="242808">
                <a:moveTo>
                  <a:pt x="121404" y="0"/>
                </a:moveTo>
                <a:lnTo>
                  <a:pt x="579636" y="0"/>
                </a:lnTo>
                <a:arcTo hR="121404" wR="121404" stAng="16200000" swAng="5400000"/>
                <a:lnTo>
                  <a:pt x="701040" y="121404"/>
                </a:lnTo>
                <a:arcTo hR="121404" wR="121404" stAng="0" swAng="5400000"/>
                <a:lnTo>
                  <a:pt x="121404" y="242808"/>
                </a:lnTo>
                <a:arcTo hR="121404" wR="121404" stAng="5400000" swAng="5400000"/>
                <a:lnTo>
                  <a:pt x="0" y="121404"/>
                </a:lnTo>
                <a:arcTo hR="121404" wR="121404" stAng="10800000" swAng="5400000"/>
                <a:close/>
              </a:path>
            </a:pathLst>
          </a:custGeom>
          <a:solidFill>
            <a:srgbClr val="EB0A1E"/>
          </a:solidFill>
          <a:ln/>
        </p:spPr>
        <p:txBody>
          <a:bodyPr wrap="none" lIns="0" tIns="25400" rIns="0" bIns="0" rtlCol="0" anchor="t">
            <a:normAutofit/>
          </a:bodyPr>
          <a:lstStyle/>
          <a:p>
            <a:pPr algn="ctr" indent="0" marL="0">
              <a:lnSpc>
                <a:spcPts val="1680"/>
              </a:lnSpc>
              <a:buNone/>
            </a:pPr>
            <a:r>
              <a:rPr lang="en-US" sz="1200" b="1" dirty="0">
                <a:solidFill>
                  <a:srgbClr val="FFFFFF"/>
                </a:solidFill>
                <a:latin typeface="Inter" pitchFamily="34" charset="0"/>
                <a:ea typeface="Inter" pitchFamily="34" charset="-122"/>
                <a:cs typeface="Inter" pitchFamily="34" charset="-120"/>
              </a:rPr>
              <a:t>Human</a:t>
            </a:r>
            <a:endParaRPr lang="en-US" sz="1200" dirty="0"/>
          </a:p>
        </p:txBody>
      </p:sp>
      <p:sp>
        <p:nvSpPr>
          <p:cNvPr id="45" name="Shape 43"/>
          <p:cNvSpPr/>
          <p:nvPr/>
        </p:nvSpPr>
        <p:spPr>
          <a:xfrm>
            <a:off x="6200775" y="3930067"/>
            <a:ext cx="5175250" cy="609203"/>
          </a:xfrm>
          <a:prstGeom prst="roundRect">
            <a:avLst>
              <a:gd name="adj" fmla="val 7818"/>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46" name="Text 44"/>
          <p:cNvSpPr/>
          <p:nvPr/>
        </p:nvSpPr>
        <p:spPr>
          <a:xfrm>
            <a:off x="6329680" y="4082256"/>
            <a:ext cx="304800" cy="304800"/>
          </a:xfrm>
          <a:custGeom>
            <a:avLst/>
            <a:gdLst/>
            <a:ahLst/>
            <a:cxnLst/>
            <a:rect l="l" t="t" r="r" b="b"/>
            <a:pathLst>
              <a:path w="304800" h="304800">
                <a:moveTo>
                  <a:pt x="152400" y="0"/>
                </a:moveTo>
                <a:lnTo>
                  <a:pt x="152400" y="0"/>
                </a:lnTo>
                <a:arcTo hR="152400" wR="152400" stAng="16200000" swAng="5400000"/>
                <a:lnTo>
                  <a:pt x="304800" y="152400"/>
                </a:lnTo>
                <a:arcTo hR="152400" wR="152400" stAng="0" swAng="5400000"/>
                <a:lnTo>
                  <a:pt x="152400" y="304800"/>
                </a:lnTo>
                <a:arcTo hR="152400" wR="152400" stAng="5400000" swAng="5400000"/>
                <a:lnTo>
                  <a:pt x="0" y="152400"/>
                </a:lnTo>
                <a:arcTo hR="152400" wR="152400" stAng="10800000" swAng="5400000"/>
                <a:close/>
              </a:path>
            </a:pathLst>
          </a:custGeom>
          <a:solidFill>
            <a:srgbClr val="1A1A1A"/>
          </a:solidFill>
          <a:ln/>
        </p:spPr>
        <p:txBody>
          <a:bodyPr wrap="square" lIns="0" tIns="0" rIns="0" bIns="0" rtlCol="0" anchor="t">
            <a:normAutofit/>
          </a:bodyPr>
          <a:lstStyle/>
          <a:p>
            <a:pPr algn="ctr" indent="0" marL="0">
              <a:lnSpc>
                <a:spcPts val="2400"/>
              </a:lnSpc>
              <a:buNone/>
            </a:pPr>
            <a:r>
              <a:rPr lang="en-US" sz="1200" dirty="0">
                <a:solidFill>
                  <a:srgbClr val="FFFFFF"/>
                </a:solidFill>
                <a:latin typeface="IBM Plex Mono" pitchFamily="49" charset="0"/>
                <a:ea typeface="IBM Plex Mono" pitchFamily="49" charset="-122"/>
                <a:cs typeface="IBM Plex Mono" pitchFamily="49" charset="-120"/>
              </a:rPr>
              <a:t>9</a:t>
            </a:r>
            <a:endParaRPr lang="en-US" sz="1200" dirty="0"/>
          </a:p>
        </p:txBody>
      </p:sp>
      <p:sp>
        <p:nvSpPr>
          <p:cNvPr id="47" name="Text 45"/>
          <p:cNvSpPr/>
          <p:nvPr/>
        </p:nvSpPr>
        <p:spPr>
          <a:xfrm>
            <a:off x="6761480" y="4020871"/>
            <a:ext cx="3892116"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Generate the handoff</a:t>
            </a:r>
            <a:endParaRPr lang="en-US" sz="1500" dirty="0"/>
          </a:p>
        </p:txBody>
      </p:sp>
      <p:sp>
        <p:nvSpPr>
          <p:cNvPr id="48" name="Text 46"/>
          <p:cNvSpPr/>
          <p:nvPr/>
        </p:nvSpPr>
        <p:spPr>
          <a:xfrm>
            <a:off x="6761480" y="4256453"/>
            <a:ext cx="3892116"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Diagrams and pack from approved models</a:t>
            </a:r>
            <a:endParaRPr lang="en-US" sz="1200" dirty="0"/>
          </a:p>
        </p:txBody>
      </p:sp>
      <p:sp>
        <p:nvSpPr>
          <p:cNvPr id="49" name="Text 47"/>
          <p:cNvSpPr/>
          <p:nvPr/>
        </p:nvSpPr>
        <p:spPr>
          <a:xfrm>
            <a:off x="10667233" y="4113262"/>
            <a:ext cx="579887" cy="242808"/>
          </a:xfrm>
          <a:custGeom>
            <a:avLst/>
            <a:gdLst/>
            <a:ahLst/>
            <a:cxnLst/>
            <a:rect l="l" t="t" r="r" b="b"/>
            <a:pathLst>
              <a:path w="579887" h="242808">
                <a:moveTo>
                  <a:pt x="121404" y="0"/>
                </a:moveTo>
                <a:lnTo>
                  <a:pt x="458483" y="0"/>
                </a:lnTo>
                <a:arcTo hR="121404" wR="121404" stAng="16200000" swAng="5400000"/>
                <a:lnTo>
                  <a:pt x="579887" y="121404"/>
                </a:lnTo>
                <a:arcTo hR="121404" wR="121404" stAng="0" swAng="5400000"/>
                <a:lnTo>
                  <a:pt x="121404" y="242808"/>
                </a:lnTo>
                <a:arcTo hR="121404" wR="121404" stAng="5400000" swAng="5400000"/>
                <a:lnTo>
                  <a:pt x="0" y="121404"/>
                </a:lnTo>
                <a:arcTo hR="121404" wR="121404" stAng="10800000" swAng="5400000"/>
                <a:close/>
              </a:path>
            </a:pathLst>
          </a:custGeom>
          <a:solidFill>
            <a:srgbClr val="1A1A1A"/>
          </a:solidFill>
          <a:ln/>
        </p:spPr>
        <p:txBody>
          <a:bodyPr wrap="none" lIns="0" tIns="25400" rIns="0" bIns="0" rtlCol="0" anchor="t">
            <a:normAutofit/>
          </a:bodyPr>
          <a:lstStyle/>
          <a:p>
            <a:pPr algn="ctr" indent="0" marL="0">
              <a:lnSpc>
                <a:spcPts val="1680"/>
              </a:lnSpc>
              <a:buNone/>
            </a:pPr>
            <a:r>
              <a:rPr lang="en-US" sz="1200" b="1" dirty="0">
                <a:solidFill>
                  <a:srgbClr val="FFFFFF"/>
                </a:solidFill>
                <a:latin typeface="Inter" pitchFamily="34" charset="0"/>
                <a:ea typeface="Inter" pitchFamily="34" charset="-122"/>
                <a:cs typeface="Inter" pitchFamily="34" charset="-120"/>
              </a:rPr>
              <a:t>Code</a:t>
            </a:r>
            <a:endParaRPr lang="en-US" sz="1200" dirty="0"/>
          </a:p>
        </p:txBody>
      </p:sp>
      <p:sp>
        <p:nvSpPr>
          <p:cNvPr id="50" name="Shape 48"/>
          <p:cNvSpPr/>
          <p:nvPr/>
        </p:nvSpPr>
        <p:spPr>
          <a:xfrm>
            <a:off x="6197600" y="4631345"/>
            <a:ext cx="5181600" cy="860901"/>
          </a:xfrm>
          <a:prstGeom prst="roundRect">
            <a:avLst>
              <a:gd name="adj" fmla="val 5901"/>
            </a:avLst>
          </a:prstGeom>
          <a:solidFill>
            <a:srgbClr val="1A1A1A"/>
          </a:solidFill>
          <a:ln/>
        </p:spPr>
      </p:sp>
      <p:sp>
        <p:nvSpPr>
          <p:cNvPr id="51" name="Text 49"/>
          <p:cNvSpPr/>
          <p:nvPr/>
        </p:nvSpPr>
        <p:spPr>
          <a:xfrm>
            <a:off x="6350000" y="4732945"/>
            <a:ext cx="5023104"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5A67"/>
                </a:solidFill>
                <a:latin typeface="Inter" pitchFamily="34" charset="0"/>
                <a:ea typeface="Inter" pitchFamily="34" charset="-122"/>
                <a:cs typeface="Inter" pitchFamily="34" charset="-120"/>
              </a:rPr>
              <a:t>OUTPUT</a:t>
            </a:r>
            <a:endParaRPr lang="en-US" sz="1200" dirty="0"/>
          </a:p>
        </p:txBody>
      </p:sp>
      <p:sp>
        <p:nvSpPr>
          <p:cNvPr id="52" name="Text 50"/>
          <p:cNvSpPr/>
          <p:nvPr/>
        </p:nvSpPr>
        <p:spPr>
          <a:xfrm>
            <a:off x="6350000" y="4950352"/>
            <a:ext cx="5023104" cy="248285"/>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FFFFFF"/>
                </a:solidFill>
                <a:latin typeface="IBM Plex Mono" pitchFamily="49" charset="0"/>
                <a:ea typeface="IBM Plex Mono" pitchFamily="49" charset="-122"/>
                <a:cs typeface="IBM Plex Mono" pitchFamily="49" charset="-120"/>
              </a:rPr>
              <a:t>specs/&lt;feature-slug&gt;/</a:t>
            </a:r>
            <a:endParaRPr lang="en-US" sz="1500" dirty="0"/>
          </a:p>
        </p:txBody>
      </p:sp>
      <p:sp>
        <p:nvSpPr>
          <p:cNvPr id="53" name="Text 51"/>
          <p:cNvSpPr/>
          <p:nvPr/>
        </p:nvSpPr>
        <p:spPr>
          <a:xfrm>
            <a:off x="6350000" y="5198635"/>
            <a:ext cx="5023104"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6"/>
                </a:solidFill>
                <a:latin typeface="Inter" pitchFamily="34" charset="0"/>
                <a:ea typeface="Inter" pitchFamily="34" charset="-122"/>
                <a:cs typeface="Inter" pitchFamily="34" charset="-120"/>
              </a:rPr>
              <a:t>Versionable Markdown and YAML files</a:t>
            </a:r>
            <a:endParaRPr lang="en-US" sz="1200" dirty="0"/>
          </a:p>
        </p:txBody>
      </p:sp>
      <p:sp>
        <p:nvSpPr>
          <p:cNvPr id="54" name="Text 52"/>
          <p:cNvSpPr/>
          <p:nvPr/>
        </p:nvSpPr>
        <p:spPr>
          <a:xfrm>
            <a:off x="812800" y="6259587"/>
            <a:ext cx="784860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Inter" pitchFamily="34" charset="0"/>
                <a:ea typeface="Inter" pitchFamily="34" charset="-122"/>
                <a:cs typeface="Inter" pitchFamily="34" charset="-120"/>
              </a:rPr>
              <a:t>Proof of concept proposal · Policy CP6.55</a:t>
            </a:r>
            <a:endParaRPr lang="en-US" sz="1200" dirty="0"/>
          </a:p>
        </p:txBody>
      </p:sp>
      <p:sp>
        <p:nvSpPr>
          <p:cNvPr id="55" name="Text 53"/>
          <p:cNvSpPr/>
          <p:nvPr/>
        </p:nvSpPr>
        <p:spPr>
          <a:xfrm>
            <a:off x="10058401" y="6259587"/>
            <a:ext cx="132080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BM Plex Mono" pitchFamily="49" charset="0"/>
                <a:ea typeface="IBM Plex Mono" pitchFamily="49" charset="-122"/>
                <a:cs typeface="IBM Plex Mono" pitchFamily="49" charset="-120"/>
              </a:rPr>
              <a:t>12 / 23</a:t>
            </a:r>
            <a:endParaRPr lang="en-US" sz="1200" dirty="0"/>
          </a:p>
        </p:txBody>
      </p:sp>
      <p:sp>
        <p:nvSpPr>
          <p:cNvPr id="56" name="Text 54"/>
          <p:cNvSpPr/>
          <p:nvPr/>
        </p:nvSpPr>
        <p:spPr>
          <a:xfrm>
            <a:off x="812800" y="1778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1111"/>
                </a:solidFill>
                <a:latin typeface="Inter" pitchFamily="34" charset="0"/>
                <a:ea typeface="Inter" pitchFamily="34" charset="-122"/>
                <a:cs typeface="Inter" pitchFamily="34" charset="-120"/>
              </a:rPr>
              <a:t>Intent Discovery Service</a:t>
            </a:r>
            <a:endParaRPr lang="en-US" sz="1200" dirty="0"/>
          </a:p>
        </p:txBody>
      </p:sp>
      <p:sp>
        <p:nvSpPr>
          <p:cNvPr id="57" name="Text 55"/>
          <p:cNvSpPr/>
          <p:nvPr/>
        </p:nvSpPr>
        <p:spPr>
          <a:xfrm>
            <a:off x="6800850" y="177800"/>
            <a:ext cx="457835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nter" pitchFamily="34" charset="0"/>
                <a:ea typeface="Inter" pitchFamily="34" charset="-122"/>
                <a:cs typeface="Inter" pitchFamily="34" charset="-120"/>
              </a:rPr>
              <a:t>GenAI Governance Panel</a:t>
            </a:r>
            <a:endParaRPr lang="en-US" sz="1200" dirty="0"/>
          </a:p>
        </p:txBody>
      </p:sp>
      <p:pic>
        <p:nvPicPr>
          <p:cNvPr id="58" name="Image 0" descr="line">    </p:cNvPr>
          <p:cNvPicPr>
            <a:picLocks noChangeAspect="1"/>
          </p:cNvPicPr>
          <p:nvPr/>
        </p:nvPicPr>
        <p:blipFill>
          <a:blip r:embed="rId1"/>
          <a:srcRect l="-1137" r="-1137" t="0" b="0"/>
          <a:stretch/>
        </p:blipFill>
        <p:spPr>
          <a:xfrm>
            <a:off x="0" y="533400"/>
            <a:ext cx="12192001" cy="3725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896088"/>
            <a:ext cx="304800" cy="25400"/>
          </a:xfrm>
          <a:prstGeom prst="rect">
            <a:avLst/>
          </a:prstGeom>
          <a:solidFill>
            <a:srgbClr val="EB0A1E"/>
          </a:solidFill>
          <a:ln/>
        </p:spPr>
      </p:sp>
      <p:sp>
        <p:nvSpPr>
          <p:cNvPr id="3" name="Text 1"/>
          <p:cNvSpPr/>
          <p:nvPr/>
        </p:nvSpPr>
        <p:spPr>
          <a:xfrm>
            <a:off x="1219200" y="812800"/>
            <a:ext cx="4177887"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HOW IT WOULD WORK · MODELING PIPELINE</a:t>
            </a:r>
            <a:endParaRPr lang="en-US" sz="1200" dirty="0"/>
          </a:p>
        </p:txBody>
      </p:sp>
      <p:sp>
        <p:nvSpPr>
          <p:cNvPr id="4" name="Text 2"/>
          <p:cNvSpPr/>
          <p:nvPr>
            <p:ph type="title"/>
          </p:nvPr>
        </p:nvSpPr>
        <p:spPr>
          <a:xfrm>
            <a:off x="812800" y="1106407"/>
            <a:ext cx="10883393" cy="427725"/>
          </a:xfrm>
          <a:prstGeom prst="rect">
            <a:avLst/>
          </a:prstGeom>
          <a:noFill/>
          <a:ln/>
        </p:spPr>
        <p:txBody>
          <a:bodyPr wrap="square" lIns="0" tIns="0" rIns="0" bIns="0" rtlCol="0" anchor="t">
            <a:normAutofit/>
          </a:bodyPr>
          <a:lstStyle/>
          <a:p>
            <a:pPr algn="l" indent="0" marL="0">
              <a:lnSpc>
                <a:spcPts val="3520"/>
              </a:lnSpc>
              <a:buNone/>
            </a:pPr>
            <a:r>
              <a:rPr lang="en-US" sz="3200" b="1" i="0" spc="-50" kern="0" dirty="0">
                <a:solidFill>
                  <a:srgbClr val="1A1A1A"/>
                </a:solidFill>
                <a:latin typeface="Inter" pitchFamily="34" charset="0"/>
                <a:ea typeface="Inter" pitchFamily="34" charset="-122"/>
                <a:cs typeface="Inter" pitchFamily="34" charset="-120"/>
              </a:rPr>
              <a:t>Deterministic gates between every stage</a:t>
            </a:r>
            <a:endParaRPr lang="en-US" sz="3200" dirty="0"/>
          </a:p>
        </p:txBody>
      </p:sp>
      <p:sp>
        <p:nvSpPr>
          <p:cNvPr id="5" name="Shape 3"/>
          <p:cNvSpPr/>
          <p:nvPr/>
        </p:nvSpPr>
        <p:spPr>
          <a:xfrm>
            <a:off x="815975" y="1816708"/>
            <a:ext cx="3075517" cy="1158319"/>
          </a:xfrm>
          <a:prstGeom prst="roundRect">
            <a:avLst>
              <a:gd name="adj" fmla="val 4112"/>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6" name="Text 4"/>
          <p:cNvSpPr/>
          <p:nvPr/>
        </p:nvSpPr>
        <p:spPr>
          <a:xfrm>
            <a:off x="995680" y="1971011"/>
            <a:ext cx="2797590"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Event Storming (ESML)</a:t>
            </a:r>
            <a:endParaRPr lang="en-US" sz="1500" dirty="0"/>
          </a:p>
        </p:txBody>
      </p:sp>
      <p:sp>
        <p:nvSpPr>
          <p:cNvPr id="7" name="Text 5"/>
          <p:cNvSpPr/>
          <p:nvPr/>
        </p:nvSpPr>
        <p:spPr>
          <a:xfrm>
            <a:off x="995680" y="2244694"/>
            <a:ext cx="2797590" cy="60142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Actors, commands, domain events, aggregates, policies, read models, open hotspots</a:t>
            </a:r>
            <a:endParaRPr lang="en-US" sz="1200" dirty="0"/>
          </a:p>
        </p:txBody>
      </p:sp>
      <p:pic>
        <p:nvPicPr>
          <p:cNvPr id="8" name="Image 0" descr="Lock">    </p:cNvPr>
          <p:cNvPicPr>
            <a:picLocks noChangeAspect="1"/>
          </p:cNvPicPr>
          <p:nvPr/>
        </p:nvPicPr>
        <p:blipFill>
          <a:blip r:embed="rId1"/>
          <a:srcRect l="0" r="0" t="0" b="0"/>
          <a:stretch/>
        </p:blipFill>
        <p:spPr>
          <a:xfrm>
            <a:off x="4097867" y="2147460"/>
            <a:ext cx="254000" cy="254000"/>
          </a:xfrm>
          <a:prstGeom prst="rect">
            <a:avLst/>
          </a:prstGeom>
        </p:spPr>
      </p:pic>
      <p:sp>
        <p:nvSpPr>
          <p:cNvPr id="9" name="Text 6"/>
          <p:cNvSpPr/>
          <p:nvPr/>
        </p:nvSpPr>
        <p:spPr>
          <a:xfrm>
            <a:off x="4027350" y="2452260"/>
            <a:ext cx="395034" cy="21740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EB0A1E"/>
                </a:solidFill>
                <a:latin typeface="IBM Plex Mono" pitchFamily="49" charset="0"/>
                <a:ea typeface="IBM Plex Mono" pitchFamily="49" charset="-122"/>
                <a:cs typeface="IBM Plex Mono" pitchFamily="49" charset="-120"/>
              </a:rPr>
              <a:t>gate</a:t>
            </a:r>
            <a:endParaRPr lang="en-US" sz="1200" dirty="0"/>
          </a:p>
        </p:txBody>
      </p:sp>
      <p:sp>
        <p:nvSpPr>
          <p:cNvPr id="10" name="Shape 7"/>
          <p:cNvSpPr/>
          <p:nvPr/>
        </p:nvSpPr>
        <p:spPr>
          <a:xfrm>
            <a:off x="4558242" y="1816708"/>
            <a:ext cx="3075517" cy="1158319"/>
          </a:xfrm>
          <a:prstGeom prst="roundRect">
            <a:avLst>
              <a:gd name="adj" fmla="val 4112"/>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11" name="Text 8"/>
          <p:cNvSpPr/>
          <p:nvPr/>
        </p:nvSpPr>
        <p:spPr>
          <a:xfrm>
            <a:off x="4737947" y="1971011"/>
            <a:ext cx="2797590"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Domain model (DMML)</a:t>
            </a:r>
            <a:endParaRPr lang="en-US" sz="1500" dirty="0"/>
          </a:p>
        </p:txBody>
      </p:sp>
      <p:sp>
        <p:nvSpPr>
          <p:cNvPr id="12" name="Text 9"/>
          <p:cNvSpPr/>
          <p:nvPr/>
        </p:nvSpPr>
        <p:spPr>
          <a:xfrm>
            <a:off x="4737947" y="2244694"/>
            <a:ext cx="2797590"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Ubiquitous Language, Bounded Contexts, Context Map, Aggregates with invariants</a:t>
            </a:r>
            <a:endParaRPr lang="en-US" sz="1200" dirty="0"/>
          </a:p>
        </p:txBody>
      </p:sp>
      <p:pic>
        <p:nvPicPr>
          <p:cNvPr id="13" name="Image 1" descr="Lock">    </p:cNvPr>
          <p:cNvPicPr>
            <a:picLocks noChangeAspect="1"/>
          </p:cNvPicPr>
          <p:nvPr/>
        </p:nvPicPr>
        <p:blipFill>
          <a:blip r:embed="rId2"/>
          <a:srcRect l="0" r="0" t="0" b="0"/>
          <a:stretch/>
        </p:blipFill>
        <p:spPr>
          <a:xfrm>
            <a:off x="7840134" y="2147460"/>
            <a:ext cx="254000" cy="254000"/>
          </a:xfrm>
          <a:prstGeom prst="rect">
            <a:avLst/>
          </a:prstGeom>
        </p:spPr>
      </p:pic>
      <p:sp>
        <p:nvSpPr>
          <p:cNvPr id="14" name="Text 10"/>
          <p:cNvSpPr/>
          <p:nvPr/>
        </p:nvSpPr>
        <p:spPr>
          <a:xfrm>
            <a:off x="7769617" y="2452260"/>
            <a:ext cx="395034" cy="217408"/>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EB0A1E"/>
                </a:solidFill>
                <a:latin typeface="IBM Plex Mono" pitchFamily="49" charset="0"/>
                <a:ea typeface="IBM Plex Mono" pitchFamily="49" charset="-122"/>
                <a:cs typeface="IBM Plex Mono" pitchFamily="49" charset="-120"/>
              </a:rPr>
              <a:t>gate</a:t>
            </a:r>
            <a:endParaRPr lang="en-US" sz="1200" dirty="0"/>
          </a:p>
        </p:txBody>
      </p:sp>
      <p:sp>
        <p:nvSpPr>
          <p:cNvPr id="15" name="Shape 11"/>
          <p:cNvSpPr/>
          <p:nvPr/>
        </p:nvSpPr>
        <p:spPr>
          <a:xfrm>
            <a:off x="8300509" y="1816708"/>
            <a:ext cx="3075517" cy="1158319"/>
          </a:xfrm>
          <a:prstGeom prst="roundRect">
            <a:avLst>
              <a:gd name="adj" fmla="val 4112"/>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16" name="Text 12"/>
          <p:cNvSpPr/>
          <p:nvPr/>
        </p:nvSpPr>
        <p:spPr>
          <a:xfrm>
            <a:off x="8480214" y="1971011"/>
            <a:ext cx="2797590"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Intent Registry (IR)</a:t>
            </a:r>
            <a:endParaRPr lang="en-US" sz="1500" dirty="0"/>
          </a:p>
        </p:txBody>
      </p:sp>
      <p:sp>
        <p:nvSpPr>
          <p:cNvPr id="17" name="Text 13"/>
          <p:cNvSpPr/>
          <p:nvPr/>
        </p:nvSpPr>
        <p:spPr>
          <a:xfrm>
            <a:off x="8480214" y="2244694"/>
            <a:ext cx="2797590" cy="60142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States, enforced invariants, decision tables, timed flows, test evidence, bounded gaps</a:t>
            </a:r>
            <a:endParaRPr lang="en-US" sz="1200" dirty="0"/>
          </a:p>
        </p:txBody>
      </p:sp>
      <p:sp>
        <p:nvSpPr>
          <p:cNvPr id="18" name="Text 14"/>
          <p:cNvSpPr/>
          <p:nvPr/>
        </p:nvSpPr>
        <p:spPr>
          <a:xfrm>
            <a:off x="812800" y="3181400"/>
            <a:ext cx="6932930"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8595B"/>
                </a:solidFill>
                <a:latin typeface="Inter" pitchFamily="34" charset="0"/>
                <a:ea typeface="Inter" pitchFamily="34" charset="-122"/>
                <a:cs typeface="Inter" pitchFamily="34" charset="-120"/>
              </a:rPr>
              <a:t>CHECKS EVERY STAGE MUST PASS</a:t>
            </a:r>
            <a:endParaRPr lang="en-US" sz="1200" dirty="0"/>
          </a:p>
        </p:txBody>
      </p:sp>
      <p:pic>
        <p:nvPicPr>
          <p:cNvPr id="19" name="Image 2" descr="CheckCircle">    </p:cNvPr>
          <p:cNvPicPr>
            <a:picLocks noChangeAspect="1"/>
          </p:cNvPicPr>
          <p:nvPr/>
        </p:nvPicPr>
        <p:blipFill>
          <a:blip r:embed="rId3"/>
          <a:srcRect l="0" r="0" t="-227" b="-227"/>
          <a:stretch/>
        </p:blipFill>
        <p:spPr>
          <a:xfrm>
            <a:off x="812800" y="3475006"/>
            <a:ext cx="151712" cy="203200"/>
          </a:xfrm>
          <a:prstGeom prst="rect">
            <a:avLst/>
          </a:prstGeom>
        </p:spPr>
      </p:pic>
      <p:sp>
        <p:nvSpPr>
          <p:cNvPr id="20" name="Text 15"/>
          <p:cNvSpPr/>
          <p:nvPr/>
        </p:nvSpPr>
        <p:spPr>
          <a:xfrm>
            <a:off x="1040712" y="3475006"/>
            <a:ext cx="3231716" cy="409416"/>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Schema conformance:</a:t>
            </a:r>
            <a:r>
              <a:rPr lang="en-US" sz="1200" dirty="0">
                <a:solidFill>
                  <a:srgbClr val="1A1A1A"/>
                </a:solidFill>
                <a:latin typeface="Inter" pitchFamily="34" charset="0"/>
                <a:ea typeface="Inter" pitchFamily="34" charset="-122"/>
                <a:cs typeface="Inter" pitchFamily="34" charset="-120"/>
              </a:rPr>
              <a:t> malformed or incomplete output rejected</a:t>
            </a:r>
            <a:endParaRPr lang="en-US" sz="1200" dirty="0"/>
          </a:p>
        </p:txBody>
      </p:sp>
      <p:pic>
        <p:nvPicPr>
          <p:cNvPr id="21" name="Image 3" descr="CheckCircle">    </p:cNvPr>
          <p:cNvPicPr>
            <a:picLocks noChangeAspect="1"/>
          </p:cNvPicPr>
          <p:nvPr/>
        </p:nvPicPr>
        <p:blipFill>
          <a:blip r:embed="rId4"/>
          <a:srcRect l="0" r="0" t="-713" b="-713"/>
          <a:stretch/>
        </p:blipFill>
        <p:spPr>
          <a:xfrm>
            <a:off x="4178300" y="3475006"/>
            <a:ext cx="150257" cy="203200"/>
          </a:xfrm>
          <a:prstGeom prst="rect">
            <a:avLst/>
          </a:prstGeom>
        </p:spPr>
      </p:pic>
      <p:sp>
        <p:nvSpPr>
          <p:cNvPr id="22" name="Text 16"/>
          <p:cNvSpPr/>
          <p:nvPr/>
        </p:nvSpPr>
        <p:spPr>
          <a:xfrm>
            <a:off x="4404757" y="3475006"/>
            <a:ext cx="3233215" cy="409416"/>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Cross-references:</a:t>
            </a:r>
            <a:r>
              <a:rPr lang="en-US" sz="1200" dirty="0">
                <a:solidFill>
                  <a:srgbClr val="1A1A1A"/>
                </a:solidFill>
                <a:latin typeface="Inter" pitchFamily="34" charset="0"/>
                <a:ea typeface="Inter" pitchFamily="34" charset="-122"/>
                <a:cs typeface="Inter" pitchFamily="34" charset="-120"/>
              </a:rPr>
              <a:t> every reference resolves to a defined element</a:t>
            </a:r>
            <a:endParaRPr lang="en-US" sz="1200" dirty="0"/>
          </a:p>
        </p:txBody>
      </p:sp>
      <p:pic>
        <p:nvPicPr>
          <p:cNvPr id="23" name="Image 4" descr="CheckCircle">    </p:cNvPr>
          <p:cNvPicPr>
            <a:picLocks noChangeAspect="1"/>
          </p:cNvPicPr>
          <p:nvPr/>
        </p:nvPicPr>
        <p:blipFill>
          <a:blip r:embed="rId5"/>
          <a:srcRect l="-104" r="-104" t="0" b="0"/>
          <a:stretch/>
        </p:blipFill>
        <p:spPr>
          <a:xfrm>
            <a:off x="812800" y="3859026"/>
            <a:ext cx="165444" cy="203200"/>
          </a:xfrm>
          <a:prstGeom prst="rect">
            <a:avLst/>
          </a:prstGeom>
        </p:spPr>
      </p:pic>
      <p:sp>
        <p:nvSpPr>
          <p:cNvPr id="24" name="Text 17"/>
          <p:cNvSpPr/>
          <p:nvPr/>
        </p:nvSpPr>
        <p:spPr>
          <a:xfrm>
            <a:off x="1054444" y="3859026"/>
            <a:ext cx="3217572" cy="409416"/>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Decision tables:</a:t>
            </a:r>
            <a:r>
              <a:rPr lang="en-US" sz="1200" dirty="0">
                <a:solidFill>
                  <a:srgbClr val="1A1A1A"/>
                </a:solidFill>
                <a:latin typeface="Inter" pitchFamily="34" charset="0"/>
                <a:ea typeface="Inter" pitchFamily="34" charset="-122"/>
                <a:cs typeface="Inter" pitchFamily="34" charset="-120"/>
              </a:rPr>
              <a:t> every input combination provably covered</a:t>
            </a:r>
            <a:endParaRPr lang="en-US" sz="1200" dirty="0"/>
          </a:p>
        </p:txBody>
      </p:sp>
      <p:pic>
        <p:nvPicPr>
          <p:cNvPr id="25" name="Image 5" descr="CheckCircle">    </p:cNvPr>
          <p:cNvPicPr>
            <a:picLocks noChangeAspect="1"/>
          </p:cNvPicPr>
          <p:nvPr/>
        </p:nvPicPr>
        <p:blipFill>
          <a:blip r:embed="rId6"/>
          <a:srcRect l="-112" r="-112" t="0" b="0"/>
          <a:stretch/>
        </p:blipFill>
        <p:spPr>
          <a:xfrm>
            <a:off x="4178300" y="3859026"/>
            <a:ext cx="165470" cy="203200"/>
          </a:xfrm>
          <a:prstGeom prst="rect">
            <a:avLst/>
          </a:prstGeom>
        </p:spPr>
      </p:pic>
      <p:sp>
        <p:nvSpPr>
          <p:cNvPr id="26" name="Text 18"/>
          <p:cNvSpPr/>
          <p:nvPr/>
        </p:nvSpPr>
        <p:spPr>
          <a:xfrm>
            <a:off x="4419971" y="3859026"/>
            <a:ext cx="3217545" cy="409416"/>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Enforcement points:</a:t>
            </a:r>
            <a:r>
              <a:rPr lang="en-US" sz="1200" dirty="0">
                <a:solidFill>
                  <a:srgbClr val="1A1A1A"/>
                </a:solidFill>
                <a:latin typeface="Inter" pitchFamily="34" charset="0"/>
                <a:ea typeface="Inter" pitchFamily="34" charset="-122"/>
                <a:cs typeface="Inter" pitchFamily="34" charset="-120"/>
              </a:rPr>
              <a:t> every rule names where it is enforced</a:t>
            </a:r>
            <a:endParaRPr lang="en-US" sz="1200" dirty="0"/>
          </a:p>
        </p:txBody>
      </p:sp>
      <p:pic>
        <p:nvPicPr>
          <p:cNvPr id="27" name="Image 6" descr="CheckCircle">    </p:cNvPr>
          <p:cNvPicPr>
            <a:picLocks noChangeAspect="1"/>
          </p:cNvPicPr>
          <p:nvPr/>
        </p:nvPicPr>
        <p:blipFill>
          <a:blip r:embed="rId7"/>
          <a:srcRect l="0" r="0" t="-22" b="-22"/>
          <a:stretch/>
        </p:blipFill>
        <p:spPr>
          <a:xfrm>
            <a:off x="812800" y="4243040"/>
            <a:ext cx="184071" cy="203200"/>
          </a:xfrm>
          <a:prstGeom prst="rect">
            <a:avLst/>
          </a:prstGeom>
        </p:spPr>
      </p:pic>
      <p:sp>
        <p:nvSpPr>
          <p:cNvPr id="28" name="Text 19"/>
          <p:cNvSpPr/>
          <p:nvPr/>
        </p:nvSpPr>
        <p:spPr>
          <a:xfrm>
            <a:off x="1073071" y="4243040"/>
            <a:ext cx="3198386" cy="409416"/>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Test evidence:</a:t>
            </a:r>
            <a:r>
              <a:rPr lang="en-US" sz="1200" dirty="0">
                <a:solidFill>
                  <a:srgbClr val="1A1A1A"/>
                </a:solidFill>
                <a:latin typeface="Inter" pitchFamily="34" charset="0"/>
                <a:ea typeface="Inter" pitchFamily="34" charset="-122"/>
                <a:cs typeface="Inter" pitchFamily="34" charset="-120"/>
              </a:rPr>
              <a:t> every rule and action names its proof</a:t>
            </a:r>
            <a:endParaRPr lang="en-US" sz="1200" dirty="0"/>
          </a:p>
        </p:txBody>
      </p:sp>
      <p:pic>
        <p:nvPicPr>
          <p:cNvPr id="29" name="Image 7" descr="CheckCircle">    </p:cNvPr>
          <p:cNvPicPr>
            <a:picLocks noChangeAspect="1"/>
          </p:cNvPicPr>
          <p:nvPr/>
        </p:nvPicPr>
        <p:blipFill>
          <a:blip r:embed="rId8"/>
          <a:srcRect l="-699" r="-699" t="0" b="0"/>
          <a:stretch/>
        </p:blipFill>
        <p:spPr>
          <a:xfrm>
            <a:off x="4178300" y="4243040"/>
            <a:ext cx="199602" cy="203200"/>
          </a:xfrm>
          <a:prstGeom prst="rect">
            <a:avLst/>
          </a:prstGeom>
        </p:spPr>
      </p:pic>
      <p:sp>
        <p:nvSpPr>
          <p:cNvPr id="30" name="Text 20"/>
          <p:cNvSpPr/>
          <p:nvPr/>
        </p:nvSpPr>
        <p:spPr>
          <a:xfrm>
            <a:off x="4454102" y="4243040"/>
            <a:ext cx="3182389" cy="409416"/>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Open gaps:</a:t>
            </a:r>
            <a:r>
              <a:rPr lang="en-US" sz="1200" dirty="0">
                <a:solidFill>
                  <a:srgbClr val="1A1A1A"/>
                </a:solidFill>
                <a:latin typeface="Inter" pitchFamily="34" charset="0"/>
                <a:ea typeface="Inter" pitchFamily="34" charset="-122"/>
                <a:cs typeface="Inter" pitchFamily="34" charset="-120"/>
              </a:rPr>
              <a:t> flagged as blocking, never left silent</a:t>
            </a:r>
            <a:endParaRPr lang="en-US" sz="1200" dirty="0"/>
          </a:p>
        </p:txBody>
      </p:sp>
      <p:sp>
        <p:nvSpPr>
          <p:cNvPr id="31" name="Text 21"/>
          <p:cNvSpPr/>
          <p:nvPr/>
        </p:nvSpPr>
        <p:spPr>
          <a:xfrm>
            <a:off x="812800" y="4728660"/>
            <a:ext cx="6932930" cy="409416"/>
          </a:xfrm>
          <a:prstGeom prst="rect">
            <a:avLst/>
          </a:prstGeom>
          <a:noFill/>
          <a:ln/>
        </p:spPr>
        <p:txBody>
          <a:bodyPr wrap="square" lIns="0" tIns="0" rIns="0" bIns="0" rtlCol="0" anchor="t">
            <a:normAutofit/>
          </a:bodyPr>
          <a:lstStyle/>
          <a:p>
            <a:pPr algn="l" indent="0" marL="0">
              <a:lnSpc>
                <a:spcPts val="1680"/>
              </a:lnSpc>
              <a:buNone/>
            </a:pPr>
            <a:r>
              <a:rPr lang="en-US" sz="1200" i="1" dirty="0">
                <a:solidFill>
                  <a:srgbClr val="58595B"/>
                </a:solidFill>
                <a:latin typeface="Inter" pitchFamily="34" charset="0"/>
                <a:ea typeface="Inter" pitchFamily="34" charset="-122"/>
                <a:cs typeface="Inter" pitchFamily="34" charset="-120"/>
              </a:rPr>
              <a:t>These checks prove structural consistency, traceability and coverage, not business correctness. That is for the IR Author and domain SME to approve.</a:t>
            </a:r>
            <a:endParaRPr lang="en-US" sz="1200" dirty="0"/>
          </a:p>
        </p:txBody>
      </p:sp>
      <p:sp>
        <p:nvSpPr>
          <p:cNvPr id="32" name="Shape 22"/>
          <p:cNvSpPr/>
          <p:nvPr/>
        </p:nvSpPr>
        <p:spPr>
          <a:xfrm>
            <a:off x="7696201" y="3181400"/>
            <a:ext cx="3683000" cy="1984534"/>
          </a:xfrm>
          <a:prstGeom prst="roundRect">
            <a:avLst>
              <a:gd name="adj" fmla="val 2560"/>
            </a:avLst>
          </a:prstGeom>
          <a:solidFill>
            <a:srgbClr val="1A1A1A"/>
          </a:solidFill>
          <a:ln/>
        </p:spPr>
      </p:sp>
      <p:sp>
        <p:nvSpPr>
          <p:cNvPr id="33" name="Text 23"/>
          <p:cNvSpPr/>
          <p:nvPr/>
        </p:nvSpPr>
        <p:spPr>
          <a:xfrm>
            <a:off x="7899401" y="3384600"/>
            <a:ext cx="3374898"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FFFFF"/>
                </a:solidFill>
                <a:latin typeface="Inter" pitchFamily="34" charset="0"/>
                <a:ea typeface="Inter" pitchFamily="34" charset="-122"/>
                <a:cs typeface="Inter" pitchFamily="34" charset="-120"/>
              </a:rPr>
              <a:t>If a stage fails validation</a:t>
            </a:r>
            <a:endParaRPr lang="en-US" sz="1500" dirty="0"/>
          </a:p>
        </p:txBody>
      </p:sp>
      <p:sp>
        <p:nvSpPr>
          <p:cNvPr id="34" name="Text 24"/>
          <p:cNvSpPr/>
          <p:nvPr/>
        </p:nvSpPr>
        <p:spPr>
          <a:xfrm>
            <a:off x="7899401" y="3709088"/>
            <a:ext cx="3374898" cy="60142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6"/>
                </a:solidFill>
                <a:latin typeface="Inter" pitchFamily="34" charset="0"/>
                <a:ea typeface="Inter" pitchFamily="34" charset="-122"/>
                <a:cs typeface="Inter" pitchFamily="34" charset="-120"/>
              </a:rPr>
              <a:t>The specific errors go back to the AI for a bounded number of repair attempts, each one logged.</a:t>
            </a:r>
            <a:endParaRPr lang="en-US" sz="1200" dirty="0"/>
          </a:p>
        </p:txBody>
      </p:sp>
      <p:sp>
        <p:nvSpPr>
          <p:cNvPr id="35" name="Text 25"/>
          <p:cNvSpPr/>
          <p:nvPr/>
        </p:nvSpPr>
        <p:spPr>
          <a:xfrm>
            <a:off x="7899401" y="4386709"/>
            <a:ext cx="3374898" cy="60142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6"/>
                </a:solidFill>
                <a:latin typeface="Inter" pitchFamily="34" charset="0"/>
                <a:ea typeface="Inter" pitchFamily="34" charset="-122"/>
                <a:cs typeface="Inter" pitchFamily="34" charset="-120"/>
              </a:rPr>
              <a:t>Still failing? Errors and the latest output surface for human resolution. The stage cannot be force-finalized.</a:t>
            </a:r>
            <a:endParaRPr lang="en-US" sz="1200" dirty="0"/>
          </a:p>
        </p:txBody>
      </p:sp>
      <p:sp>
        <p:nvSpPr>
          <p:cNvPr id="36" name="Text 26"/>
          <p:cNvSpPr/>
          <p:nvPr/>
        </p:nvSpPr>
        <p:spPr>
          <a:xfrm>
            <a:off x="812800" y="6259593"/>
            <a:ext cx="784860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Inter" pitchFamily="34" charset="0"/>
                <a:ea typeface="Inter" pitchFamily="34" charset="-122"/>
                <a:cs typeface="Inter" pitchFamily="34" charset="-120"/>
              </a:rPr>
              <a:t>Proof of concept proposal · Policy CP6.55</a:t>
            </a:r>
            <a:endParaRPr lang="en-US" sz="1200" dirty="0"/>
          </a:p>
        </p:txBody>
      </p:sp>
      <p:sp>
        <p:nvSpPr>
          <p:cNvPr id="37" name="Text 27"/>
          <p:cNvSpPr/>
          <p:nvPr/>
        </p:nvSpPr>
        <p:spPr>
          <a:xfrm>
            <a:off x="10058401" y="6259593"/>
            <a:ext cx="132080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BM Plex Mono" pitchFamily="49" charset="0"/>
                <a:ea typeface="IBM Plex Mono" pitchFamily="49" charset="-122"/>
                <a:cs typeface="IBM Plex Mono" pitchFamily="49" charset="-120"/>
              </a:rPr>
              <a:t>13 / 23</a:t>
            </a:r>
            <a:endParaRPr lang="en-US" sz="1200" dirty="0"/>
          </a:p>
        </p:txBody>
      </p:sp>
      <p:sp>
        <p:nvSpPr>
          <p:cNvPr id="38" name="Text 28"/>
          <p:cNvSpPr/>
          <p:nvPr/>
        </p:nvSpPr>
        <p:spPr>
          <a:xfrm>
            <a:off x="812800" y="1778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1111"/>
                </a:solidFill>
                <a:latin typeface="Inter" pitchFamily="34" charset="0"/>
                <a:ea typeface="Inter" pitchFamily="34" charset="-122"/>
                <a:cs typeface="Inter" pitchFamily="34" charset="-120"/>
              </a:rPr>
              <a:t>Intent Discovery Service</a:t>
            </a:r>
            <a:endParaRPr lang="en-US" sz="1200" dirty="0"/>
          </a:p>
        </p:txBody>
      </p:sp>
      <p:sp>
        <p:nvSpPr>
          <p:cNvPr id="39" name="Text 29"/>
          <p:cNvSpPr/>
          <p:nvPr/>
        </p:nvSpPr>
        <p:spPr>
          <a:xfrm>
            <a:off x="6800850" y="177800"/>
            <a:ext cx="457835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nter" pitchFamily="34" charset="0"/>
                <a:ea typeface="Inter" pitchFamily="34" charset="-122"/>
                <a:cs typeface="Inter" pitchFamily="34" charset="-120"/>
              </a:rPr>
              <a:t>GenAI Governance Panel</a:t>
            </a:r>
            <a:endParaRPr lang="en-US" sz="1200" dirty="0"/>
          </a:p>
        </p:txBody>
      </p:sp>
      <p:pic>
        <p:nvPicPr>
          <p:cNvPr id="40" name="Image 8" descr="line">    </p:cNvPr>
          <p:cNvPicPr>
            <a:picLocks noChangeAspect="1"/>
          </p:cNvPicPr>
          <p:nvPr/>
        </p:nvPicPr>
        <p:blipFill>
          <a:blip r:embed="rId9"/>
          <a:srcRect l="-1137" r="-1137" t="0" b="0"/>
          <a:stretch/>
        </p:blipFill>
        <p:spPr>
          <a:xfrm>
            <a:off x="0" y="533400"/>
            <a:ext cx="12192001" cy="3725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749550" y="1822450"/>
            <a:ext cx="8623301" cy="2743200"/>
          </a:xfrm>
          <a:prstGeom prst="roundRect">
            <a:avLst>
              <a:gd name="adj" fmla="val 2083"/>
            </a:avLst>
          </a:prstGeom>
          <a:noFill/>
          <a:ln w="12700">
            <a:solidFill>
              <a:srgbClr val="9E9E9E"/>
            </a:solidFill>
            <a:prstDash val="dash"/>
          </a:ln>
        </p:spPr>
      </p:sp>
      <p:sp>
        <p:nvSpPr>
          <p:cNvPr id="3" name="Shape 1"/>
          <p:cNvSpPr/>
          <p:nvPr/>
        </p:nvSpPr>
        <p:spPr>
          <a:xfrm>
            <a:off x="812800" y="896088"/>
            <a:ext cx="304800" cy="25400"/>
          </a:xfrm>
          <a:prstGeom prst="rect">
            <a:avLst/>
          </a:prstGeom>
          <a:solidFill>
            <a:srgbClr val="EB0A1E"/>
          </a:solidFill>
          <a:ln/>
        </p:spPr>
      </p:sp>
      <p:sp>
        <p:nvSpPr>
          <p:cNvPr id="4" name="Text 2"/>
          <p:cNvSpPr/>
          <p:nvPr/>
        </p:nvSpPr>
        <p:spPr>
          <a:xfrm>
            <a:off x="1219200" y="812800"/>
            <a:ext cx="3738753"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HOW IT WOULD WORK · ARCHITECTURE</a:t>
            </a:r>
            <a:endParaRPr lang="en-US" sz="1200" dirty="0"/>
          </a:p>
        </p:txBody>
      </p:sp>
      <p:sp>
        <p:nvSpPr>
          <p:cNvPr id="5" name="Text 3"/>
          <p:cNvSpPr/>
          <p:nvPr>
            <p:ph type="title"/>
          </p:nvPr>
        </p:nvSpPr>
        <p:spPr>
          <a:xfrm>
            <a:off x="812800" y="1106407"/>
            <a:ext cx="10883393" cy="427725"/>
          </a:xfrm>
          <a:prstGeom prst="rect">
            <a:avLst/>
          </a:prstGeom>
          <a:noFill/>
          <a:ln/>
        </p:spPr>
        <p:txBody>
          <a:bodyPr wrap="square" lIns="0" tIns="0" rIns="0" bIns="0" rtlCol="0" anchor="t">
            <a:normAutofit/>
          </a:bodyPr>
          <a:lstStyle/>
          <a:p>
            <a:pPr algn="l" indent="0" marL="0">
              <a:lnSpc>
                <a:spcPts val="3520"/>
              </a:lnSpc>
              <a:buNone/>
            </a:pPr>
            <a:r>
              <a:rPr lang="en-US" sz="3200" b="1" i="0" spc="-50" kern="0" dirty="0">
                <a:solidFill>
                  <a:srgbClr val="1A1A1A"/>
                </a:solidFill>
                <a:latin typeface="Inter" pitchFamily="34" charset="0"/>
                <a:ea typeface="Inter" pitchFamily="34" charset="-122"/>
                <a:cs typeface="Inter" pitchFamily="34" charset="-120"/>
              </a:rPr>
              <a:t>Proposed architecture and control boundary</a:t>
            </a:r>
            <a:endParaRPr lang="en-US" sz="3200" dirty="0"/>
          </a:p>
        </p:txBody>
      </p:sp>
      <p:sp>
        <p:nvSpPr>
          <p:cNvPr id="6" name="Text 4"/>
          <p:cNvSpPr/>
          <p:nvPr/>
        </p:nvSpPr>
        <p:spPr>
          <a:xfrm>
            <a:off x="2870200" y="19050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6B6B6B"/>
                </a:solidFill>
                <a:latin typeface="Inter" pitchFamily="34" charset="0"/>
                <a:ea typeface="Inter" pitchFamily="34" charset="-122"/>
                <a:cs typeface="Inter" pitchFamily="34" charset="-120"/>
              </a:rPr>
              <a:t>DEVELOPMENT ENVIRONMENT · NO PRODUCTION CONNECTION</a:t>
            </a:r>
            <a:endParaRPr lang="en-US" sz="1200" dirty="0"/>
          </a:p>
        </p:txBody>
      </p:sp>
      <p:sp>
        <p:nvSpPr>
          <p:cNvPr id="7" name="Shape 5"/>
          <p:cNvSpPr/>
          <p:nvPr/>
        </p:nvSpPr>
        <p:spPr>
          <a:xfrm>
            <a:off x="819150" y="2228850"/>
            <a:ext cx="1765300" cy="815631"/>
          </a:xfrm>
          <a:prstGeom prst="roundRect">
            <a:avLst>
              <a:gd name="adj" fmla="val 5450"/>
            </a:avLst>
          </a:prstGeom>
          <a:solidFill>
            <a:srgbClr val="FDECEE"/>
          </a:solidFill>
          <a:ln w="12700">
            <a:solidFill>
              <a:srgbClr val="EB0A1E"/>
            </a:solidFill>
            <a:prstDash val="solid"/>
          </a:ln>
        </p:spPr>
      </p:sp>
      <p:sp>
        <p:nvSpPr>
          <p:cNvPr id="8" name="Text 6"/>
          <p:cNvSpPr/>
          <p:nvPr/>
        </p:nvSpPr>
        <p:spPr>
          <a:xfrm>
            <a:off x="926253" y="2335950"/>
            <a:ext cx="1601893"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BSA / engineer</a:t>
            </a:r>
            <a:endParaRPr lang="en-US" sz="1200" dirty="0"/>
          </a:p>
        </p:txBody>
      </p:sp>
      <p:sp>
        <p:nvSpPr>
          <p:cNvPr id="9" name="Text 7"/>
          <p:cNvSpPr/>
          <p:nvPr/>
        </p:nvSpPr>
        <p:spPr>
          <a:xfrm>
            <a:off x="926253" y="2553357"/>
            <a:ext cx="1601893"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Web UI (React + TypeScript)</a:t>
            </a:r>
            <a:endParaRPr lang="en-US" sz="1200" dirty="0"/>
          </a:p>
        </p:txBody>
      </p:sp>
      <p:sp>
        <p:nvSpPr>
          <p:cNvPr id="10" name="Shape 8"/>
          <p:cNvSpPr/>
          <p:nvPr/>
        </p:nvSpPr>
        <p:spPr>
          <a:xfrm>
            <a:off x="812800" y="3200400"/>
            <a:ext cx="1778000" cy="804624"/>
          </a:xfrm>
          <a:prstGeom prst="roundRect">
            <a:avLst>
              <a:gd name="adj" fmla="val 6314"/>
            </a:avLst>
          </a:prstGeom>
          <a:solidFill>
            <a:srgbClr val="1A1A1A"/>
          </a:solidFill>
          <a:ln/>
        </p:spPr>
      </p:sp>
      <p:sp>
        <p:nvSpPr>
          <p:cNvPr id="11" name="Text 9"/>
          <p:cNvSpPr/>
          <p:nvPr/>
        </p:nvSpPr>
        <p:spPr>
          <a:xfrm>
            <a:off x="914400" y="3302000"/>
            <a:ext cx="162560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FFFFF"/>
                </a:solidFill>
                <a:latin typeface="Inter" pitchFamily="34" charset="0"/>
                <a:ea typeface="Inter" pitchFamily="34" charset="-122"/>
                <a:cs typeface="Inter" pitchFamily="34" charset="-120"/>
              </a:rPr>
              <a:t>SSO + PII screen</a:t>
            </a:r>
            <a:endParaRPr lang="en-US" sz="1200" dirty="0"/>
          </a:p>
        </p:txBody>
      </p:sp>
      <p:sp>
        <p:nvSpPr>
          <p:cNvPr id="12" name="Text 10"/>
          <p:cNvSpPr/>
          <p:nvPr/>
        </p:nvSpPr>
        <p:spPr>
          <a:xfrm>
            <a:off x="914400" y="3519407"/>
            <a:ext cx="1625600"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6"/>
                </a:solidFill>
                <a:latin typeface="Inter" pitchFamily="34" charset="0"/>
                <a:ea typeface="Inter" pitchFamily="34" charset="-122"/>
                <a:cs typeface="Inter" pitchFamily="34" charset="-120"/>
              </a:rPr>
              <a:t>Every input screened before use</a:t>
            </a:r>
            <a:endParaRPr lang="en-US" sz="1200" dirty="0"/>
          </a:p>
        </p:txBody>
      </p:sp>
      <p:sp>
        <p:nvSpPr>
          <p:cNvPr id="13" name="Shape 11"/>
          <p:cNvSpPr/>
          <p:nvPr/>
        </p:nvSpPr>
        <p:spPr>
          <a:xfrm>
            <a:off x="815975" y="4181475"/>
            <a:ext cx="1771650" cy="808434"/>
          </a:xfrm>
          <a:prstGeom prst="roundRect">
            <a:avLst>
              <a:gd name="adj" fmla="val 5891"/>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14" name="Text 12"/>
          <p:cNvSpPr/>
          <p:nvPr/>
        </p:nvSpPr>
        <p:spPr>
          <a:xfrm>
            <a:off x="919480" y="4284979"/>
            <a:ext cx="161544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OKF references</a:t>
            </a:r>
            <a:endParaRPr lang="en-US" sz="1200" dirty="0"/>
          </a:p>
        </p:txBody>
      </p:sp>
      <p:sp>
        <p:nvSpPr>
          <p:cNvPr id="15" name="Text 13"/>
          <p:cNvSpPr/>
          <p:nvPr/>
        </p:nvSpPr>
        <p:spPr>
          <a:xfrm>
            <a:off x="919480" y="4502386"/>
            <a:ext cx="1615440"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Glossary and domain contexts</a:t>
            </a:r>
            <a:endParaRPr lang="en-US" sz="1200" dirty="0"/>
          </a:p>
        </p:txBody>
      </p:sp>
      <p:sp>
        <p:nvSpPr>
          <p:cNvPr id="16" name="Shape 14"/>
          <p:cNvSpPr/>
          <p:nvPr/>
        </p:nvSpPr>
        <p:spPr>
          <a:xfrm>
            <a:off x="2873375" y="2225675"/>
            <a:ext cx="1708150" cy="1217851"/>
          </a:xfrm>
          <a:prstGeom prst="roundRect">
            <a:avLst>
              <a:gd name="adj" fmla="val 3911"/>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17" name="Text 15"/>
          <p:cNvSpPr/>
          <p:nvPr/>
        </p:nvSpPr>
        <p:spPr>
          <a:xfrm>
            <a:off x="2976880" y="2329179"/>
            <a:ext cx="1551940" cy="409416"/>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Intent Discovery Service</a:t>
            </a:r>
            <a:endParaRPr lang="en-US" sz="1200" dirty="0"/>
          </a:p>
        </p:txBody>
      </p:sp>
      <p:sp>
        <p:nvSpPr>
          <p:cNvPr id="18" name="Text 16"/>
          <p:cNvSpPr/>
          <p:nvPr/>
        </p:nvSpPr>
        <p:spPr>
          <a:xfrm>
            <a:off x="2976880" y="2763993"/>
            <a:ext cx="1551940" cy="60142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Python FastAPI + LangGraph; agent and IR manager</a:t>
            </a:r>
            <a:endParaRPr lang="en-US" sz="1200" dirty="0"/>
          </a:p>
        </p:txBody>
      </p:sp>
      <p:sp>
        <p:nvSpPr>
          <p:cNvPr id="19" name="Shape 17"/>
          <p:cNvSpPr/>
          <p:nvPr/>
        </p:nvSpPr>
        <p:spPr>
          <a:xfrm>
            <a:off x="2873375" y="3660775"/>
            <a:ext cx="1708150" cy="783034"/>
          </a:xfrm>
          <a:prstGeom prst="roundRect">
            <a:avLst>
              <a:gd name="adj" fmla="val 6082"/>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20" name="Text 18"/>
          <p:cNvSpPr/>
          <p:nvPr/>
        </p:nvSpPr>
        <p:spPr>
          <a:xfrm>
            <a:off x="2976880" y="3751579"/>
            <a:ext cx="155194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Dev-only storage</a:t>
            </a:r>
            <a:endParaRPr lang="en-US" sz="1200" dirty="0"/>
          </a:p>
        </p:txBody>
      </p:sp>
      <p:sp>
        <p:nvSpPr>
          <p:cNvPr id="21" name="Text 19"/>
          <p:cNvSpPr/>
          <p:nvPr/>
        </p:nvSpPr>
        <p:spPr>
          <a:xfrm>
            <a:off x="2976880" y="3968986"/>
            <a:ext cx="1551940"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SQLite · YAML files · ChromaDB</a:t>
            </a:r>
            <a:endParaRPr lang="en-US" sz="1200" dirty="0"/>
          </a:p>
        </p:txBody>
      </p:sp>
      <p:sp>
        <p:nvSpPr>
          <p:cNvPr id="22" name="Text 20"/>
          <p:cNvSpPr/>
          <p:nvPr/>
        </p:nvSpPr>
        <p:spPr>
          <a:xfrm>
            <a:off x="4908550" y="2228850"/>
            <a:ext cx="2146300" cy="380815"/>
          </a:xfrm>
          <a:prstGeom prst="roundRect">
            <a:avLst>
              <a:gd name="adj" fmla="val 11672"/>
            </a:avLst>
          </a:prstGeom>
          <a:solidFill>
            <a:srgbClr val="F0F0F0"/>
          </a:solidFill>
          <a:ln w="12700">
            <a:solidFill>
              <a:srgbClr val="58595B"/>
            </a:solidFill>
            <a:prstDash val="solid"/>
          </a:ln>
        </p:spPr>
        <p:txBody>
          <a:bodyPr wrap="square" lIns="94084" tIns="81384" rIns="36122" bIns="55984"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Event Storming (ESML)</a:t>
            </a:r>
            <a:endParaRPr lang="en-US" sz="1200" dirty="0"/>
          </a:p>
        </p:txBody>
      </p:sp>
      <p:sp>
        <p:nvSpPr>
          <p:cNvPr id="23" name="Text 21"/>
          <p:cNvSpPr/>
          <p:nvPr/>
        </p:nvSpPr>
        <p:spPr>
          <a:xfrm>
            <a:off x="5664200" y="2641600"/>
            <a:ext cx="635000" cy="229050"/>
          </a:xfrm>
          <a:custGeom>
            <a:avLst/>
            <a:gdLst/>
            <a:ahLst/>
            <a:cxnLst/>
            <a:rect l="l" t="t" r="r" b="b"/>
            <a:pathLst>
              <a:path w="635000" h="229050">
                <a:moveTo>
                  <a:pt x="114525" y="0"/>
                </a:moveTo>
                <a:lnTo>
                  <a:pt x="520475" y="0"/>
                </a:lnTo>
                <a:arcTo hR="114525" wR="114525" stAng="16200000" swAng="5400000"/>
                <a:lnTo>
                  <a:pt x="635000" y="114525"/>
                </a:lnTo>
                <a:arcTo hR="114525" wR="114525" stAng="0" swAng="5400000"/>
                <a:lnTo>
                  <a:pt x="114525" y="229050"/>
                </a:lnTo>
                <a:arcTo hR="114525" wR="114525" stAng="5400000" swAng="5400000"/>
                <a:lnTo>
                  <a:pt x="0" y="114525"/>
                </a:lnTo>
                <a:arcTo hR="114525" wR="114525" stAng="10800000" swAng="5400000"/>
                <a:close/>
              </a:path>
            </a:pathLst>
          </a:custGeom>
          <a:solidFill>
            <a:srgbClr val="1A1A1A"/>
          </a:solidFill>
          <a:ln/>
        </p:spPr>
        <p:txBody>
          <a:bodyPr wrap="square" lIns="0" tIns="0" rIns="0" bIns="0" rtlCol="0" anchor="t">
            <a:normAutofit/>
          </a:bodyPr>
          <a:lstStyle/>
          <a:p>
            <a:pPr algn="ctr" indent="0" marL="0">
              <a:lnSpc>
                <a:spcPts val="2004"/>
              </a:lnSpc>
              <a:buNone/>
            </a:pPr>
            <a:r>
              <a:rPr lang="en-US" sz="1200" dirty="0">
                <a:solidFill>
                  <a:srgbClr val="FFFFFF"/>
                </a:solidFill>
                <a:latin typeface="IBM Plex Mono" pitchFamily="49" charset="0"/>
                <a:ea typeface="IBM Plex Mono" pitchFamily="49" charset="-122"/>
                <a:cs typeface="IBM Plex Mono" pitchFamily="49" charset="-120"/>
              </a:rPr>
              <a:t>gate</a:t>
            </a:r>
            <a:endParaRPr lang="en-US" sz="1200" dirty="0"/>
          </a:p>
        </p:txBody>
      </p:sp>
      <p:sp>
        <p:nvSpPr>
          <p:cNvPr id="24" name="Text 22"/>
          <p:cNvSpPr/>
          <p:nvPr/>
        </p:nvSpPr>
        <p:spPr>
          <a:xfrm>
            <a:off x="4908550" y="2901950"/>
            <a:ext cx="2146300" cy="380815"/>
          </a:xfrm>
          <a:prstGeom prst="roundRect">
            <a:avLst>
              <a:gd name="adj" fmla="val 11672"/>
            </a:avLst>
          </a:prstGeom>
          <a:solidFill>
            <a:srgbClr val="F0F0F0"/>
          </a:solidFill>
          <a:ln w="12700">
            <a:solidFill>
              <a:srgbClr val="58595B"/>
            </a:solidFill>
            <a:prstDash val="solid"/>
          </a:ln>
        </p:spPr>
        <p:txBody>
          <a:bodyPr wrap="square" lIns="94084" tIns="81384" rIns="36122" bIns="55984"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Domain model (DMML)</a:t>
            </a:r>
            <a:endParaRPr lang="en-US" sz="1200" dirty="0"/>
          </a:p>
        </p:txBody>
      </p:sp>
      <p:sp>
        <p:nvSpPr>
          <p:cNvPr id="25" name="Text 23"/>
          <p:cNvSpPr/>
          <p:nvPr/>
        </p:nvSpPr>
        <p:spPr>
          <a:xfrm>
            <a:off x="5664200" y="3314700"/>
            <a:ext cx="635000" cy="229050"/>
          </a:xfrm>
          <a:custGeom>
            <a:avLst/>
            <a:gdLst/>
            <a:ahLst/>
            <a:cxnLst/>
            <a:rect l="l" t="t" r="r" b="b"/>
            <a:pathLst>
              <a:path w="635000" h="229050">
                <a:moveTo>
                  <a:pt x="114525" y="0"/>
                </a:moveTo>
                <a:lnTo>
                  <a:pt x="520475" y="0"/>
                </a:lnTo>
                <a:arcTo hR="114525" wR="114525" stAng="16200000" swAng="5400000"/>
                <a:lnTo>
                  <a:pt x="635000" y="114525"/>
                </a:lnTo>
                <a:arcTo hR="114525" wR="114525" stAng="0" swAng="5400000"/>
                <a:lnTo>
                  <a:pt x="114525" y="229050"/>
                </a:lnTo>
                <a:arcTo hR="114525" wR="114525" stAng="5400000" swAng="5400000"/>
                <a:lnTo>
                  <a:pt x="0" y="114525"/>
                </a:lnTo>
                <a:arcTo hR="114525" wR="114525" stAng="10800000" swAng="5400000"/>
                <a:close/>
              </a:path>
            </a:pathLst>
          </a:custGeom>
          <a:solidFill>
            <a:srgbClr val="1A1A1A"/>
          </a:solidFill>
          <a:ln/>
        </p:spPr>
        <p:txBody>
          <a:bodyPr wrap="square" lIns="0" tIns="0" rIns="0" bIns="0" rtlCol="0" anchor="t">
            <a:normAutofit/>
          </a:bodyPr>
          <a:lstStyle/>
          <a:p>
            <a:pPr algn="ctr" indent="0" marL="0">
              <a:lnSpc>
                <a:spcPts val="2004"/>
              </a:lnSpc>
              <a:buNone/>
            </a:pPr>
            <a:r>
              <a:rPr lang="en-US" sz="1200" dirty="0">
                <a:solidFill>
                  <a:srgbClr val="FFFFFF"/>
                </a:solidFill>
                <a:latin typeface="IBM Plex Mono" pitchFamily="49" charset="0"/>
                <a:ea typeface="IBM Plex Mono" pitchFamily="49" charset="-122"/>
                <a:cs typeface="IBM Plex Mono" pitchFamily="49" charset="-120"/>
              </a:rPr>
              <a:t>gate</a:t>
            </a:r>
            <a:endParaRPr lang="en-US" sz="1200" dirty="0"/>
          </a:p>
        </p:txBody>
      </p:sp>
      <p:sp>
        <p:nvSpPr>
          <p:cNvPr id="26" name="Text 24"/>
          <p:cNvSpPr/>
          <p:nvPr/>
        </p:nvSpPr>
        <p:spPr>
          <a:xfrm>
            <a:off x="4908550" y="3575050"/>
            <a:ext cx="2146300" cy="380815"/>
          </a:xfrm>
          <a:prstGeom prst="roundRect">
            <a:avLst>
              <a:gd name="adj" fmla="val 11672"/>
            </a:avLst>
          </a:prstGeom>
          <a:solidFill>
            <a:srgbClr val="F0F0F0"/>
          </a:solidFill>
          <a:ln w="12700">
            <a:solidFill>
              <a:srgbClr val="58595B"/>
            </a:solidFill>
            <a:prstDash val="solid"/>
          </a:ln>
        </p:spPr>
        <p:txBody>
          <a:bodyPr wrap="square" lIns="94084" tIns="81384" rIns="36122" bIns="55984"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Intent Registry (IR)</a:t>
            </a:r>
            <a:endParaRPr lang="en-US" sz="1200" dirty="0"/>
          </a:p>
        </p:txBody>
      </p:sp>
      <p:sp>
        <p:nvSpPr>
          <p:cNvPr id="27" name="Text 25"/>
          <p:cNvSpPr/>
          <p:nvPr/>
        </p:nvSpPr>
        <p:spPr>
          <a:xfrm>
            <a:off x="5664200" y="3987800"/>
            <a:ext cx="635000" cy="229050"/>
          </a:xfrm>
          <a:custGeom>
            <a:avLst/>
            <a:gdLst/>
            <a:ahLst/>
            <a:cxnLst/>
            <a:rect l="l" t="t" r="r" b="b"/>
            <a:pathLst>
              <a:path w="635000" h="229050">
                <a:moveTo>
                  <a:pt x="114525" y="0"/>
                </a:moveTo>
                <a:lnTo>
                  <a:pt x="520475" y="0"/>
                </a:lnTo>
                <a:arcTo hR="114525" wR="114525" stAng="16200000" swAng="5400000"/>
                <a:lnTo>
                  <a:pt x="635000" y="114525"/>
                </a:lnTo>
                <a:arcTo hR="114525" wR="114525" stAng="0" swAng="5400000"/>
                <a:lnTo>
                  <a:pt x="114525" y="229050"/>
                </a:lnTo>
                <a:arcTo hR="114525" wR="114525" stAng="5400000" swAng="5400000"/>
                <a:lnTo>
                  <a:pt x="0" y="114525"/>
                </a:lnTo>
                <a:arcTo hR="114525" wR="114525" stAng="10800000" swAng="5400000"/>
                <a:close/>
              </a:path>
            </a:pathLst>
          </a:custGeom>
          <a:solidFill>
            <a:srgbClr val="1A1A1A"/>
          </a:solidFill>
          <a:ln/>
        </p:spPr>
        <p:txBody>
          <a:bodyPr wrap="square" lIns="0" tIns="0" rIns="0" bIns="0" rtlCol="0" anchor="t">
            <a:normAutofit/>
          </a:bodyPr>
          <a:lstStyle/>
          <a:p>
            <a:pPr algn="ctr" indent="0" marL="0">
              <a:lnSpc>
                <a:spcPts val="2004"/>
              </a:lnSpc>
              <a:buNone/>
            </a:pPr>
            <a:r>
              <a:rPr lang="en-US" sz="1200" dirty="0">
                <a:solidFill>
                  <a:srgbClr val="FFFFFF"/>
                </a:solidFill>
                <a:latin typeface="IBM Plex Mono" pitchFamily="49" charset="0"/>
                <a:ea typeface="IBM Plex Mono" pitchFamily="49" charset="-122"/>
                <a:cs typeface="IBM Plex Mono" pitchFamily="49" charset="-120"/>
              </a:rPr>
              <a:t>gate</a:t>
            </a:r>
            <a:endParaRPr lang="en-US" sz="1200" dirty="0"/>
          </a:p>
        </p:txBody>
      </p:sp>
      <p:sp>
        <p:nvSpPr>
          <p:cNvPr id="28" name="Shape 26"/>
          <p:cNvSpPr/>
          <p:nvPr/>
        </p:nvSpPr>
        <p:spPr>
          <a:xfrm>
            <a:off x="7385050" y="2228850"/>
            <a:ext cx="1765300" cy="623623"/>
          </a:xfrm>
          <a:prstGeom prst="roundRect">
            <a:avLst>
              <a:gd name="adj" fmla="val 7128"/>
            </a:avLst>
          </a:prstGeom>
          <a:solidFill>
            <a:srgbClr val="F0F0F0"/>
          </a:solidFill>
          <a:ln w="12700">
            <a:solidFill>
              <a:srgbClr val="58595B"/>
            </a:solidFill>
            <a:prstDash val="solid"/>
          </a:ln>
        </p:spPr>
      </p:sp>
      <p:sp>
        <p:nvSpPr>
          <p:cNvPr id="29" name="Text 27"/>
          <p:cNvSpPr/>
          <p:nvPr/>
        </p:nvSpPr>
        <p:spPr>
          <a:xfrm>
            <a:off x="7492154" y="2335950"/>
            <a:ext cx="1601893"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Red Team</a:t>
            </a:r>
            <a:endParaRPr lang="en-US" sz="1200" dirty="0"/>
          </a:p>
        </p:txBody>
      </p:sp>
      <p:sp>
        <p:nvSpPr>
          <p:cNvPr id="30" name="Text 28"/>
          <p:cNvSpPr/>
          <p:nvPr/>
        </p:nvSpPr>
        <p:spPr>
          <a:xfrm>
            <a:off x="7492154" y="2553357"/>
            <a:ext cx="1613747"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Adversarial LLM review</a:t>
            </a:r>
            <a:endParaRPr lang="en-US" sz="1200" dirty="0"/>
          </a:p>
        </p:txBody>
      </p:sp>
      <p:sp>
        <p:nvSpPr>
          <p:cNvPr id="31" name="Shape 29"/>
          <p:cNvSpPr/>
          <p:nvPr/>
        </p:nvSpPr>
        <p:spPr>
          <a:xfrm>
            <a:off x="7385050" y="3371850"/>
            <a:ext cx="1765300" cy="815631"/>
          </a:xfrm>
          <a:prstGeom prst="roundRect">
            <a:avLst>
              <a:gd name="adj" fmla="val 5450"/>
            </a:avLst>
          </a:prstGeom>
          <a:solidFill>
            <a:srgbClr val="FDECEE"/>
          </a:solidFill>
          <a:ln w="12700">
            <a:solidFill>
              <a:srgbClr val="EB0A1E"/>
            </a:solidFill>
            <a:prstDash val="solid"/>
          </a:ln>
        </p:spPr>
      </p:sp>
      <p:sp>
        <p:nvSpPr>
          <p:cNvPr id="32" name="Text 30"/>
          <p:cNvSpPr/>
          <p:nvPr/>
        </p:nvSpPr>
        <p:spPr>
          <a:xfrm>
            <a:off x="7492154" y="3478950"/>
            <a:ext cx="1601893"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Approval gate</a:t>
            </a:r>
            <a:endParaRPr lang="en-US" sz="1200" dirty="0"/>
          </a:p>
        </p:txBody>
      </p:sp>
      <p:sp>
        <p:nvSpPr>
          <p:cNvPr id="33" name="Text 31"/>
          <p:cNvSpPr/>
          <p:nvPr/>
        </p:nvSpPr>
        <p:spPr>
          <a:xfrm>
            <a:off x="7492154" y="3696357"/>
            <a:ext cx="1601893"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IR Author and domain SME both approve</a:t>
            </a:r>
            <a:endParaRPr lang="en-US" sz="1200" dirty="0"/>
          </a:p>
        </p:txBody>
      </p:sp>
      <p:sp>
        <p:nvSpPr>
          <p:cNvPr id="34" name="Shape 32"/>
          <p:cNvSpPr/>
          <p:nvPr/>
        </p:nvSpPr>
        <p:spPr>
          <a:xfrm>
            <a:off x="9474201" y="2222500"/>
            <a:ext cx="1778000" cy="804624"/>
          </a:xfrm>
          <a:prstGeom prst="roundRect">
            <a:avLst>
              <a:gd name="adj" fmla="val 6314"/>
            </a:avLst>
          </a:prstGeom>
          <a:solidFill>
            <a:srgbClr val="1A1A1A"/>
          </a:solidFill>
          <a:ln/>
        </p:spPr>
      </p:sp>
      <p:sp>
        <p:nvSpPr>
          <p:cNvPr id="35" name="Text 33"/>
          <p:cNvSpPr/>
          <p:nvPr/>
        </p:nvSpPr>
        <p:spPr>
          <a:xfrm>
            <a:off x="9575801" y="2324100"/>
            <a:ext cx="162560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FFFFF"/>
                </a:solidFill>
                <a:latin typeface="Inter" pitchFamily="34" charset="0"/>
                <a:ea typeface="Inter" pitchFamily="34" charset="-122"/>
                <a:cs typeface="Inter" pitchFamily="34" charset="-120"/>
              </a:rPr>
              <a:t>Generate</a:t>
            </a:r>
            <a:endParaRPr lang="en-US" sz="1200" dirty="0"/>
          </a:p>
        </p:txBody>
      </p:sp>
      <p:sp>
        <p:nvSpPr>
          <p:cNvPr id="36" name="Text 34"/>
          <p:cNvSpPr/>
          <p:nvPr/>
        </p:nvSpPr>
        <p:spPr>
          <a:xfrm>
            <a:off x="9575801" y="2541507"/>
            <a:ext cx="1625600"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6"/>
                </a:solidFill>
                <a:latin typeface="Inter" pitchFamily="34" charset="0"/>
                <a:ea typeface="Inter" pitchFamily="34" charset="-122"/>
                <a:cs typeface="Inter" pitchFamily="34" charset="-120"/>
              </a:rPr>
              <a:t>Diagrams and handoff pack</a:t>
            </a:r>
            <a:endParaRPr lang="en-US" sz="1200" dirty="0"/>
          </a:p>
        </p:txBody>
      </p:sp>
      <p:sp>
        <p:nvSpPr>
          <p:cNvPr id="37" name="Shape 35"/>
          <p:cNvSpPr/>
          <p:nvPr/>
        </p:nvSpPr>
        <p:spPr>
          <a:xfrm>
            <a:off x="9480551" y="3371850"/>
            <a:ext cx="1765300" cy="1007639"/>
          </a:xfrm>
          <a:prstGeom prst="roundRect">
            <a:avLst>
              <a:gd name="adj" fmla="val 4411"/>
            </a:avLst>
          </a:prstGeom>
          <a:solidFill>
            <a:srgbClr val="FFFFFF"/>
          </a:solidFill>
          <a:ln w="12700">
            <a:solidFill>
              <a:srgbClr val="1A1A1A"/>
            </a:solidFill>
            <a:prstDash val="solid"/>
          </a:ln>
        </p:spPr>
      </p:sp>
      <p:sp>
        <p:nvSpPr>
          <p:cNvPr id="38" name="Text 36"/>
          <p:cNvSpPr/>
          <p:nvPr/>
        </p:nvSpPr>
        <p:spPr>
          <a:xfrm>
            <a:off x="9587654" y="3478950"/>
            <a:ext cx="1601893"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A1A1A"/>
                </a:solidFill>
                <a:latin typeface="IBM Plex Mono" pitchFamily="49" charset="0"/>
                <a:ea typeface="IBM Plex Mono" pitchFamily="49" charset="-122"/>
                <a:cs typeface="IBM Plex Mono" pitchFamily="49" charset="-120"/>
              </a:rPr>
              <a:t>specs/</a:t>
            </a:r>
            <a:endParaRPr lang="en-US" sz="1200" dirty="0"/>
          </a:p>
          <a:p>
            <a:pPr algn="l" indent="0" marL="0">
              <a:lnSpc>
                <a:spcPts val="1680"/>
              </a:lnSpc>
              <a:buNone/>
            </a:pPr>
            <a:r>
              <a:rPr lang="en-US" sz="1200" dirty="0">
                <a:solidFill>
                  <a:srgbClr val="1A1A1A"/>
                </a:solidFill>
                <a:latin typeface="IBM Plex Mono" pitchFamily="49" charset="0"/>
                <a:ea typeface="IBM Plex Mono" pitchFamily="49" charset="-122"/>
                <a:cs typeface="IBM Plex Mono" pitchFamily="49" charset="-120"/>
              </a:rPr>
              <a:t>&lt;feature-slug&gt;/</a:t>
            </a:r>
            <a:endParaRPr lang="en-US" sz="1200" dirty="0"/>
          </a:p>
        </p:txBody>
      </p:sp>
      <p:sp>
        <p:nvSpPr>
          <p:cNvPr id="39" name="Text 37"/>
          <p:cNvSpPr/>
          <p:nvPr/>
        </p:nvSpPr>
        <p:spPr>
          <a:xfrm>
            <a:off x="9587654" y="3888370"/>
            <a:ext cx="1601893"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Versioned Markdown and YAML</a:t>
            </a:r>
            <a:endParaRPr lang="en-US" sz="1200" dirty="0"/>
          </a:p>
        </p:txBody>
      </p:sp>
      <p:sp>
        <p:nvSpPr>
          <p:cNvPr id="40" name="Shape 38"/>
          <p:cNvSpPr/>
          <p:nvPr/>
        </p:nvSpPr>
        <p:spPr>
          <a:xfrm>
            <a:off x="2876550" y="4730750"/>
            <a:ext cx="6273800" cy="522023"/>
          </a:xfrm>
          <a:prstGeom prst="roundRect">
            <a:avLst>
              <a:gd name="adj" fmla="val 8515"/>
            </a:avLst>
          </a:prstGeom>
          <a:solidFill>
            <a:srgbClr val="F0F0F0"/>
          </a:solidFill>
          <a:ln w="12700">
            <a:solidFill>
              <a:srgbClr val="58595B"/>
            </a:solidFill>
            <a:prstDash val="solid"/>
          </a:ln>
        </p:spPr>
      </p:sp>
      <p:sp>
        <p:nvSpPr>
          <p:cNvPr id="41" name="Text 39"/>
          <p:cNvSpPr/>
          <p:nvPr/>
        </p:nvSpPr>
        <p:spPr>
          <a:xfrm>
            <a:off x="3009054" y="4895745"/>
            <a:ext cx="1203008" cy="217408"/>
          </a:xfrm>
          <a:prstGeom prst="rect">
            <a:avLst/>
          </a:prstGeom>
          <a:noFill/>
          <a:ln/>
        </p:spPr>
        <p:txBody>
          <a:bodyPr wrap="non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AWS Bedrock Runtime</a:t>
            </a:r>
            <a:endParaRPr lang="en-US" sz="1200" dirty="0"/>
          </a:p>
        </p:txBody>
      </p:sp>
      <p:sp>
        <p:nvSpPr>
          <p:cNvPr id="42" name="Text 40"/>
          <p:cNvSpPr/>
          <p:nvPr/>
        </p:nvSpPr>
        <p:spPr>
          <a:xfrm>
            <a:off x="4313661" y="4799750"/>
            <a:ext cx="4845312"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Claude primary (Sonnet, Opus); OpenAI as approved alternate; Guardrails on input and output</a:t>
            </a:r>
            <a:endParaRPr lang="en-US" sz="1200" dirty="0"/>
          </a:p>
        </p:txBody>
      </p:sp>
      <p:sp>
        <p:nvSpPr>
          <p:cNvPr id="43" name="Shape 41"/>
          <p:cNvSpPr/>
          <p:nvPr/>
        </p:nvSpPr>
        <p:spPr>
          <a:xfrm>
            <a:off x="9480551" y="4743183"/>
            <a:ext cx="127000" cy="127000"/>
          </a:xfrm>
          <a:prstGeom prst="roundRect">
            <a:avLst>
              <a:gd name="adj" fmla="val 15000"/>
            </a:avLst>
          </a:prstGeom>
          <a:solidFill>
            <a:srgbClr val="F0F0F0"/>
          </a:solidFill>
          <a:ln w="12700">
            <a:solidFill>
              <a:srgbClr val="58595B"/>
            </a:solidFill>
            <a:prstDash val="solid"/>
          </a:ln>
        </p:spPr>
      </p:sp>
      <p:sp>
        <p:nvSpPr>
          <p:cNvPr id="44" name="Text 42"/>
          <p:cNvSpPr/>
          <p:nvPr/>
        </p:nvSpPr>
        <p:spPr>
          <a:xfrm>
            <a:off x="9690101" y="4724400"/>
            <a:ext cx="1041082" cy="189971"/>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58595B"/>
                </a:solidFill>
                <a:latin typeface="Inter" pitchFamily="34" charset="0"/>
                <a:ea typeface="Inter" pitchFamily="34" charset="-122"/>
                <a:cs typeface="Inter" pitchFamily="34" charset="-120"/>
              </a:rPr>
              <a:t>AI (LLM) step</a:t>
            </a:r>
            <a:endParaRPr lang="en-US" sz="1200" dirty="0"/>
          </a:p>
        </p:txBody>
      </p:sp>
      <p:sp>
        <p:nvSpPr>
          <p:cNvPr id="45" name="Shape 43"/>
          <p:cNvSpPr/>
          <p:nvPr/>
        </p:nvSpPr>
        <p:spPr>
          <a:xfrm>
            <a:off x="9474201" y="5009090"/>
            <a:ext cx="139700" cy="139700"/>
          </a:xfrm>
          <a:prstGeom prst="roundRect">
            <a:avLst>
              <a:gd name="adj" fmla="val 18182"/>
            </a:avLst>
          </a:prstGeom>
          <a:solidFill>
            <a:srgbClr val="1A1A1A"/>
          </a:solidFill>
          <a:ln/>
        </p:spPr>
      </p:sp>
      <p:sp>
        <p:nvSpPr>
          <p:cNvPr id="46" name="Text 44"/>
          <p:cNvSpPr/>
          <p:nvPr/>
        </p:nvSpPr>
        <p:spPr>
          <a:xfrm>
            <a:off x="9690101" y="4914367"/>
            <a:ext cx="1739900" cy="354542"/>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58595B"/>
                </a:solidFill>
                <a:latin typeface="Inter" pitchFamily="34" charset="0"/>
                <a:ea typeface="Inter" pitchFamily="34" charset="-122"/>
                <a:cs typeface="Inter" pitchFamily="34" charset="-120"/>
              </a:rPr>
              <a:t>Deterministic code or control</a:t>
            </a:r>
            <a:endParaRPr lang="en-US" sz="1200" dirty="0"/>
          </a:p>
        </p:txBody>
      </p:sp>
      <p:sp>
        <p:nvSpPr>
          <p:cNvPr id="47" name="Shape 45"/>
          <p:cNvSpPr/>
          <p:nvPr/>
        </p:nvSpPr>
        <p:spPr>
          <a:xfrm>
            <a:off x="9480551" y="5287696"/>
            <a:ext cx="127000" cy="127000"/>
          </a:xfrm>
          <a:prstGeom prst="roundRect">
            <a:avLst>
              <a:gd name="adj" fmla="val 15000"/>
            </a:avLst>
          </a:prstGeom>
          <a:solidFill>
            <a:srgbClr val="FDECEE"/>
          </a:solidFill>
          <a:ln w="12700">
            <a:solidFill>
              <a:srgbClr val="EB0A1E"/>
            </a:solidFill>
            <a:prstDash val="solid"/>
          </a:ln>
        </p:spPr>
      </p:sp>
      <p:sp>
        <p:nvSpPr>
          <p:cNvPr id="48" name="Text 46"/>
          <p:cNvSpPr/>
          <p:nvPr/>
        </p:nvSpPr>
        <p:spPr>
          <a:xfrm>
            <a:off x="9690101" y="5268913"/>
            <a:ext cx="1253109" cy="189971"/>
          </a:xfrm>
          <a:prstGeom prst="rect">
            <a:avLst/>
          </a:prstGeom>
          <a:noFill/>
          <a:ln/>
        </p:spPr>
        <p:txBody>
          <a:bodyPr wrap="square" lIns="0" tIns="0" rIns="0" bIns="0" rtlCol="0" anchor="t">
            <a:normAutofit/>
          </a:bodyPr>
          <a:lstStyle/>
          <a:p>
            <a:pPr algn="l" indent="0" marL="0">
              <a:lnSpc>
                <a:spcPts val="1440"/>
              </a:lnSpc>
              <a:buNone/>
            </a:pPr>
            <a:r>
              <a:rPr lang="en-US" sz="1200" dirty="0">
                <a:solidFill>
                  <a:srgbClr val="58595B"/>
                </a:solidFill>
                <a:latin typeface="Inter" pitchFamily="34" charset="0"/>
                <a:ea typeface="Inter" pitchFamily="34" charset="-122"/>
                <a:cs typeface="Inter" pitchFamily="34" charset="-120"/>
              </a:rPr>
              <a:t>Human decision</a:t>
            </a:r>
            <a:endParaRPr lang="en-US" sz="1200" dirty="0"/>
          </a:p>
        </p:txBody>
      </p:sp>
      <p:sp>
        <p:nvSpPr>
          <p:cNvPr id="49" name="Shape 47"/>
          <p:cNvSpPr/>
          <p:nvPr/>
        </p:nvSpPr>
        <p:spPr>
          <a:xfrm>
            <a:off x="815975" y="5451475"/>
            <a:ext cx="10560051" cy="297418"/>
          </a:xfrm>
          <a:prstGeom prst="roundRect">
            <a:avLst>
              <a:gd name="adj" fmla="val 16013"/>
            </a:avLst>
          </a:prstGeom>
          <a:solidFill>
            <a:srgbClr val="FDECEE"/>
          </a:solidFill>
          <a:ln w="6350">
            <a:solidFill>
              <a:srgbClr val="F5B5BC"/>
            </a:solidFill>
            <a:prstDash val="solid"/>
          </a:ln>
        </p:spPr>
      </p:sp>
      <p:sp>
        <p:nvSpPr>
          <p:cNvPr id="50" name="Text 48"/>
          <p:cNvSpPr/>
          <p:nvPr/>
        </p:nvSpPr>
        <p:spPr>
          <a:xfrm>
            <a:off x="970280" y="5504179"/>
            <a:ext cx="1357127" cy="217408"/>
          </a:xfrm>
          <a:prstGeom prst="rect">
            <a:avLst/>
          </a:prstGeom>
          <a:noFill/>
          <a:ln/>
        </p:spPr>
        <p:txBody>
          <a:bodyPr wrap="non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OUT OF BOUNDS</a:t>
            </a:r>
            <a:endParaRPr lang="en-US" sz="1200" dirty="0"/>
          </a:p>
        </p:txBody>
      </p:sp>
      <p:sp>
        <p:nvSpPr>
          <p:cNvPr id="51" name="Text 49"/>
          <p:cNvSpPr/>
          <p:nvPr/>
        </p:nvSpPr>
        <p:spPr>
          <a:xfrm>
            <a:off x="2429007" y="5504179"/>
            <a:ext cx="8943843"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A1A1A"/>
                </a:solidFill>
                <a:latin typeface="Inter" pitchFamily="34" charset="0"/>
                <a:ea typeface="Inter" pitchFamily="34" charset="-122"/>
                <a:cs typeface="Inter" pitchFamily="34" charset="-120"/>
              </a:rPr>
              <a:t>Personal Data · production or customer data · public GenAI endpoints · source-code generation · autonomous approval or publication</a:t>
            </a:r>
            <a:endParaRPr lang="en-US" sz="1200" dirty="0"/>
          </a:p>
        </p:txBody>
      </p:sp>
      <p:pic>
        <p:nvPicPr>
          <p:cNvPr id="52" name="Image 0" descr="connector">    </p:cNvPr>
          <p:cNvPicPr>
            <a:picLocks noChangeAspect="1"/>
          </p:cNvPicPr>
          <p:nvPr/>
        </p:nvPicPr>
        <p:blipFill>
          <a:blip r:embed="rId1"/>
          <a:srcRect l="0" r="0" t="0" b="0"/>
          <a:stretch/>
        </p:blipFill>
        <p:spPr>
          <a:xfrm>
            <a:off x="1651000" y="3048000"/>
            <a:ext cx="101600" cy="203200"/>
          </a:xfrm>
          <a:prstGeom prst="rect">
            <a:avLst/>
          </a:prstGeom>
        </p:spPr>
      </p:pic>
      <p:pic>
        <p:nvPicPr>
          <p:cNvPr id="53" name="Image 1" descr="connector">    </p:cNvPr>
          <p:cNvPicPr>
            <a:picLocks noChangeAspect="1"/>
          </p:cNvPicPr>
          <p:nvPr/>
        </p:nvPicPr>
        <p:blipFill>
          <a:blip r:embed="rId2"/>
          <a:srcRect l="0" r="0" t="0" b="0"/>
          <a:stretch/>
        </p:blipFill>
        <p:spPr>
          <a:xfrm>
            <a:off x="2540000" y="2838450"/>
            <a:ext cx="381000" cy="850900"/>
          </a:xfrm>
          <a:prstGeom prst="rect">
            <a:avLst/>
          </a:prstGeom>
        </p:spPr>
      </p:pic>
      <p:pic>
        <p:nvPicPr>
          <p:cNvPr id="54" name="Image 2" descr="connector">    </p:cNvPr>
          <p:cNvPicPr>
            <a:picLocks noChangeAspect="1"/>
          </p:cNvPicPr>
          <p:nvPr/>
        </p:nvPicPr>
        <p:blipFill>
          <a:blip r:embed="rId3"/>
          <a:srcRect l="0" r="0" t="0" b="0"/>
          <a:stretch/>
        </p:blipFill>
        <p:spPr>
          <a:xfrm>
            <a:off x="2540000" y="4330700"/>
            <a:ext cx="381000" cy="101600"/>
          </a:xfrm>
          <a:prstGeom prst="rect">
            <a:avLst/>
          </a:prstGeom>
        </p:spPr>
      </p:pic>
      <p:pic>
        <p:nvPicPr>
          <p:cNvPr id="55" name="Image 3" descr="connector">    </p:cNvPr>
          <p:cNvPicPr>
            <a:picLocks noChangeAspect="1"/>
          </p:cNvPicPr>
          <p:nvPr/>
        </p:nvPicPr>
        <p:blipFill>
          <a:blip r:embed="rId4"/>
          <a:srcRect l="0" r="0" t="0" b="0"/>
          <a:stretch/>
        </p:blipFill>
        <p:spPr>
          <a:xfrm>
            <a:off x="4533900" y="2381250"/>
            <a:ext cx="419100" cy="101600"/>
          </a:xfrm>
          <a:prstGeom prst="rect">
            <a:avLst/>
          </a:prstGeom>
        </p:spPr>
      </p:pic>
      <p:pic>
        <p:nvPicPr>
          <p:cNvPr id="56" name="Image 4" descr="connector">    </p:cNvPr>
          <p:cNvPicPr>
            <a:picLocks noChangeAspect="1"/>
          </p:cNvPicPr>
          <p:nvPr/>
        </p:nvPicPr>
        <p:blipFill>
          <a:blip r:embed="rId5"/>
          <a:srcRect l="0" r="0" t="0" b="0"/>
          <a:stretch/>
        </p:blipFill>
        <p:spPr>
          <a:xfrm>
            <a:off x="6248400" y="4064000"/>
            <a:ext cx="1022350" cy="101600"/>
          </a:xfrm>
          <a:prstGeom prst="rect">
            <a:avLst/>
          </a:prstGeom>
        </p:spPr>
      </p:pic>
      <p:pic>
        <p:nvPicPr>
          <p:cNvPr id="57" name="Image 5" descr="connector">    </p:cNvPr>
          <p:cNvPicPr>
            <a:picLocks noChangeAspect="1"/>
          </p:cNvPicPr>
          <p:nvPr/>
        </p:nvPicPr>
        <p:blipFill>
          <a:blip r:embed="rId6"/>
          <a:srcRect l="0" r="0" t="0" b="0"/>
          <a:stretch/>
        </p:blipFill>
        <p:spPr>
          <a:xfrm>
            <a:off x="7169150" y="2616200"/>
            <a:ext cx="260350" cy="1549400"/>
          </a:xfrm>
          <a:prstGeom prst="rect">
            <a:avLst/>
          </a:prstGeom>
        </p:spPr>
      </p:pic>
      <p:pic>
        <p:nvPicPr>
          <p:cNvPr id="58" name="Image 6" descr="connector">    </p:cNvPr>
          <p:cNvPicPr>
            <a:picLocks noChangeAspect="1"/>
          </p:cNvPicPr>
          <p:nvPr/>
        </p:nvPicPr>
        <p:blipFill>
          <a:blip r:embed="rId7"/>
          <a:srcRect l="0" r="0" t="0" b="0"/>
          <a:stretch/>
        </p:blipFill>
        <p:spPr>
          <a:xfrm>
            <a:off x="8216901" y="3067050"/>
            <a:ext cx="101600" cy="349250"/>
          </a:xfrm>
          <a:prstGeom prst="rect">
            <a:avLst/>
          </a:prstGeom>
        </p:spPr>
      </p:pic>
      <p:pic>
        <p:nvPicPr>
          <p:cNvPr id="59" name="Image 7" descr="connector">    </p:cNvPr>
          <p:cNvPicPr>
            <a:picLocks noChangeAspect="1"/>
          </p:cNvPicPr>
          <p:nvPr/>
        </p:nvPicPr>
        <p:blipFill>
          <a:blip r:embed="rId8"/>
          <a:srcRect l="0" r="0" t="0" b="0"/>
          <a:stretch/>
        </p:blipFill>
        <p:spPr>
          <a:xfrm>
            <a:off x="9105901" y="2616200"/>
            <a:ext cx="419100" cy="1352550"/>
          </a:xfrm>
          <a:prstGeom prst="rect">
            <a:avLst/>
          </a:prstGeom>
        </p:spPr>
      </p:pic>
      <p:pic>
        <p:nvPicPr>
          <p:cNvPr id="60" name="Image 8" descr="connector">    </p:cNvPr>
          <p:cNvPicPr>
            <a:picLocks noChangeAspect="1"/>
          </p:cNvPicPr>
          <p:nvPr/>
        </p:nvPicPr>
        <p:blipFill>
          <a:blip r:embed="rId9"/>
          <a:srcRect l="0" r="0" t="0" b="0"/>
          <a:stretch/>
        </p:blipFill>
        <p:spPr>
          <a:xfrm>
            <a:off x="10312401" y="3067050"/>
            <a:ext cx="101600" cy="349250"/>
          </a:xfrm>
          <a:prstGeom prst="rect">
            <a:avLst/>
          </a:prstGeom>
        </p:spPr>
      </p:pic>
      <p:pic>
        <p:nvPicPr>
          <p:cNvPr id="61" name="Image 9" descr="connector">    </p:cNvPr>
          <p:cNvPicPr>
            <a:picLocks noChangeAspect="1"/>
          </p:cNvPicPr>
          <p:nvPr/>
        </p:nvPicPr>
        <p:blipFill>
          <a:blip r:embed="rId10"/>
          <a:srcRect l="0" r="0" t="0" b="0"/>
          <a:stretch/>
        </p:blipFill>
        <p:spPr>
          <a:xfrm>
            <a:off x="4533900" y="3251200"/>
            <a:ext cx="260350" cy="1524000"/>
          </a:xfrm>
          <a:prstGeom prst="rect">
            <a:avLst/>
          </a:prstGeom>
        </p:spPr>
      </p:pic>
      <p:pic>
        <p:nvPicPr>
          <p:cNvPr id="62" name="Image 10" descr="connector">    </p:cNvPr>
          <p:cNvPicPr>
            <a:picLocks noChangeAspect="1"/>
          </p:cNvPicPr>
          <p:nvPr/>
        </p:nvPicPr>
        <p:blipFill>
          <a:blip r:embed="rId11"/>
          <a:srcRect l="0" r="0" t="0" b="0"/>
          <a:stretch/>
        </p:blipFill>
        <p:spPr>
          <a:xfrm>
            <a:off x="5029200" y="3937000"/>
            <a:ext cx="101600" cy="838200"/>
          </a:xfrm>
          <a:prstGeom prst="rect">
            <a:avLst/>
          </a:prstGeom>
        </p:spPr>
      </p:pic>
      <p:sp>
        <p:nvSpPr>
          <p:cNvPr id="63" name="Text 50"/>
          <p:cNvSpPr/>
          <p:nvPr/>
        </p:nvSpPr>
        <p:spPr>
          <a:xfrm>
            <a:off x="812800" y="6259593"/>
            <a:ext cx="784860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Inter" pitchFamily="34" charset="0"/>
                <a:ea typeface="Inter" pitchFamily="34" charset="-122"/>
                <a:cs typeface="Inter" pitchFamily="34" charset="-120"/>
              </a:rPr>
              <a:t>Proof of concept proposal · Policy CP6.55</a:t>
            </a:r>
            <a:endParaRPr lang="en-US" sz="1200" dirty="0"/>
          </a:p>
        </p:txBody>
      </p:sp>
      <p:sp>
        <p:nvSpPr>
          <p:cNvPr id="64" name="Text 51"/>
          <p:cNvSpPr/>
          <p:nvPr/>
        </p:nvSpPr>
        <p:spPr>
          <a:xfrm>
            <a:off x="10058401" y="6259593"/>
            <a:ext cx="132080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BM Plex Mono" pitchFamily="49" charset="0"/>
                <a:ea typeface="IBM Plex Mono" pitchFamily="49" charset="-122"/>
                <a:cs typeface="IBM Plex Mono" pitchFamily="49" charset="-120"/>
              </a:rPr>
              <a:t>14 / 23</a:t>
            </a:r>
            <a:endParaRPr lang="en-US" sz="1200" dirty="0"/>
          </a:p>
        </p:txBody>
      </p:sp>
      <p:sp>
        <p:nvSpPr>
          <p:cNvPr id="65" name="Text 52"/>
          <p:cNvSpPr/>
          <p:nvPr/>
        </p:nvSpPr>
        <p:spPr>
          <a:xfrm>
            <a:off x="812800" y="1778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1111"/>
                </a:solidFill>
                <a:latin typeface="Inter" pitchFamily="34" charset="0"/>
                <a:ea typeface="Inter" pitchFamily="34" charset="-122"/>
                <a:cs typeface="Inter" pitchFamily="34" charset="-120"/>
              </a:rPr>
              <a:t>Intent Discovery Service</a:t>
            </a:r>
            <a:endParaRPr lang="en-US" sz="1200" dirty="0"/>
          </a:p>
        </p:txBody>
      </p:sp>
      <p:sp>
        <p:nvSpPr>
          <p:cNvPr id="66" name="Text 53"/>
          <p:cNvSpPr/>
          <p:nvPr/>
        </p:nvSpPr>
        <p:spPr>
          <a:xfrm>
            <a:off x="6800850" y="177800"/>
            <a:ext cx="457835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nter" pitchFamily="34" charset="0"/>
                <a:ea typeface="Inter" pitchFamily="34" charset="-122"/>
                <a:cs typeface="Inter" pitchFamily="34" charset="-120"/>
              </a:rPr>
              <a:t>GenAI Governance Panel</a:t>
            </a:r>
            <a:endParaRPr lang="en-US" sz="1200" dirty="0"/>
          </a:p>
        </p:txBody>
      </p:sp>
      <p:pic>
        <p:nvPicPr>
          <p:cNvPr id="67" name="Image 11" descr="line">    </p:cNvPr>
          <p:cNvPicPr>
            <a:picLocks noChangeAspect="1"/>
          </p:cNvPicPr>
          <p:nvPr/>
        </p:nvPicPr>
        <p:blipFill>
          <a:blip r:embed="rId12"/>
          <a:srcRect l="-1137" r="-1137" t="0" b="0"/>
          <a:stretch/>
        </p:blipFill>
        <p:spPr>
          <a:xfrm>
            <a:off x="0" y="533400"/>
            <a:ext cx="12192001" cy="3725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896088"/>
            <a:ext cx="304800" cy="25400"/>
          </a:xfrm>
          <a:prstGeom prst="rect">
            <a:avLst/>
          </a:prstGeom>
          <a:solidFill>
            <a:srgbClr val="EB0A1E"/>
          </a:solidFill>
          <a:ln/>
        </p:spPr>
      </p:sp>
      <p:sp>
        <p:nvSpPr>
          <p:cNvPr id="3" name="Text 1"/>
          <p:cNvSpPr/>
          <p:nvPr/>
        </p:nvSpPr>
        <p:spPr>
          <a:xfrm>
            <a:off x="1219200" y="812800"/>
            <a:ext cx="3083211"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CONTROLS · HUMAN OVERSIGHT</a:t>
            </a:r>
            <a:endParaRPr lang="en-US" sz="1200" dirty="0"/>
          </a:p>
        </p:txBody>
      </p:sp>
      <p:sp>
        <p:nvSpPr>
          <p:cNvPr id="4" name="Text 2"/>
          <p:cNvSpPr/>
          <p:nvPr>
            <p:ph type="title"/>
          </p:nvPr>
        </p:nvSpPr>
        <p:spPr>
          <a:xfrm>
            <a:off x="812800" y="1106407"/>
            <a:ext cx="10883393" cy="427725"/>
          </a:xfrm>
          <a:prstGeom prst="rect">
            <a:avLst/>
          </a:prstGeom>
          <a:noFill/>
          <a:ln/>
        </p:spPr>
        <p:txBody>
          <a:bodyPr wrap="square" lIns="0" tIns="0" rIns="0" bIns="0" rtlCol="0" anchor="t">
            <a:normAutofit/>
          </a:bodyPr>
          <a:lstStyle/>
          <a:p>
            <a:pPr algn="l" indent="0" marL="0">
              <a:lnSpc>
                <a:spcPts val="3520"/>
              </a:lnSpc>
              <a:buNone/>
            </a:pPr>
            <a:r>
              <a:rPr lang="en-US" sz="3200" b="1" i="0" spc="-50" kern="0" dirty="0">
                <a:solidFill>
                  <a:srgbClr val="1A1A1A"/>
                </a:solidFill>
                <a:latin typeface="Inter" pitchFamily="34" charset="0"/>
                <a:ea typeface="Inter" pitchFamily="34" charset="-122"/>
                <a:cs typeface="Inter" pitchFamily="34" charset="-120"/>
              </a:rPr>
              <a:t>AI proposes; people approve</a:t>
            </a:r>
            <a:endParaRPr lang="en-US" sz="3200" dirty="0"/>
          </a:p>
        </p:txBody>
      </p:sp>
      <p:sp>
        <p:nvSpPr>
          <p:cNvPr id="5" name="Text 3"/>
          <p:cNvSpPr/>
          <p:nvPr/>
        </p:nvSpPr>
        <p:spPr>
          <a:xfrm>
            <a:off x="812800" y="1813533"/>
            <a:ext cx="6749796"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8595B"/>
                </a:solidFill>
                <a:latin typeface="Inter" pitchFamily="34" charset="0"/>
                <a:ea typeface="Inter" pitchFamily="34" charset="-122"/>
                <a:cs typeface="Inter" pitchFamily="34" charset="-120"/>
              </a:rPr>
              <a:t>AI COMPONENTS AND THEIR LIMITS</a:t>
            </a:r>
            <a:endParaRPr lang="en-US" sz="1200" dirty="0"/>
          </a:p>
        </p:txBody>
      </p:sp>
      <p:sp>
        <p:nvSpPr>
          <p:cNvPr id="6" name="Shape 4"/>
          <p:cNvSpPr/>
          <p:nvPr/>
        </p:nvSpPr>
        <p:spPr>
          <a:xfrm>
            <a:off x="7362825" y="2107140"/>
            <a:ext cx="0" cy="2413212"/>
          </a:xfrm>
          <a:prstGeom prst="line">
            <a:avLst/>
          </a:prstGeom>
          <a:noFill/>
          <a:ln w="6350">
            <a:solidFill>
              <a:srgbClr val="E0E0E0"/>
            </a:solidFill>
            <a:prstDash val="solid"/>
          </a:ln>
        </p:spPr>
      </p:sp>
      <p:sp>
        <p:nvSpPr>
          <p:cNvPr id="7" name="Shape 5"/>
          <p:cNvSpPr/>
          <p:nvPr/>
        </p:nvSpPr>
        <p:spPr>
          <a:xfrm>
            <a:off x="812800" y="4517176"/>
            <a:ext cx="6553200" cy="0"/>
          </a:xfrm>
          <a:prstGeom prst="line">
            <a:avLst/>
          </a:prstGeom>
          <a:noFill/>
          <a:ln w="6350">
            <a:solidFill>
              <a:srgbClr val="E0E0E0"/>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24653" y="2118993"/>
          <a:ext cx="6536267" cy="2396278"/>
        </p:xfrm>
        <a:graphic>
          <a:graphicData uri="http://schemas.openxmlformats.org/drawingml/2006/table">
            <a:tbl>
              <a:tblPr/>
              <a:tblGrid>
                <a:gridCol w="1699429"/>
                <a:gridCol w="2418419"/>
                <a:gridCol w="2418419"/>
              </a:tblGrid>
              <a:tr h="407061">
                <a:tc>
                  <a:txBody>
                    <a:bodyPr/>
                    <a:lstStyle/>
                    <a:p>
                      <a:pPr indent="0" marL="0">
                        <a:lnSpc>
                          <a:spcPts val="1680"/>
                        </a:lnSpc>
                        <a:buNone/>
                      </a:pPr>
                      <a:r>
                        <a:rPr lang="en-US" sz="1200" b="1" dirty="0">
                          <a:solidFill>
                            <a:srgbClr val="FFFFFF"/>
                          </a:solidFill>
                          <a:latin typeface="Inter" pitchFamily="34" charset="0"/>
                          <a:ea typeface="Inter" pitchFamily="34" charset="-122"/>
                          <a:cs typeface="Inter" pitchFamily="34" charset="-120"/>
                        </a:rPr>
                        <a:t>Component</a:t>
                      </a:r>
                      <a:endParaRPr lang="en-US" sz="12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494A4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494A4B"/>
                      </a:solidFill>
                      <a:prstDash val="solid"/>
                      <a:round/>
                      <a:headEnd type="none" w="med" len="med"/>
                      <a:tailEnd type="none" w="med" len="med"/>
                    </a:lnB>
                    <a:solidFill>
                      <a:srgbClr val="58595B"/>
                    </a:solidFill>
                  </a:tcPr>
                </a:tc>
                <a:tc>
                  <a:txBody>
                    <a:bodyPr/>
                    <a:lstStyle/>
                    <a:p>
                      <a:pPr indent="0" marL="0">
                        <a:lnSpc>
                          <a:spcPts val="1680"/>
                        </a:lnSpc>
                        <a:buNone/>
                      </a:pPr>
                      <a:r>
                        <a:rPr lang="en-US" sz="1200" b="1" dirty="0">
                          <a:solidFill>
                            <a:srgbClr val="FFFFFF"/>
                          </a:solidFill>
                          <a:latin typeface="Inter" pitchFamily="34" charset="0"/>
                          <a:ea typeface="Inter" pitchFamily="34" charset="-122"/>
                          <a:cs typeface="Inter" pitchFamily="34" charset="-120"/>
                        </a:rPr>
                        <a:t>Can</a:t>
                      </a:r>
                      <a:endParaRPr lang="en-US" sz="1200" dirty="0">
                        <a:latin typeface="Inter" charset="0"/>
                        <a:ea typeface="Inter" charset="0"/>
                        <a:cs typeface="Inter" charset="0"/>
                      </a:endParaRPr>
                    </a:p>
                  </a:txBody>
                  <a:tcPr marL="127000" marR="127000" marT="101600" marB="101600" anchor="t">
                    <a:lnL w="12700" cap="flat" cmpd="sng" algn="ctr">
                      <a:solidFill>
                        <a:srgbClr val="494A4B"/>
                      </a:solidFill>
                      <a:prstDash val="solid"/>
                      <a:round/>
                      <a:headEnd type="none" w="med" len="med"/>
                      <a:tailEnd type="none" w="med" len="med"/>
                    </a:lnL>
                    <a:lnR w="12700" cap="flat" cmpd="sng" algn="ctr">
                      <a:solidFill>
                        <a:srgbClr val="494A4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494A4B"/>
                      </a:solidFill>
                      <a:prstDash val="solid"/>
                      <a:round/>
                      <a:headEnd type="none" w="med" len="med"/>
                      <a:tailEnd type="none" w="med" len="med"/>
                    </a:lnB>
                    <a:solidFill>
                      <a:srgbClr val="58595B"/>
                    </a:solidFill>
                  </a:tcPr>
                </a:tc>
                <a:tc>
                  <a:txBody>
                    <a:bodyPr/>
                    <a:lstStyle/>
                    <a:p>
                      <a:pPr indent="0" marL="0">
                        <a:lnSpc>
                          <a:spcPts val="1680"/>
                        </a:lnSpc>
                        <a:buNone/>
                      </a:pPr>
                      <a:r>
                        <a:rPr lang="en-US" sz="1200" b="1" dirty="0">
                          <a:solidFill>
                            <a:srgbClr val="FFFFFF"/>
                          </a:solidFill>
                          <a:latin typeface="Inter" pitchFamily="34" charset="0"/>
                          <a:ea typeface="Inter" pitchFamily="34" charset="-122"/>
                          <a:cs typeface="Inter" pitchFamily="34" charset="-120"/>
                        </a:rPr>
                        <a:t>Cannot</a:t>
                      </a:r>
                      <a:endParaRPr lang="en-US" sz="1200" dirty="0">
                        <a:latin typeface="Inter" charset="0"/>
                        <a:ea typeface="Inter" charset="0"/>
                        <a:cs typeface="Inter" charset="0"/>
                      </a:endParaRPr>
                    </a:p>
                  </a:txBody>
                  <a:tcPr marL="127000" marR="127000" marT="101600" marB="101600" anchor="t">
                    <a:lnL w="12700" cap="flat" cmpd="sng" algn="ctr">
                      <a:solidFill>
                        <a:srgbClr val="494A4B"/>
                      </a:solidFill>
                      <a:prstDash val="solid"/>
                      <a:round/>
                      <a:headEnd type="none" w="med" len="med"/>
                      <a:tailEnd type="none" w="med" len="med"/>
                    </a:lnL>
                    <a:lnR w="12700" cap="flat" cmpd="sng" algn="ctr">
                      <a:solidFill>
                        <a:srgbClr val="494A4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494A4B"/>
                      </a:solidFill>
                      <a:prstDash val="solid"/>
                      <a:round/>
                      <a:headEnd type="none" w="med" len="med"/>
                      <a:tailEnd type="none" w="med" len="med"/>
                    </a:lnB>
                    <a:solidFill>
                      <a:srgbClr val="58595B"/>
                    </a:solidFill>
                  </a:tcPr>
                </a:tc>
              </a:tr>
              <a:tr h="599070">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Interrogation agent</a:t>
                      </a:r>
                      <a:endParaRPr lang="en-US" sz="12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494A4B"/>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Ask questions and propose answers with consequences</a:t>
                      </a:r>
                      <a:endParaRPr lang="en-US" sz="12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494A4B"/>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Approve, finalize or publish any artifact</a:t>
                      </a:r>
                      <a:endParaRPr lang="en-US" sz="12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494A4B"/>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599070">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Modeling pipeline</a:t>
                      </a:r>
                      <a:endParaRPr lang="en-US" sz="12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Draft ESML, DMML and Intent Registry proposals</a:t>
                      </a:r>
                      <a:endParaRPr lang="en-US" sz="1200" dirty="0">
                        <a:latin typeface="Inter" charset="0"/>
                        <a:ea typeface="Inter" charset="0"/>
                        <a:cs typeface="Inter" charset="0"/>
                      </a:endParaRPr>
                    </a:p>
                  </a:txBody>
                  <a:tcPr marL="127000" marR="127000" marT="101600" marB="1016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Skip a validation gate or force-finalize</a:t>
                      </a:r>
                      <a:endParaRPr lang="en-US" sz="1200" dirty="0">
                        <a:latin typeface="Inter" charset="0"/>
                        <a:ea typeface="Inter" charset="0"/>
                        <a:cs typeface="Inter" charset="0"/>
                      </a:endParaRPr>
                    </a:p>
                  </a:txBody>
                  <a:tcPr marL="127000" marR="127000" marT="101600" marB="1016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r>
              <a:tr h="791078">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Red Team agent</a:t>
                      </a:r>
                      <a:endParaRPr lang="en-US" sz="12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Adversarial LLM-as-judge review; advisory or blocking findings</a:t>
                      </a:r>
                      <a:endParaRPr lang="en-US" sz="12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Edit the model; findings are flags only</a:t>
                      </a:r>
                      <a:endParaRPr lang="en-US" sz="1200" dirty="0">
                        <a:latin typeface="Inter" charset="0"/>
                        <a:ea typeface="Inter" charset="0"/>
                        <a:cs typeface="Inter" charset="0"/>
                      </a:endParaRPr>
                    </a:p>
                  </a:txBody>
                  <a:tcPr marL="127000" marR="127000" marT="101600" marB="1016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bl>
          </a:graphicData>
        </a:graphic>
      </p:graphicFrame>
      <p:pic>
        <p:nvPicPr>
          <p:cNvPr id="9" name="Image 0" descr="Activity">    </p:cNvPr>
          <p:cNvPicPr>
            <a:picLocks noChangeAspect="1"/>
          </p:cNvPicPr>
          <p:nvPr/>
        </p:nvPicPr>
        <p:blipFill>
          <a:blip r:embed="rId1"/>
          <a:srcRect l="0" r="0" t="-1094" b="-1094"/>
          <a:stretch/>
        </p:blipFill>
        <p:spPr>
          <a:xfrm>
            <a:off x="812800" y="4621950"/>
            <a:ext cx="136710" cy="203200"/>
          </a:xfrm>
          <a:prstGeom prst="rect">
            <a:avLst/>
          </a:prstGeom>
        </p:spPr>
      </p:pic>
      <p:sp>
        <p:nvSpPr>
          <p:cNvPr id="10" name="Text 6"/>
          <p:cNvSpPr/>
          <p:nvPr/>
        </p:nvSpPr>
        <p:spPr>
          <a:xfrm>
            <a:off x="1038410" y="4621950"/>
            <a:ext cx="6517418"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Offline evaluation harness scores models against hand-reviewed references for invented, omitted and misclassified elements per prompt version.</a:t>
            </a:r>
            <a:endParaRPr lang="en-US" sz="1200" dirty="0"/>
          </a:p>
        </p:txBody>
      </p:sp>
      <p:sp>
        <p:nvSpPr>
          <p:cNvPr id="11" name="Shape 7"/>
          <p:cNvSpPr/>
          <p:nvPr/>
        </p:nvSpPr>
        <p:spPr>
          <a:xfrm>
            <a:off x="7569201" y="1813533"/>
            <a:ext cx="3810000" cy="3192436"/>
          </a:xfrm>
          <a:prstGeom prst="roundRect">
            <a:avLst>
              <a:gd name="adj" fmla="val 1989"/>
            </a:avLst>
          </a:prstGeom>
          <a:solidFill>
            <a:srgbClr val="1A1A1A"/>
          </a:solidFill>
          <a:ln/>
        </p:spPr>
      </p:sp>
      <p:sp>
        <p:nvSpPr>
          <p:cNvPr id="12" name="Text 8"/>
          <p:cNvSpPr/>
          <p:nvPr/>
        </p:nvSpPr>
        <p:spPr>
          <a:xfrm>
            <a:off x="7823201" y="2067533"/>
            <a:ext cx="3401060"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5A67"/>
                </a:solidFill>
                <a:latin typeface="Inter" pitchFamily="34" charset="0"/>
                <a:ea typeface="Inter" pitchFamily="34" charset="-122"/>
                <a:cs typeface="Inter" pitchFamily="34" charset="-120"/>
              </a:rPr>
              <a:t>HUMAN DECISION POINTS</a:t>
            </a:r>
            <a:endParaRPr lang="en-US" sz="1200" dirty="0"/>
          </a:p>
        </p:txBody>
      </p:sp>
      <p:pic>
        <p:nvPicPr>
          <p:cNvPr id="13" name="Image 1" descr="Users">    </p:cNvPr>
          <p:cNvPicPr>
            <a:picLocks noChangeAspect="1"/>
          </p:cNvPicPr>
          <p:nvPr/>
        </p:nvPicPr>
        <p:blipFill>
          <a:blip r:embed="rId2"/>
          <a:srcRect l="-1367" r="-1367" t="0" b="0"/>
          <a:stretch/>
        </p:blipFill>
        <p:spPr>
          <a:xfrm>
            <a:off x="7823201" y="2386540"/>
            <a:ext cx="104378" cy="203200"/>
          </a:xfrm>
          <a:prstGeom prst="rect">
            <a:avLst/>
          </a:prstGeom>
        </p:spPr>
      </p:pic>
      <p:sp>
        <p:nvSpPr>
          <p:cNvPr id="14" name="Text 9"/>
          <p:cNvSpPr/>
          <p:nvPr/>
        </p:nvSpPr>
        <p:spPr>
          <a:xfrm>
            <a:off x="8029179" y="2386540"/>
            <a:ext cx="3188903"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User confirms the interrogation draft and can contest any AI answer; corrections are retained</a:t>
            </a:r>
            <a:endParaRPr lang="en-US" sz="1200" dirty="0"/>
          </a:p>
        </p:txBody>
      </p:sp>
      <p:pic>
        <p:nvPicPr>
          <p:cNvPr id="15" name="Image 2" descr="Verified">    </p:cNvPr>
          <p:cNvPicPr>
            <a:picLocks noChangeAspect="1"/>
          </p:cNvPicPr>
          <p:nvPr/>
        </p:nvPicPr>
        <p:blipFill>
          <a:blip r:embed="rId3"/>
          <a:srcRect l="-931" r="-931" t="0" b="0"/>
          <a:stretch/>
        </p:blipFill>
        <p:spPr>
          <a:xfrm>
            <a:off x="7823201" y="2897560"/>
            <a:ext cx="97023" cy="203200"/>
          </a:xfrm>
          <a:prstGeom prst="rect">
            <a:avLst/>
          </a:prstGeom>
        </p:spPr>
      </p:pic>
      <p:sp>
        <p:nvSpPr>
          <p:cNvPr id="16" name="Text 10"/>
          <p:cNvSpPr/>
          <p:nvPr/>
        </p:nvSpPr>
        <p:spPr>
          <a:xfrm>
            <a:off x="8021823" y="2897560"/>
            <a:ext cx="3196479" cy="60142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IR Author and domain SME approve under their SSO identity; one person cannot hold both approvals</a:t>
            </a:r>
            <a:endParaRPr lang="en-US" sz="1200" dirty="0"/>
          </a:p>
        </p:txBody>
      </p:sp>
      <p:pic>
        <p:nvPicPr>
          <p:cNvPr id="17" name="Image 3" descr="Warning">    </p:cNvPr>
          <p:cNvPicPr>
            <a:picLocks noChangeAspect="1"/>
          </p:cNvPicPr>
          <p:nvPr/>
        </p:nvPicPr>
        <p:blipFill>
          <a:blip r:embed="rId4"/>
          <a:srcRect l="-573" r="-573" t="0" b="0"/>
          <a:stretch/>
        </p:blipFill>
        <p:spPr>
          <a:xfrm>
            <a:off x="7823201" y="3600580"/>
            <a:ext cx="128455" cy="203200"/>
          </a:xfrm>
          <a:prstGeom prst="rect">
            <a:avLst/>
          </a:prstGeom>
        </p:spPr>
      </p:pic>
      <p:sp>
        <p:nvSpPr>
          <p:cNvPr id="18" name="Text 11"/>
          <p:cNvSpPr/>
          <p:nvPr/>
        </p:nvSpPr>
        <p:spPr>
          <a:xfrm>
            <a:off x="8053256" y="3600580"/>
            <a:ext cx="3164103"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Blocking Red Team findings are resolved or approved as documented gaps</a:t>
            </a:r>
            <a:endParaRPr lang="en-US" sz="1200" dirty="0"/>
          </a:p>
        </p:txBody>
      </p:sp>
      <p:pic>
        <p:nvPicPr>
          <p:cNvPr id="19" name="Image 4" descr="Settings">    </p:cNvPr>
          <p:cNvPicPr>
            <a:picLocks noChangeAspect="1"/>
          </p:cNvPicPr>
          <p:nvPr/>
        </p:nvPicPr>
        <p:blipFill>
          <a:blip r:embed="rId5"/>
          <a:srcRect l="0" r="0" t="-397" b="-397"/>
          <a:stretch/>
        </p:blipFill>
        <p:spPr>
          <a:xfrm>
            <a:off x="7823201" y="4111600"/>
            <a:ext cx="113400" cy="203200"/>
          </a:xfrm>
          <a:prstGeom prst="rect">
            <a:avLst/>
          </a:prstGeom>
        </p:spPr>
      </p:pic>
      <p:sp>
        <p:nvSpPr>
          <p:cNvPr id="20" name="Text 12"/>
          <p:cNvSpPr/>
          <p:nvPr/>
        </p:nvSpPr>
        <p:spPr>
          <a:xfrm>
            <a:off x="8038201" y="4111600"/>
            <a:ext cx="3179610"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PoC owners review evaluation results before any prompt or model change is released</a:t>
            </a:r>
            <a:endParaRPr lang="en-US" sz="1200" dirty="0"/>
          </a:p>
        </p:txBody>
      </p:sp>
      <p:sp>
        <p:nvSpPr>
          <p:cNvPr id="21" name="Text 13"/>
          <p:cNvSpPr/>
          <p:nvPr/>
        </p:nvSpPr>
        <p:spPr>
          <a:xfrm>
            <a:off x="812800" y="6259593"/>
            <a:ext cx="784860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Inter" pitchFamily="34" charset="0"/>
                <a:ea typeface="Inter" pitchFamily="34" charset="-122"/>
                <a:cs typeface="Inter" pitchFamily="34" charset="-120"/>
              </a:rPr>
              <a:t>Proof of concept proposal · Policy CP6.55</a:t>
            </a:r>
            <a:endParaRPr lang="en-US" sz="1200" dirty="0"/>
          </a:p>
        </p:txBody>
      </p:sp>
      <p:sp>
        <p:nvSpPr>
          <p:cNvPr id="22" name="Text 14"/>
          <p:cNvSpPr/>
          <p:nvPr/>
        </p:nvSpPr>
        <p:spPr>
          <a:xfrm>
            <a:off x="10058401" y="6259593"/>
            <a:ext cx="132080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BM Plex Mono" pitchFamily="49" charset="0"/>
                <a:ea typeface="IBM Plex Mono" pitchFamily="49" charset="-122"/>
                <a:cs typeface="IBM Plex Mono" pitchFamily="49" charset="-120"/>
              </a:rPr>
              <a:t>15 / 23</a:t>
            </a:r>
            <a:endParaRPr lang="en-US" sz="1200" dirty="0"/>
          </a:p>
        </p:txBody>
      </p:sp>
      <p:sp>
        <p:nvSpPr>
          <p:cNvPr id="23" name="Text 15"/>
          <p:cNvSpPr/>
          <p:nvPr/>
        </p:nvSpPr>
        <p:spPr>
          <a:xfrm>
            <a:off x="812800" y="1778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1111"/>
                </a:solidFill>
                <a:latin typeface="Inter" pitchFamily="34" charset="0"/>
                <a:ea typeface="Inter" pitchFamily="34" charset="-122"/>
                <a:cs typeface="Inter" pitchFamily="34" charset="-120"/>
              </a:rPr>
              <a:t>Intent Discovery Service</a:t>
            </a:r>
            <a:endParaRPr lang="en-US" sz="1200" dirty="0"/>
          </a:p>
        </p:txBody>
      </p:sp>
      <p:sp>
        <p:nvSpPr>
          <p:cNvPr id="24" name="Text 16"/>
          <p:cNvSpPr/>
          <p:nvPr/>
        </p:nvSpPr>
        <p:spPr>
          <a:xfrm>
            <a:off x="6800850" y="177800"/>
            <a:ext cx="457835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nter" pitchFamily="34" charset="0"/>
                <a:ea typeface="Inter" pitchFamily="34" charset="-122"/>
                <a:cs typeface="Inter" pitchFamily="34" charset="-120"/>
              </a:rPr>
              <a:t>GenAI Governance Panel</a:t>
            </a:r>
            <a:endParaRPr lang="en-US" sz="1200" dirty="0"/>
          </a:p>
        </p:txBody>
      </p:sp>
      <p:pic>
        <p:nvPicPr>
          <p:cNvPr id="25" name="Image 5" descr="line">    </p:cNvPr>
          <p:cNvPicPr>
            <a:picLocks noChangeAspect="1"/>
          </p:cNvPicPr>
          <p:nvPr/>
        </p:nvPicPr>
        <p:blipFill>
          <a:blip r:embed="rId6"/>
          <a:srcRect l="-1137" r="-1137" t="0" b="0"/>
          <a:stretch/>
        </p:blipFill>
        <p:spPr>
          <a:xfrm>
            <a:off x="0" y="533400"/>
            <a:ext cx="12192001" cy="3725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896088"/>
            <a:ext cx="304800" cy="25400"/>
          </a:xfrm>
          <a:prstGeom prst="rect">
            <a:avLst/>
          </a:prstGeom>
          <a:solidFill>
            <a:srgbClr val="EB0A1E"/>
          </a:solidFill>
          <a:ln/>
        </p:spPr>
      </p:sp>
      <p:sp>
        <p:nvSpPr>
          <p:cNvPr id="3" name="Text 1"/>
          <p:cNvSpPr/>
          <p:nvPr/>
        </p:nvSpPr>
        <p:spPr>
          <a:xfrm>
            <a:off x="1219200" y="812800"/>
            <a:ext cx="2123821"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CONTROLS · OUTPUTS</a:t>
            </a:r>
            <a:endParaRPr lang="en-US" sz="1200" dirty="0"/>
          </a:p>
        </p:txBody>
      </p:sp>
      <p:sp>
        <p:nvSpPr>
          <p:cNvPr id="4" name="Text 2"/>
          <p:cNvSpPr/>
          <p:nvPr>
            <p:ph type="title"/>
          </p:nvPr>
        </p:nvSpPr>
        <p:spPr>
          <a:xfrm>
            <a:off x="812800" y="1106407"/>
            <a:ext cx="10883393" cy="427725"/>
          </a:xfrm>
          <a:prstGeom prst="rect">
            <a:avLst/>
          </a:prstGeom>
          <a:noFill/>
          <a:ln/>
        </p:spPr>
        <p:txBody>
          <a:bodyPr wrap="square" lIns="0" tIns="0" rIns="0" bIns="0" rtlCol="0" anchor="t">
            <a:normAutofit/>
          </a:bodyPr>
          <a:lstStyle/>
          <a:p>
            <a:pPr algn="l" indent="0" marL="0">
              <a:lnSpc>
                <a:spcPts val="3520"/>
              </a:lnSpc>
              <a:buNone/>
            </a:pPr>
            <a:r>
              <a:rPr lang="en-US" sz="3200" b="1" i="0" spc="-50" kern="0" dirty="0">
                <a:solidFill>
                  <a:srgbClr val="1A1A1A"/>
                </a:solidFill>
                <a:latin typeface="Inter" pitchFamily="34" charset="0"/>
                <a:ea typeface="Inter" pitchFamily="34" charset="-122"/>
                <a:cs typeface="Inter" pitchFamily="34" charset="-120"/>
              </a:rPr>
              <a:t>Handoff: specifications, not source code</a:t>
            </a:r>
            <a:endParaRPr lang="en-US" sz="3200" dirty="0"/>
          </a:p>
        </p:txBody>
      </p:sp>
      <p:sp>
        <p:nvSpPr>
          <p:cNvPr id="5" name="Shape 3"/>
          <p:cNvSpPr/>
          <p:nvPr/>
        </p:nvSpPr>
        <p:spPr>
          <a:xfrm>
            <a:off x="815975" y="1816714"/>
            <a:ext cx="2914650" cy="3100388"/>
          </a:xfrm>
          <a:prstGeom prst="roundRect">
            <a:avLst>
              <a:gd name="adj" fmla="val 1634"/>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6" name="Text 4"/>
          <p:cNvSpPr/>
          <p:nvPr/>
        </p:nvSpPr>
        <p:spPr>
          <a:xfrm>
            <a:off x="1021080" y="2021811"/>
            <a:ext cx="2579573"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8595B"/>
                </a:solidFill>
                <a:latin typeface="Inter" pitchFamily="34" charset="0"/>
                <a:ea typeface="Inter" pitchFamily="34" charset="-122"/>
                <a:cs typeface="Inter" pitchFamily="34" charset="-120"/>
              </a:rPr>
              <a:t>VALIDATED MODELS</a:t>
            </a:r>
            <a:endParaRPr lang="en-US" sz="1200" dirty="0"/>
          </a:p>
        </p:txBody>
      </p:sp>
      <p:sp>
        <p:nvSpPr>
          <p:cNvPr id="7" name="Text 5"/>
          <p:cNvSpPr/>
          <p:nvPr/>
        </p:nvSpPr>
        <p:spPr>
          <a:xfrm>
            <a:off x="1138936" y="2315425"/>
            <a:ext cx="2454097" cy="1561518"/>
          </a:xfrm>
          <a:prstGeom prst="rect">
            <a:avLst/>
          </a:prstGeom>
          <a:noFill/>
          <a:ln/>
        </p:spPr>
        <p:txBody>
          <a:bodyPr wrap="square" lIns="0" tIns="0" rIns="0" bIns="0" rtlCol="0" anchor="t">
            <a:normAutofit/>
          </a:bodyPr>
          <a:lstStyle/>
          <a:p>
            <a:pPr algn="l" marL="136144" indent="-136144">
              <a:lnSpc>
                <a:spcPts val="1920"/>
              </a:lnSpc>
              <a:buSzPct val="100000"/>
              <a:buChar char="•"/>
            </a:pPr>
            <a:r>
              <a:rPr lang="en-US" sz="1200" dirty="0">
                <a:solidFill>
                  <a:srgbClr val="1A1A1A"/>
                </a:solidFill>
                <a:latin typeface="Inter" pitchFamily="34" charset="0"/>
                <a:ea typeface="Inter" pitchFamily="34" charset="-122"/>
                <a:cs typeface="Inter" pitchFamily="34" charset="-120"/>
              </a:rPr>
              <a:t>ESML Event Storming model</a:t>
            </a:r>
            <a:endParaRPr lang="en-US" sz="1200" dirty="0"/>
          </a:p>
          <a:p>
            <a:pPr algn="l" marL="136144" indent="-136144">
              <a:lnSpc>
                <a:spcPts val="1920"/>
              </a:lnSpc>
              <a:buSzPct val="100000"/>
              <a:buChar char="•"/>
            </a:pPr>
            <a:r>
              <a:rPr lang="en-US" sz="1200" dirty="0">
                <a:solidFill>
                  <a:srgbClr val="1A1A1A"/>
                </a:solidFill>
                <a:latin typeface="Inter" pitchFamily="34" charset="0"/>
                <a:ea typeface="Inter" pitchFamily="34" charset="-122"/>
                <a:cs typeface="Inter" pitchFamily="34" charset="-120"/>
              </a:rPr>
              <a:t>DMML domain model and Context Map</a:t>
            </a:r>
            <a:endParaRPr lang="en-US" sz="1200" dirty="0"/>
          </a:p>
          <a:p>
            <a:pPr algn="l" marL="136144" indent="-136144">
              <a:lnSpc>
                <a:spcPts val="1920"/>
              </a:lnSpc>
              <a:buSzPct val="100000"/>
              <a:buChar char="•"/>
            </a:pPr>
            <a:r>
              <a:rPr lang="en-US" sz="1200" dirty="0">
                <a:solidFill>
                  <a:srgbClr val="1A1A1A"/>
                </a:solidFill>
                <a:latin typeface="Inter" pitchFamily="34" charset="0"/>
                <a:ea typeface="Inter" pitchFamily="34" charset="-122"/>
                <a:cs typeface="Inter" pitchFamily="34" charset="-120"/>
              </a:rPr>
              <a:t>Intent Registry</a:t>
            </a:r>
            <a:endParaRPr lang="en-US" sz="1200" dirty="0"/>
          </a:p>
          <a:p>
            <a:pPr algn="l" marL="136144" indent="-136144">
              <a:lnSpc>
                <a:spcPts val="1920"/>
              </a:lnSpc>
              <a:buSzPct val="100000"/>
              <a:buChar char="•"/>
            </a:pPr>
            <a:r>
              <a:rPr lang="en-US" sz="1200" dirty="0">
                <a:solidFill>
                  <a:srgbClr val="1A1A1A"/>
                </a:solidFill>
                <a:latin typeface="Inter" pitchFamily="34" charset="0"/>
                <a:ea typeface="Inter" pitchFamily="34" charset="-122"/>
                <a:cs typeface="Inter" pitchFamily="34" charset="-120"/>
              </a:rPr>
              <a:t>Event Storming, state-machine and sequence diagrams</a:t>
            </a:r>
            <a:endParaRPr lang="en-US" sz="1200" dirty="0"/>
          </a:p>
          <a:p>
            <a:pPr algn="l" marL="136144" indent="-136144">
              <a:lnSpc>
                <a:spcPts val="1920"/>
              </a:lnSpc>
              <a:buSzPct val="100000"/>
              <a:buChar char="•"/>
            </a:pPr>
            <a:r>
              <a:rPr lang="en-US" sz="1200" dirty="0">
                <a:solidFill>
                  <a:srgbClr val="1A1A1A"/>
                </a:solidFill>
                <a:latin typeface="Inter" pitchFamily="34" charset="0"/>
                <a:ea typeface="Inter" pitchFamily="34" charset="-122"/>
                <a:cs typeface="Inter" pitchFamily="34" charset="-120"/>
              </a:rPr>
              <a:t>Red Team findings</a:t>
            </a:r>
            <a:endParaRPr lang="en-US" sz="1200" dirty="0"/>
          </a:p>
        </p:txBody>
      </p:sp>
      <p:sp>
        <p:nvSpPr>
          <p:cNvPr id="8" name="Shape 6"/>
          <p:cNvSpPr/>
          <p:nvPr/>
        </p:nvSpPr>
        <p:spPr>
          <a:xfrm>
            <a:off x="3889375" y="1816714"/>
            <a:ext cx="4540250" cy="3100388"/>
          </a:xfrm>
          <a:prstGeom prst="roundRect">
            <a:avLst>
              <a:gd name="adj" fmla="val 1536"/>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9" name="Text 7"/>
          <p:cNvSpPr/>
          <p:nvPr/>
        </p:nvSpPr>
        <p:spPr>
          <a:xfrm>
            <a:off x="4094480" y="2021811"/>
            <a:ext cx="4253941"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8595B"/>
                </a:solidFill>
                <a:latin typeface="Inter" pitchFamily="34" charset="0"/>
                <a:ea typeface="Inter" pitchFamily="34" charset="-122"/>
                <a:cs typeface="Inter" pitchFamily="34" charset="-120"/>
              </a:rPr>
              <a:t>IMPLEMENTATION HANDOFF PACK</a:t>
            </a:r>
            <a:endParaRPr lang="en-US" sz="1200" dirty="0"/>
          </a:p>
        </p:txBody>
      </p:sp>
      <p:sp>
        <p:nvSpPr>
          <p:cNvPr id="10" name="Text 8"/>
          <p:cNvSpPr/>
          <p:nvPr/>
        </p:nvSpPr>
        <p:spPr>
          <a:xfrm>
            <a:off x="4094480" y="2315425"/>
            <a:ext cx="425394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A1A1A"/>
                </a:solidFill>
                <a:latin typeface="IBM Plex Mono" pitchFamily="49" charset="0"/>
                <a:ea typeface="IBM Plex Mono" pitchFamily="49" charset="-122"/>
                <a:cs typeface="IBM Plex Mono" pitchFamily="49" charset="-120"/>
              </a:rPr>
              <a:t>AGENTS.md</a:t>
            </a:r>
            <a:endParaRPr lang="en-US" sz="1200" dirty="0"/>
          </a:p>
        </p:txBody>
      </p:sp>
      <p:sp>
        <p:nvSpPr>
          <p:cNvPr id="11" name="Text 9"/>
          <p:cNvSpPr/>
          <p:nvPr/>
        </p:nvSpPr>
        <p:spPr>
          <a:xfrm>
            <a:off x="4094480" y="2532825"/>
            <a:ext cx="4253941"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Ubiquitous language, context boundaries, rules and enforcement points, failure vocabulary, non-goals</a:t>
            </a:r>
            <a:endParaRPr lang="en-US" sz="1200" dirty="0"/>
          </a:p>
        </p:txBody>
      </p:sp>
      <p:sp>
        <p:nvSpPr>
          <p:cNvPr id="12" name="Text 10"/>
          <p:cNvSpPr/>
          <p:nvPr/>
        </p:nvSpPr>
        <p:spPr>
          <a:xfrm>
            <a:off x="4094480" y="3018451"/>
            <a:ext cx="425394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A1A1A"/>
                </a:solidFill>
                <a:latin typeface="IBM Plex Mono" pitchFamily="49" charset="0"/>
                <a:ea typeface="IBM Plex Mono" pitchFamily="49" charset="-122"/>
                <a:cs typeface="IBM Plex Mono" pitchFamily="49" charset="-120"/>
              </a:rPr>
              <a:t>tasks.md</a:t>
            </a:r>
            <a:endParaRPr lang="en-US" sz="1200" dirty="0"/>
          </a:p>
        </p:txBody>
      </p:sp>
      <p:sp>
        <p:nvSpPr>
          <p:cNvPr id="13" name="Text 11"/>
          <p:cNvSpPr/>
          <p:nvPr/>
        </p:nvSpPr>
        <p:spPr>
          <a:xfrm>
            <a:off x="4094480" y="3235852"/>
            <a:ext cx="425394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Ordered implementation task breakdown</a:t>
            </a:r>
            <a:endParaRPr lang="en-US" sz="1200" dirty="0"/>
          </a:p>
        </p:txBody>
      </p:sp>
      <p:sp>
        <p:nvSpPr>
          <p:cNvPr id="14" name="Text 12"/>
          <p:cNvSpPr/>
          <p:nvPr/>
        </p:nvSpPr>
        <p:spPr>
          <a:xfrm>
            <a:off x="4094480" y="3529465"/>
            <a:ext cx="425394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A1A1A"/>
                </a:solidFill>
                <a:latin typeface="IBM Plex Mono" pitchFamily="49" charset="0"/>
                <a:ea typeface="IBM Plex Mono" pitchFamily="49" charset="-122"/>
                <a:cs typeface="IBM Plex Mono" pitchFamily="49" charset="-120"/>
              </a:rPr>
              <a:t>acceptance-criteria.md</a:t>
            </a:r>
            <a:endParaRPr lang="en-US" sz="1200" dirty="0"/>
          </a:p>
        </p:txBody>
      </p:sp>
      <p:sp>
        <p:nvSpPr>
          <p:cNvPr id="15" name="Text 13"/>
          <p:cNvSpPr/>
          <p:nvPr/>
        </p:nvSpPr>
        <p:spPr>
          <a:xfrm>
            <a:off x="4094480" y="3746866"/>
            <a:ext cx="425394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Every rule mapped to its required test evidence</a:t>
            </a:r>
            <a:endParaRPr lang="en-US" sz="1200" dirty="0"/>
          </a:p>
        </p:txBody>
      </p:sp>
      <p:sp>
        <p:nvSpPr>
          <p:cNvPr id="16" name="Text 14"/>
          <p:cNvSpPr/>
          <p:nvPr/>
        </p:nvSpPr>
        <p:spPr>
          <a:xfrm>
            <a:off x="4094480" y="4040479"/>
            <a:ext cx="425394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A1A1A"/>
                </a:solidFill>
                <a:latin typeface="IBM Plex Mono" pitchFamily="49" charset="0"/>
                <a:ea typeface="IBM Plex Mono" pitchFamily="49" charset="-122"/>
                <a:cs typeface="IBM Plex Mono" pitchFamily="49" charset="-120"/>
              </a:rPr>
              <a:t>eval-rubric.md</a:t>
            </a:r>
            <a:endParaRPr lang="en-US" sz="1200" dirty="0"/>
          </a:p>
        </p:txBody>
      </p:sp>
      <p:sp>
        <p:nvSpPr>
          <p:cNvPr id="17" name="Text 15"/>
          <p:cNvSpPr/>
          <p:nvPr/>
        </p:nvSpPr>
        <p:spPr>
          <a:xfrm>
            <a:off x="4094480" y="4257892"/>
            <a:ext cx="425394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How to judge an implementation against the spec</a:t>
            </a:r>
            <a:endParaRPr lang="en-US" sz="1200" dirty="0"/>
          </a:p>
        </p:txBody>
      </p:sp>
      <p:sp>
        <p:nvSpPr>
          <p:cNvPr id="18" name="Shape 16"/>
          <p:cNvSpPr/>
          <p:nvPr/>
        </p:nvSpPr>
        <p:spPr>
          <a:xfrm>
            <a:off x="8588376" y="1816714"/>
            <a:ext cx="2787650" cy="3100388"/>
          </a:xfrm>
          <a:prstGeom prst="roundRect">
            <a:avLst>
              <a:gd name="adj" fmla="val 1708"/>
            </a:avLst>
          </a:prstGeom>
          <a:solidFill>
            <a:srgbClr val="FDECEE"/>
          </a:solidFill>
          <a:ln w="6350">
            <a:solidFill>
              <a:srgbClr val="F5B5BC"/>
            </a:solidFill>
            <a:prstDash val="solid"/>
          </a:ln>
        </p:spPr>
      </p:sp>
      <p:sp>
        <p:nvSpPr>
          <p:cNvPr id="19" name="Text 17"/>
          <p:cNvSpPr/>
          <p:nvPr/>
        </p:nvSpPr>
        <p:spPr>
          <a:xfrm>
            <a:off x="8793480" y="2021811"/>
            <a:ext cx="2448763"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DELIBERATELY EXCLUDED</a:t>
            </a:r>
            <a:endParaRPr lang="en-US" sz="1200" dirty="0"/>
          </a:p>
        </p:txBody>
      </p:sp>
      <p:sp>
        <p:nvSpPr>
          <p:cNvPr id="20" name="Shape 18"/>
          <p:cNvSpPr/>
          <p:nvPr/>
        </p:nvSpPr>
        <p:spPr>
          <a:xfrm>
            <a:off x="8793480" y="2616415"/>
            <a:ext cx="2377440" cy="0"/>
          </a:xfrm>
          <a:prstGeom prst="line">
            <a:avLst/>
          </a:prstGeom>
          <a:noFill/>
          <a:ln w="6350">
            <a:solidFill>
              <a:srgbClr val="F5B5BC"/>
            </a:solidFill>
            <a:prstDash val="solid"/>
          </a:ln>
        </p:spPr>
      </p:sp>
      <p:sp>
        <p:nvSpPr>
          <p:cNvPr id="21" name="Text 19"/>
          <p:cNvSpPr/>
          <p:nvPr/>
        </p:nvSpPr>
        <p:spPr>
          <a:xfrm>
            <a:off x="8793480" y="2340825"/>
            <a:ext cx="2448763"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No source code</a:t>
            </a:r>
            <a:endParaRPr lang="en-US" sz="1500" dirty="0"/>
          </a:p>
        </p:txBody>
      </p:sp>
      <p:sp>
        <p:nvSpPr>
          <p:cNvPr id="22" name="Shape 20"/>
          <p:cNvSpPr/>
          <p:nvPr/>
        </p:nvSpPr>
        <p:spPr>
          <a:xfrm>
            <a:off x="8793480" y="3022182"/>
            <a:ext cx="2377440" cy="0"/>
          </a:xfrm>
          <a:prstGeom prst="line">
            <a:avLst/>
          </a:prstGeom>
          <a:noFill/>
          <a:ln w="6350">
            <a:solidFill>
              <a:srgbClr val="F5B5BC"/>
            </a:solidFill>
            <a:prstDash val="solid"/>
          </a:ln>
        </p:spPr>
      </p:sp>
      <p:sp>
        <p:nvSpPr>
          <p:cNvPr id="23" name="Text 21"/>
          <p:cNvSpPr/>
          <p:nvPr/>
        </p:nvSpPr>
        <p:spPr>
          <a:xfrm>
            <a:off x="8793480" y="2746592"/>
            <a:ext cx="2448763"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No code generator</a:t>
            </a:r>
            <a:endParaRPr lang="en-US" sz="1500" dirty="0"/>
          </a:p>
        </p:txBody>
      </p:sp>
      <p:sp>
        <p:nvSpPr>
          <p:cNvPr id="24" name="Shape 22"/>
          <p:cNvSpPr/>
          <p:nvPr/>
        </p:nvSpPr>
        <p:spPr>
          <a:xfrm>
            <a:off x="8793480" y="3650822"/>
            <a:ext cx="2377440" cy="0"/>
          </a:xfrm>
          <a:prstGeom prst="line">
            <a:avLst/>
          </a:prstGeom>
          <a:noFill/>
          <a:ln w="6350">
            <a:solidFill>
              <a:srgbClr val="F5B5BC"/>
            </a:solidFill>
            <a:prstDash val="solid"/>
          </a:ln>
        </p:spPr>
      </p:sp>
      <p:sp>
        <p:nvSpPr>
          <p:cNvPr id="25" name="Text 23"/>
          <p:cNvSpPr/>
          <p:nvPr/>
        </p:nvSpPr>
        <p:spPr>
          <a:xfrm>
            <a:off x="8793480" y="3152347"/>
            <a:ext cx="2448763" cy="47117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No implementation templates</a:t>
            </a:r>
            <a:endParaRPr lang="en-US" sz="1500" dirty="0"/>
          </a:p>
        </p:txBody>
      </p:sp>
      <p:sp>
        <p:nvSpPr>
          <p:cNvPr id="26" name="Shape 24"/>
          <p:cNvSpPr/>
          <p:nvPr/>
        </p:nvSpPr>
        <p:spPr>
          <a:xfrm>
            <a:off x="8793480" y="4056587"/>
            <a:ext cx="2377440" cy="0"/>
          </a:xfrm>
          <a:prstGeom prst="line">
            <a:avLst/>
          </a:prstGeom>
          <a:noFill/>
          <a:ln w="6350">
            <a:solidFill>
              <a:srgbClr val="F5B5BC"/>
            </a:solidFill>
            <a:prstDash val="solid"/>
          </a:ln>
        </p:spPr>
      </p:sp>
      <p:sp>
        <p:nvSpPr>
          <p:cNvPr id="27" name="Text 25"/>
          <p:cNvSpPr/>
          <p:nvPr/>
        </p:nvSpPr>
        <p:spPr>
          <a:xfrm>
            <a:off x="8793480" y="3780997"/>
            <a:ext cx="2448763"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No scaffolding</a:t>
            </a:r>
            <a:endParaRPr lang="en-US" sz="1500" dirty="0"/>
          </a:p>
        </p:txBody>
      </p:sp>
      <p:sp>
        <p:nvSpPr>
          <p:cNvPr id="28" name="Text 26"/>
          <p:cNvSpPr/>
          <p:nvPr/>
        </p:nvSpPr>
        <p:spPr>
          <a:xfrm>
            <a:off x="8793480" y="4135965"/>
            <a:ext cx="2448763" cy="60142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Downstream use by engineers or a coding assistant is governed separately under existing approvals.</a:t>
            </a:r>
            <a:endParaRPr lang="en-US" sz="1200" dirty="0"/>
          </a:p>
        </p:txBody>
      </p:sp>
      <p:pic>
        <p:nvPicPr>
          <p:cNvPr id="29" name="Image 0" descr="Book">    </p:cNvPr>
          <p:cNvPicPr>
            <a:picLocks noChangeAspect="1"/>
          </p:cNvPicPr>
          <p:nvPr/>
        </p:nvPicPr>
        <p:blipFill>
          <a:blip r:embed="rId1"/>
          <a:srcRect l="0" r="0" t="0" b="0"/>
          <a:stretch/>
        </p:blipFill>
        <p:spPr>
          <a:xfrm>
            <a:off x="812800" y="5092458"/>
            <a:ext cx="228600" cy="228600"/>
          </a:xfrm>
          <a:prstGeom prst="rect">
            <a:avLst/>
          </a:prstGeom>
        </p:spPr>
      </p:pic>
      <p:sp>
        <p:nvSpPr>
          <p:cNvPr id="30" name="Text 27"/>
          <p:cNvSpPr/>
          <p:nvPr/>
        </p:nvSpPr>
        <p:spPr>
          <a:xfrm>
            <a:off x="1168400" y="5110776"/>
            <a:ext cx="4828470"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Finalized artifacts are written as versionable Markdown and YAML under</a:t>
            </a:r>
            <a:endParaRPr lang="en-US" sz="1200" dirty="0"/>
          </a:p>
        </p:txBody>
      </p:sp>
      <p:sp>
        <p:nvSpPr>
          <p:cNvPr id="31" name="Text 28"/>
          <p:cNvSpPr/>
          <p:nvPr/>
        </p:nvSpPr>
        <p:spPr>
          <a:xfrm>
            <a:off x="5983235" y="5072676"/>
            <a:ext cx="1931432" cy="268208"/>
          </a:xfrm>
          <a:prstGeom prst="roundRect">
            <a:avLst>
              <a:gd name="adj" fmla="val 18941"/>
            </a:avLst>
          </a:prstGeom>
          <a:solidFill>
            <a:srgbClr val="1A1A1A"/>
          </a:solidFill>
          <a:ln/>
        </p:spPr>
        <p:txBody>
          <a:bodyPr wrap="none" lIns="0" tIns="23221" rIns="0" bIns="0" rtlCol="0" anchor="t">
            <a:normAutofit/>
          </a:bodyPr>
          <a:lstStyle/>
          <a:p>
            <a:pPr algn="ctr" indent="0" marL="0">
              <a:lnSpc>
                <a:spcPts val="1680"/>
              </a:lnSpc>
              <a:buNone/>
            </a:pPr>
            <a:r>
              <a:rPr lang="en-US" sz="1200" dirty="0">
                <a:solidFill>
                  <a:srgbClr val="FFFFFF"/>
                </a:solidFill>
                <a:latin typeface="IBM Plex Mono" pitchFamily="49" charset="0"/>
                <a:ea typeface="IBM Plex Mono" pitchFamily="49" charset="-122"/>
                <a:cs typeface="IBM Plex Mono" pitchFamily="49" charset="-120"/>
              </a:rPr>
              <a:t>specs/&lt;feature-slug&gt;/</a:t>
            </a:r>
            <a:endParaRPr lang="en-US" sz="1200" dirty="0"/>
          </a:p>
        </p:txBody>
      </p:sp>
      <p:sp>
        <p:nvSpPr>
          <p:cNvPr id="32" name="Text 29"/>
          <p:cNvSpPr/>
          <p:nvPr/>
        </p:nvSpPr>
        <p:spPr>
          <a:xfrm>
            <a:off x="812800" y="6259593"/>
            <a:ext cx="784860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Inter" pitchFamily="34" charset="0"/>
                <a:ea typeface="Inter" pitchFamily="34" charset="-122"/>
                <a:cs typeface="Inter" pitchFamily="34" charset="-120"/>
              </a:rPr>
              <a:t>Proof of concept proposal · Policy CP6.55</a:t>
            </a:r>
            <a:endParaRPr lang="en-US" sz="1200" dirty="0"/>
          </a:p>
        </p:txBody>
      </p:sp>
      <p:sp>
        <p:nvSpPr>
          <p:cNvPr id="33" name="Text 30"/>
          <p:cNvSpPr/>
          <p:nvPr/>
        </p:nvSpPr>
        <p:spPr>
          <a:xfrm>
            <a:off x="10058401" y="6259593"/>
            <a:ext cx="132080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BM Plex Mono" pitchFamily="49" charset="0"/>
                <a:ea typeface="IBM Plex Mono" pitchFamily="49" charset="-122"/>
                <a:cs typeface="IBM Plex Mono" pitchFamily="49" charset="-120"/>
              </a:rPr>
              <a:t>16 / 23</a:t>
            </a:r>
            <a:endParaRPr lang="en-US" sz="1200" dirty="0"/>
          </a:p>
        </p:txBody>
      </p:sp>
      <p:sp>
        <p:nvSpPr>
          <p:cNvPr id="34" name="Text 31"/>
          <p:cNvSpPr/>
          <p:nvPr/>
        </p:nvSpPr>
        <p:spPr>
          <a:xfrm>
            <a:off x="812800" y="1778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1111"/>
                </a:solidFill>
                <a:latin typeface="Inter" pitchFamily="34" charset="0"/>
                <a:ea typeface="Inter" pitchFamily="34" charset="-122"/>
                <a:cs typeface="Inter" pitchFamily="34" charset="-120"/>
              </a:rPr>
              <a:t>Intent Discovery Service</a:t>
            </a:r>
            <a:endParaRPr lang="en-US" sz="1200" dirty="0"/>
          </a:p>
        </p:txBody>
      </p:sp>
      <p:sp>
        <p:nvSpPr>
          <p:cNvPr id="35" name="Text 32"/>
          <p:cNvSpPr/>
          <p:nvPr/>
        </p:nvSpPr>
        <p:spPr>
          <a:xfrm>
            <a:off x="6800850" y="177800"/>
            <a:ext cx="457835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nter" pitchFamily="34" charset="0"/>
                <a:ea typeface="Inter" pitchFamily="34" charset="-122"/>
                <a:cs typeface="Inter" pitchFamily="34" charset="-120"/>
              </a:rPr>
              <a:t>GenAI Governance Panel</a:t>
            </a:r>
            <a:endParaRPr lang="en-US" sz="1200" dirty="0"/>
          </a:p>
        </p:txBody>
      </p:sp>
      <p:pic>
        <p:nvPicPr>
          <p:cNvPr id="36" name="Image 1" descr="line">    </p:cNvPr>
          <p:cNvPicPr>
            <a:picLocks noChangeAspect="1"/>
          </p:cNvPicPr>
          <p:nvPr/>
        </p:nvPicPr>
        <p:blipFill>
          <a:blip r:embed="rId2"/>
          <a:srcRect l="-1137" r="-1137" t="0" b="0"/>
          <a:stretch/>
        </p:blipFill>
        <p:spPr>
          <a:xfrm>
            <a:off x="0" y="533400"/>
            <a:ext cx="12192001" cy="3725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896094"/>
            <a:ext cx="304800" cy="25400"/>
          </a:xfrm>
          <a:prstGeom prst="rect">
            <a:avLst/>
          </a:prstGeom>
          <a:solidFill>
            <a:srgbClr val="EB0A1E"/>
          </a:solidFill>
          <a:ln/>
        </p:spPr>
      </p:sp>
      <p:sp>
        <p:nvSpPr>
          <p:cNvPr id="3" name="Text 1"/>
          <p:cNvSpPr/>
          <p:nvPr/>
        </p:nvSpPr>
        <p:spPr>
          <a:xfrm>
            <a:off x="1219200" y="812800"/>
            <a:ext cx="1711103"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CONTROLS · DATA</a:t>
            </a:r>
            <a:endParaRPr lang="en-US" sz="1200" dirty="0"/>
          </a:p>
        </p:txBody>
      </p:sp>
      <p:sp>
        <p:nvSpPr>
          <p:cNvPr id="4" name="Text 2"/>
          <p:cNvSpPr/>
          <p:nvPr>
            <p:ph type="title"/>
          </p:nvPr>
        </p:nvSpPr>
        <p:spPr>
          <a:xfrm>
            <a:off x="812800" y="1106413"/>
            <a:ext cx="10883393" cy="427725"/>
          </a:xfrm>
          <a:prstGeom prst="rect">
            <a:avLst/>
          </a:prstGeom>
          <a:noFill/>
          <a:ln/>
        </p:spPr>
        <p:txBody>
          <a:bodyPr wrap="square" lIns="0" tIns="0" rIns="0" bIns="0" rtlCol="0" anchor="t">
            <a:normAutofit/>
          </a:bodyPr>
          <a:lstStyle/>
          <a:p>
            <a:pPr algn="l" indent="0" marL="0">
              <a:lnSpc>
                <a:spcPts val="3520"/>
              </a:lnSpc>
              <a:buNone/>
            </a:pPr>
            <a:r>
              <a:rPr lang="en-US" sz="3200" b="1" i="0" spc="-50" kern="0" dirty="0">
                <a:solidFill>
                  <a:srgbClr val="1A1A1A"/>
                </a:solidFill>
                <a:latin typeface="Inter" pitchFamily="34" charset="0"/>
                <a:ea typeface="Inter" pitchFamily="34" charset="-122"/>
                <a:cs typeface="Inter" pitchFamily="34" charset="-120"/>
              </a:rPr>
              <a:t>Internal, non-personal data only</a:t>
            </a:r>
            <a:endParaRPr lang="en-US" sz="3200" dirty="0"/>
          </a:p>
        </p:txBody>
      </p:sp>
      <p:sp>
        <p:nvSpPr>
          <p:cNvPr id="5" name="Shape 3"/>
          <p:cNvSpPr/>
          <p:nvPr/>
        </p:nvSpPr>
        <p:spPr>
          <a:xfrm>
            <a:off x="815975" y="1816720"/>
            <a:ext cx="3793490" cy="3013075"/>
          </a:xfrm>
          <a:prstGeom prst="roundRect">
            <a:avLst>
              <a:gd name="adj" fmla="val 1581"/>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6" name="Text 4"/>
          <p:cNvSpPr/>
          <p:nvPr/>
        </p:nvSpPr>
        <p:spPr>
          <a:xfrm>
            <a:off x="1021080" y="2021818"/>
            <a:ext cx="3484779"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8595B"/>
                </a:solidFill>
                <a:latin typeface="Inter" pitchFamily="34" charset="0"/>
                <a:ea typeface="Inter" pitchFamily="34" charset="-122"/>
                <a:cs typeface="Inter" pitchFamily="34" charset="-120"/>
              </a:rPr>
              <a:t>WHAT IT WOULD USE</a:t>
            </a:r>
            <a:endParaRPr lang="en-US" sz="1200" dirty="0"/>
          </a:p>
        </p:txBody>
      </p:sp>
      <p:sp>
        <p:nvSpPr>
          <p:cNvPr id="7" name="Text 5"/>
          <p:cNvSpPr/>
          <p:nvPr/>
        </p:nvSpPr>
        <p:spPr>
          <a:xfrm>
            <a:off x="1021080" y="2264631"/>
            <a:ext cx="3484779"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Inter" pitchFamily="34" charset="0"/>
                <a:ea typeface="Inter" pitchFamily="34" charset="-122"/>
                <a:cs typeface="Inter" pitchFamily="34" charset="-120"/>
              </a:rPr>
              <a:t>All classified Internal; none personal</a:t>
            </a:r>
            <a:endParaRPr lang="en-US" sz="1200" dirty="0"/>
          </a:p>
        </p:txBody>
      </p:sp>
      <p:sp>
        <p:nvSpPr>
          <p:cNvPr id="8" name="Text 6"/>
          <p:cNvSpPr/>
          <p:nvPr/>
        </p:nvSpPr>
        <p:spPr>
          <a:xfrm>
            <a:off x="1021080" y="2583631"/>
            <a:ext cx="3484779"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Feature requirement text</a:t>
            </a:r>
            <a:endParaRPr lang="en-US" sz="1200" dirty="0"/>
          </a:p>
        </p:txBody>
      </p:sp>
      <p:sp>
        <p:nvSpPr>
          <p:cNvPr id="9" name="Text 7"/>
          <p:cNvSpPr/>
          <p:nvPr/>
        </p:nvSpPr>
        <p:spPr>
          <a:xfrm>
            <a:off x="1021080" y="2801045"/>
            <a:ext cx="3484779"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Free-text descriptions of desired behavior</a:t>
            </a:r>
            <a:endParaRPr lang="en-US" sz="1200" dirty="0"/>
          </a:p>
        </p:txBody>
      </p:sp>
      <p:sp>
        <p:nvSpPr>
          <p:cNvPr id="10" name="Text 8"/>
          <p:cNvSpPr/>
          <p:nvPr/>
        </p:nvSpPr>
        <p:spPr>
          <a:xfrm>
            <a:off x="1021080" y="3120058"/>
            <a:ext cx="3484779"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Business rules and decision logic</a:t>
            </a:r>
            <a:endParaRPr lang="en-US" sz="1200" dirty="0"/>
          </a:p>
        </p:txBody>
      </p:sp>
      <p:sp>
        <p:nvSpPr>
          <p:cNvPr id="11" name="Text 9"/>
          <p:cNvSpPr/>
          <p:nvPr/>
        </p:nvSpPr>
        <p:spPr>
          <a:xfrm>
            <a:off x="1021080" y="3337458"/>
            <a:ext cx="3484779"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Routing rules, states, invariants</a:t>
            </a:r>
            <a:endParaRPr lang="en-US" sz="1200" dirty="0"/>
          </a:p>
        </p:txBody>
      </p:sp>
      <p:sp>
        <p:nvSpPr>
          <p:cNvPr id="12" name="Text 10"/>
          <p:cNvSpPr/>
          <p:nvPr/>
        </p:nvSpPr>
        <p:spPr>
          <a:xfrm>
            <a:off x="1021080" y="3656471"/>
            <a:ext cx="3484779"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Glossary and architecture references</a:t>
            </a:r>
            <a:endParaRPr lang="en-US" sz="1200" dirty="0"/>
          </a:p>
        </p:txBody>
      </p:sp>
      <p:sp>
        <p:nvSpPr>
          <p:cNvPr id="13" name="Text 11"/>
          <p:cNvSpPr/>
          <p:nvPr/>
        </p:nvSpPr>
        <p:spPr>
          <a:xfrm>
            <a:off x="1021080" y="3873872"/>
            <a:ext cx="3484779"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Internal OKF knowledge base material</a:t>
            </a:r>
            <a:endParaRPr lang="en-US" sz="1200" dirty="0"/>
          </a:p>
        </p:txBody>
      </p:sp>
      <p:sp>
        <p:nvSpPr>
          <p:cNvPr id="14" name="Text 12"/>
          <p:cNvSpPr/>
          <p:nvPr/>
        </p:nvSpPr>
        <p:spPr>
          <a:xfrm>
            <a:off x="1021080" y="4192885"/>
            <a:ext cx="3484779"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Generated specification artifacts</a:t>
            </a:r>
            <a:endParaRPr lang="en-US" sz="1200" dirty="0"/>
          </a:p>
        </p:txBody>
      </p:sp>
      <p:sp>
        <p:nvSpPr>
          <p:cNvPr id="15" name="Text 13"/>
          <p:cNvSpPr/>
          <p:nvPr/>
        </p:nvSpPr>
        <p:spPr>
          <a:xfrm>
            <a:off x="1021080" y="4410298"/>
            <a:ext cx="3484779"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Models, diagrams, findings, handoff docs</a:t>
            </a:r>
            <a:endParaRPr lang="en-US" sz="1200" dirty="0"/>
          </a:p>
        </p:txBody>
      </p:sp>
      <p:sp>
        <p:nvSpPr>
          <p:cNvPr id="16" name="Shape 14"/>
          <p:cNvSpPr/>
          <p:nvPr/>
        </p:nvSpPr>
        <p:spPr>
          <a:xfrm>
            <a:off x="4768215" y="1816720"/>
            <a:ext cx="3229610" cy="3013075"/>
          </a:xfrm>
          <a:prstGeom prst="roundRect">
            <a:avLst>
              <a:gd name="adj" fmla="val 1581"/>
            </a:avLst>
          </a:prstGeom>
          <a:solidFill>
            <a:srgbClr val="FDECEE"/>
          </a:solidFill>
          <a:ln w="6350">
            <a:solidFill>
              <a:srgbClr val="F5B5BC"/>
            </a:solidFill>
            <a:prstDash val="solid"/>
          </a:ln>
        </p:spPr>
      </p:sp>
      <p:sp>
        <p:nvSpPr>
          <p:cNvPr id="17" name="Text 15"/>
          <p:cNvSpPr/>
          <p:nvPr/>
        </p:nvSpPr>
        <p:spPr>
          <a:xfrm>
            <a:off x="4973320" y="2021818"/>
            <a:ext cx="2903982"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NOT PERMITTED</a:t>
            </a:r>
            <a:endParaRPr lang="en-US" sz="1200" dirty="0"/>
          </a:p>
        </p:txBody>
      </p:sp>
      <p:sp>
        <p:nvSpPr>
          <p:cNvPr id="18" name="Shape 16"/>
          <p:cNvSpPr/>
          <p:nvPr/>
        </p:nvSpPr>
        <p:spPr>
          <a:xfrm>
            <a:off x="4973320" y="2598244"/>
            <a:ext cx="2819400" cy="0"/>
          </a:xfrm>
          <a:prstGeom prst="line">
            <a:avLst/>
          </a:prstGeom>
          <a:noFill/>
          <a:ln w="6350">
            <a:solidFill>
              <a:srgbClr val="F5B5BC"/>
            </a:solidFill>
            <a:prstDash val="solid"/>
          </a:ln>
        </p:spPr>
      </p:sp>
      <p:sp>
        <p:nvSpPr>
          <p:cNvPr id="19" name="Text 17"/>
          <p:cNvSpPr/>
          <p:nvPr/>
        </p:nvSpPr>
        <p:spPr>
          <a:xfrm>
            <a:off x="4973320" y="2353531"/>
            <a:ext cx="2903982"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A1A1A"/>
                </a:solidFill>
                <a:latin typeface="Inter" pitchFamily="34" charset="0"/>
                <a:ea typeface="Inter" pitchFamily="34" charset="-122"/>
                <a:cs typeface="Inter" pitchFamily="34" charset="-120"/>
              </a:rPr>
              <a:t>Personal Data</a:t>
            </a:r>
            <a:endParaRPr lang="en-US" sz="1200" dirty="0"/>
          </a:p>
        </p:txBody>
      </p:sp>
      <p:sp>
        <p:nvSpPr>
          <p:cNvPr id="20" name="Shape 18"/>
          <p:cNvSpPr/>
          <p:nvPr/>
        </p:nvSpPr>
        <p:spPr>
          <a:xfrm>
            <a:off x="4973320" y="2985830"/>
            <a:ext cx="2819400" cy="0"/>
          </a:xfrm>
          <a:prstGeom prst="line">
            <a:avLst/>
          </a:prstGeom>
          <a:noFill/>
          <a:ln w="6350">
            <a:solidFill>
              <a:srgbClr val="F5B5BC"/>
            </a:solidFill>
            <a:prstDash val="solid"/>
          </a:ln>
        </p:spPr>
      </p:sp>
      <p:sp>
        <p:nvSpPr>
          <p:cNvPr id="21" name="Text 19"/>
          <p:cNvSpPr/>
          <p:nvPr/>
        </p:nvSpPr>
        <p:spPr>
          <a:xfrm>
            <a:off x="4973320" y="2741116"/>
            <a:ext cx="2903982"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A1A1A"/>
                </a:solidFill>
                <a:latin typeface="Inter" pitchFamily="34" charset="0"/>
                <a:ea typeface="Inter" pitchFamily="34" charset="-122"/>
                <a:cs typeface="Inter" pitchFamily="34" charset="-120"/>
              </a:rPr>
              <a:t>Customer records</a:t>
            </a:r>
            <a:endParaRPr lang="en-US" sz="1200" dirty="0"/>
          </a:p>
        </p:txBody>
      </p:sp>
      <p:sp>
        <p:nvSpPr>
          <p:cNvPr id="22" name="Shape 20"/>
          <p:cNvSpPr/>
          <p:nvPr/>
        </p:nvSpPr>
        <p:spPr>
          <a:xfrm>
            <a:off x="4973320" y="3373415"/>
            <a:ext cx="2819400" cy="0"/>
          </a:xfrm>
          <a:prstGeom prst="line">
            <a:avLst/>
          </a:prstGeom>
          <a:noFill/>
          <a:ln w="6350">
            <a:solidFill>
              <a:srgbClr val="F5B5BC"/>
            </a:solidFill>
            <a:prstDash val="solid"/>
          </a:ln>
        </p:spPr>
      </p:sp>
      <p:sp>
        <p:nvSpPr>
          <p:cNvPr id="23" name="Text 21"/>
          <p:cNvSpPr/>
          <p:nvPr/>
        </p:nvSpPr>
        <p:spPr>
          <a:xfrm>
            <a:off x="4973320" y="3128702"/>
            <a:ext cx="2903982"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A1A1A"/>
                </a:solidFill>
                <a:latin typeface="Inter" pitchFamily="34" charset="0"/>
                <a:ea typeface="Inter" pitchFamily="34" charset="-122"/>
                <a:cs typeface="Inter" pitchFamily="34" charset="-120"/>
              </a:rPr>
              <a:t>Production data</a:t>
            </a:r>
            <a:endParaRPr lang="en-US" sz="1200" dirty="0"/>
          </a:p>
        </p:txBody>
      </p:sp>
      <p:sp>
        <p:nvSpPr>
          <p:cNvPr id="24" name="Shape 22"/>
          <p:cNvSpPr/>
          <p:nvPr/>
        </p:nvSpPr>
        <p:spPr>
          <a:xfrm>
            <a:off x="4973320" y="3761001"/>
            <a:ext cx="2819400" cy="0"/>
          </a:xfrm>
          <a:prstGeom prst="line">
            <a:avLst/>
          </a:prstGeom>
          <a:noFill/>
          <a:ln w="6350">
            <a:solidFill>
              <a:srgbClr val="F5B5BC"/>
            </a:solidFill>
            <a:prstDash val="solid"/>
          </a:ln>
        </p:spPr>
      </p:sp>
      <p:sp>
        <p:nvSpPr>
          <p:cNvPr id="25" name="Text 23"/>
          <p:cNvSpPr/>
          <p:nvPr/>
        </p:nvSpPr>
        <p:spPr>
          <a:xfrm>
            <a:off x="4973320" y="3516288"/>
            <a:ext cx="2903982"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A1A1A"/>
                </a:solidFill>
                <a:latin typeface="Inter" pitchFamily="34" charset="0"/>
                <a:ea typeface="Inter" pitchFamily="34" charset="-122"/>
                <a:cs typeface="Inter" pitchFamily="34" charset="-120"/>
              </a:rPr>
              <a:t>Account numbers or SSNs</a:t>
            </a:r>
            <a:endParaRPr lang="en-US" sz="1200" dirty="0"/>
          </a:p>
        </p:txBody>
      </p:sp>
      <p:sp>
        <p:nvSpPr>
          <p:cNvPr id="26" name="Shape 24"/>
          <p:cNvSpPr/>
          <p:nvPr/>
        </p:nvSpPr>
        <p:spPr>
          <a:xfrm>
            <a:off x="4973320" y="4148599"/>
            <a:ext cx="2819400" cy="0"/>
          </a:xfrm>
          <a:prstGeom prst="line">
            <a:avLst/>
          </a:prstGeom>
          <a:noFill/>
          <a:ln w="6350">
            <a:solidFill>
              <a:srgbClr val="F5B5BC"/>
            </a:solidFill>
            <a:prstDash val="solid"/>
          </a:ln>
        </p:spPr>
      </p:sp>
      <p:sp>
        <p:nvSpPr>
          <p:cNvPr id="27" name="Text 25"/>
          <p:cNvSpPr/>
          <p:nvPr/>
        </p:nvSpPr>
        <p:spPr>
          <a:xfrm>
            <a:off x="4973320" y="3903886"/>
            <a:ext cx="2903982"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A1A1A"/>
                </a:solidFill>
                <a:latin typeface="Inter" pitchFamily="34" charset="0"/>
                <a:ea typeface="Inter" pitchFamily="34" charset="-122"/>
                <a:cs typeface="Inter" pitchFamily="34" charset="-120"/>
              </a:rPr>
              <a:t>Credit or financial data</a:t>
            </a:r>
            <a:endParaRPr lang="en-US" sz="1200" dirty="0"/>
          </a:p>
        </p:txBody>
      </p:sp>
      <p:sp>
        <p:nvSpPr>
          <p:cNvPr id="28" name="Text 26"/>
          <p:cNvSpPr/>
          <p:nvPr/>
        </p:nvSpPr>
        <p:spPr>
          <a:xfrm>
            <a:off x="4973320" y="4240671"/>
            <a:ext cx="2903982" cy="409416"/>
          </a:xfrm>
          <a:prstGeom prst="rect">
            <a:avLst/>
          </a:prstGeom>
          <a:noFill/>
          <a:ln/>
        </p:spPr>
        <p:txBody>
          <a:bodyPr wrap="square" lIns="0" tIns="0" rIns="0" bIns="0" rtlCol="0" anchor="t">
            <a:normAutofit/>
          </a:bodyPr>
          <a:lstStyle/>
          <a:p>
            <a:pPr algn="l" indent="0" marL="0">
              <a:lnSpc>
                <a:spcPts val="1680"/>
              </a:lnSpc>
              <a:buNone/>
            </a:pPr>
            <a:r>
              <a:rPr lang="en-US" sz="1200" i="1" dirty="0">
                <a:solidFill>
                  <a:srgbClr val="58595B"/>
                </a:solidFill>
                <a:latin typeface="Inter" pitchFamily="34" charset="0"/>
                <a:ea typeface="Inter" pitchFamily="34" charset="-122"/>
                <a:cs typeface="Inter" pitchFamily="34" charset="-120"/>
              </a:rPr>
              <a:t>Inputs describe what software should do, never data about customers.</a:t>
            </a:r>
            <a:endParaRPr lang="en-US" sz="1200" dirty="0"/>
          </a:p>
        </p:txBody>
      </p:sp>
      <p:sp>
        <p:nvSpPr>
          <p:cNvPr id="29" name="Shape 27"/>
          <p:cNvSpPr/>
          <p:nvPr/>
        </p:nvSpPr>
        <p:spPr>
          <a:xfrm>
            <a:off x="8153401" y="1813545"/>
            <a:ext cx="3225800" cy="3019425"/>
          </a:xfrm>
          <a:prstGeom prst="roundRect">
            <a:avLst>
              <a:gd name="adj" fmla="val 1682"/>
            </a:avLst>
          </a:prstGeom>
          <a:solidFill>
            <a:srgbClr val="1A1A1A"/>
          </a:solidFill>
          <a:ln/>
        </p:spPr>
      </p:sp>
      <p:sp>
        <p:nvSpPr>
          <p:cNvPr id="30" name="Text 28"/>
          <p:cNvSpPr/>
          <p:nvPr/>
        </p:nvSpPr>
        <p:spPr>
          <a:xfrm>
            <a:off x="8356601" y="2016745"/>
            <a:ext cx="2903982"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5A67"/>
                </a:solidFill>
                <a:latin typeface="Inter" pitchFamily="34" charset="0"/>
                <a:ea typeface="Inter" pitchFamily="34" charset="-122"/>
                <a:cs typeface="Inter" pitchFamily="34" charset="-120"/>
              </a:rPr>
              <a:t>SAFEGUARDS</a:t>
            </a:r>
            <a:endParaRPr lang="en-US" sz="1200" dirty="0"/>
          </a:p>
        </p:txBody>
      </p:sp>
      <p:pic>
        <p:nvPicPr>
          <p:cNvPr id="31" name="Image 0" descr="CheckCircle">    </p:cNvPr>
          <p:cNvPicPr>
            <a:picLocks noChangeAspect="1"/>
          </p:cNvPicPr>
          <p:nvPr/>
        </p:nvPicPr>
        <p:blipFill>
          <a:blip r:embed="rId1"/>
          <a:srcRect l="0" r="0" t="-1161" b="-1161"/>
          <a:stretch/>
        </p:blipFill>
        <p:spPr>
          <a:xfrm>
            <a:off x="8356601" y="2335746"/>
            <a:ext cx="111707" cy="203200"/>
          </a:xfrm>
          <a:prstGeom prst="rect">
            <a:avLst/>
          </a:prstGeom>
        </p:spPr>
      </p:pic>
      <p:sp>
        <p:nvSpPr>
          <p:cNvPr id="32" name="Text 29"/>
          <p:cNvSpPr/>
          <p:nvPr/>
        </p:nvSpPr>
        <p:spPr>
          <a:xfrm>
            <a:off x="8557208" y="2335746"/>
            <a:ext cx="2697357"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Automated PII screen blocks restricted data before storage or model calls</a:t>
            </a:r>
            <a:endParaRPr lang="en-US" sz="1200" dirty="0"/>
          </a:p>
        </p:txBody>
      </p:sp>
      <p:pic>
        <p:nvPicPr>
          <p:cNvPr id="33" name="Image 1" descr="CheckCircle">    </p:cNvPr>
          <p:cNvPicPr>
            <a:picLocks noChangeAspect="1"/>
          </p:cNvPicPr>
          <p:nvPr/>
        </p:nvPicPr>
        <p:blipFill>
          <a:blip r:embed="rId2"/>
          <a:srcRect l="0" r="0" t="-532" b="-532"/>
          <a:stretch/>
        </p:blipFill>
        <p:spPr>
          <a:xfrm>
            <a:off x="8356601" y="2846760"/>
            <a:ext cx="119380" cy="203200"/>
          </a:xfrm>
          <a:prstGeom prst="rect">
            <a:avLst/>
          </a:prstGeom>
        </p:spPr>
      </p:pic>
      <p:sp>
        <p:nvSpPr>
          <p:cNvPr id="34" name="Text 30"/>
          <p:cNvSpPr/>
          <p:nvPr/>
        </p:nvSpPr>
        <p:spPr>
          <a:xfrm>
            <a:off x="8564880" y="2846760"/>
            <a:ext cx="2689454"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Reference content screened, reviewed and redacted before indexing</a:t>
            </a:r>
            <a:endParaRPr lang="en-US" sz="1200" dirty="0"/>
          </a:p>
        </p:txBody>
      </p:sp>
      <p:pic>
        <p:nvPicPr>
          <p:cNvPr id="35" name="Image 2" descr="CheckCircle">    </p:cNvPr>
          <p:cNvPicPr>
            <a:picLocks noChangeAspect="1"/>
          </p:cNvPicPr>
          <p:nvPr/>
        </p:nvPicPr>
        <p:blipFill>
          <a:blip r:embed="rId3"/>
          <a:srcRect l="-669" r="-669" t="0" b="0"/>
          <a:stretch/>
        </p:blipFill>
        <p:spPr>
          <a:xfrm>
            <a:off x="8356601" y="3357786"/>
            <a:ext cx="122264" cy="203200"/>
          </a:xfrm>
          <a:prstGeom prst="rect">
            <a:avLst/>
          </a:prstGeom>
        </p:spPr>
      </p:pic>
      <p:sp>
        <p:nvSpPr>
          <p:cNvPr id="36" name="Text 31"/>
          <p:cNvSpPr/>
          <p:nvPr/>
        </p:nvSpPr>
        <p:spPr>
          <a:xfrm>
            <a:off x="8567765" y="3357786"/>
            <a:ext cx="2686483"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Bedrock Guardrails on model input and output; no public endpoints</a:t>
            </a:r>
            <a:endParaRPr lang="en-US" sz="1200" dirty="0"/>
          </a:p>
        </p:txBody>
      </p:sp>
      <p:pic>
        <p:nvPicPr>
          <p:cNvPr id="37" name="Image 3" descr="CheckCircle">    </p:cNvPr>
          <p:cNvPicPr>
            <a:picLocks noChangeAspect="1"/>
          </p:cNvPicPr>
          <p:nvPr/>
        </p:nvPicPr>
        <p:blipFill>
          <a:blip r:embed="rId4"/>
          <a:srcRect l="0" r="0" t="-856" b="-856"/>
          <a:stretch/>
        </p:blipFill>
        <p:spPr>
          <a:xfrm>
            <a:off x="8356601" y="3868800"/>
            <a:ext cx="162322" cy="203200"/>
          </a:xfrm>
          <a:prstGeom prst="rect">
            <a:avLst/>
          </a:prstGeom>
        </p:spPr>
      </p:pic>
      <p:sp>
        <p:nvSpPr>
          <p:cNvPr id="38" name="Text 32"/>
          <p:cNvSpPr/>
          <p:nvPr/>
        </p:nvSpPr>
        <p:spPr>
          <a:xfrm>
            <a:off x="8607823" y="3868800"/>
            <a:ext cx="2645224"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SSO sign-in; all data stays in the dev environment</a:t>
            </a:r>
            <a:endParaRPr lang="en-US" sz="1200" dirty="0"/>
          </a:p>
        </p:txBody>
      </p:sp>
      <p:sp>
        <p:nvSpPr>
          <p:cNvPr id="39" name="Text 33"/>
          <p:cNvSpPr/>
          <p:nvPr/>
        </p:nvSpPr>
        <p:spPr>
          <a:xfrm>
            <a:off x="812800" y="6259599"/>
            <a:ext cx="784860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Inter" pitchFamily="34" charset="0"/>
                <a:ea typeface="Inter" pitchFamily="34" charset="-122"/>
                <a:cs typeface="Inter" pitchFamily="34" charset="-120"/>
              </a:rPr>
              <a:t>Proof of concept proposal · Policy CP6.55</a:t>
            </a:r>
            <a:endParaRPr lang="en-US" sz="1200" dirty="0"/>
          </a:p>
        </p:txBody>
      </p:sp>
      <p:sp>
        <p:nvSpPr>
          <p:cNvPr id="40" name="Text 34"/>
          <p:cNvSpPr/>
          <p:nvPr/>
        </p:nvSpPr>
        <p:spPr>
          <a:xfrm>
            <a:off x="10058401" y="6259599"/>
            <a:ext cx="132080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BM Plex Mono" pitchFamily="49" charset="0"/>
                <a:ea typeface="IBM Plex Mono" pitchFamily="49" charset="-122"/>
                <a:cs typeface="IBM Plex Mono" pitchFamily="49" charset="-120"/>
              </a:rPr>
              <a:t>17 / 23</a:t>
            </a:r>
            <a:endParaRPr lang="en-US" sz="1200" dirty="0"/>
          </a:p>
        </p:txBody>
      </p:sp>
      <p:sp>
        <p:nvSpPr>
          <p:cNvPr id="41" name="Text 35"/>
          <p:cNvSpPr/>
          <p:nvPr/>
        </p:nvSpPr>
        <p:spPr>
          <a:xfrm>
            <a:off x="812800" y="1778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1111"/>
                </a:solidFill>
                <a:latin typeface="Inter" pitchFamily="34" charset="0"/>
                <a:ea typeface="Inter" pitchFamily="34" charset="-122"/>
                <a:cs typeface="Inter" pitchFamily="34" charset="-120"/>
              </a:rPr>
              <a:t>Intent Discovery Service</a:t>
            </a:r>
            <a:endParaRPr lang="en-US" sz="1200" dirty="0"/>
          </a:p>
        </p:txBody>
      </p:sp>
      <p:sp>
        <p:nvSpPr>
          <p:cNvPr id="42" name="Text 36"/>
          <p:cNvSpPr/>
          <p:nvPr/>
        </p:nvSpPr>
        <p:spPr>
          <a:xfrm>
            <a:off x="6800850" y="177800"/>
            <a:ext cx="457835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nter" pitchFamily="34" charset="0"/>
                <a:ea typeface="Inter" pitchFamily="34" charset="-122"/>
                <a:cs typeface="Inter" pitchFamily="34" charset="-120"/>
              </a:rPr>
              <a:t>GenAI Governance Panel</a:t>
            </a:r>
            <a:endParaRPr lang="en-US" sz="1200" dirty="0"/>
          </a:p>
        </p:txBody>
      </p:sp>
      <p:pic>
        <p:nvPicPr>
          <p:cNvPr id="43" name="Image 4" descr="line">    </p:cNvPr>
          <p:cNvPicPr>
            <a:picLocks noChangeAspect="1"/>
          </p:cNvPicPr>
          <p:nvPr/>
        </p:nvPicPr>
        <p:blipFill>
          <a:blip r:embed="rId5"/>
          <a:srcRect l="-1137" r="-1137" t="0" b="0"/>
          <a:stretch/>
        </p:blipFill>
        <p:spPr>
          <a:xfrm>
            <a:off x="0" y="533400"/>
            <a:ext cx="12192001" cy="3725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896094"/>
            <a:ext cx="304800" cy="25400"/>
          </a:xfrm>
          <a:prstGeom prst="rect">
            <a:avLst/>
          </a:prstGeom>
          <a:solidFill>
            <a:srgbClr val="EB0A1E"/>
          </a:solidFill>
          <a:ln/>
        </p:spPr>
      </p:sp>
      <p:sp>
        <p:nvSpPr>
          <p:cNvPr id="3" name="Text 1"/>
          <p:cNvSpPr/>
          <p:nvPr/>
        </p:nvSpPr>
        <p:spPr>
          <a:xfrm>
            <a:off x="1219200" y="812800"/>
            <a:ext cx="3196558"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CONTROLS · GUARDRAILS AND PII</a:t>
            </a:r>
            <a:endParaRPr lang="en-US" sz="1200" dirty="0"/>
          </a:p>
        </p:txBody>
      </p:sp>
      <p:sp>
        <p:nvSpPr>
          <p:cNvPr id="4" name="Text 2"/>
          <p:cNvSpPr/>
          <p:nvPr>
            <p:ph type="title"/>
          </p:nvPr>
        </p:nvSpPr>
        <p:spPr>
          <a:xfrm>
            <a:off x="812800" y="1106413"/>
            <a:ext cx="10883393" cy="427725"/>
          </a:xfrm>
          <a:prstGeom prst="rect">
            <a:avLst/>
          </a:prstGeom>
          <a:noFill/>
          <a:ln/>
        </p:spPr>
        <p:txBody>
          <a:bodyPr wrap="square" lIns="0" tIns="0" rIns="0" bIns="0" rtlCol="0" anchor="t">
            <a:normAutofit/>
          </a:bodyPr>
          <a:lstStyle/>
          <a:p>
            <a:pPr algn="l" indent="0" marL="0">
              <a:lnSpc>
                <a:spcPts val="3520"/>
              </a:lnSpc>
              <a:buNone/>
            </a:pPr>
            <a:r>
              <a:rPr lang="en-US" sz="3200" b="1" i="0" spc="-50" kern="0" dirty="0">
                <a:solidFill>
                  <a:srgbClr val="1A1A1A"/>
                </a:solidFill>
                <a:latin typeface="Inter" pitchFamily="34" charset="0"/>
                <a:ea typeface="Inter" pitchFamily="34" charset="-122"/>
                <a:cs typeface="Inter" pitchFamily="34" charset="-120"/>
              </a:rPr>
              <a:t>Seven layers keep personal data out</a:t>
            </a:r>
            <a:endParaRPr lang="en-US" sz="3200" dirty="0"/>
          </a:p>
        </p:txBody>
      </p:sp>
      <p:sp>
        <p:nvSpPr>
          <p:cNvPr id="5" name="Shape 3"/>
          <p:cNvSpPr/>
          <p:nvPr/>
        </p:nvSpPr>
        <p:spPr>
          <a:xfrm>
            <a:off x="11376026" y="1762745"/>
            <a:ext cx="0" cy="2867025"/>
          </a:xfrm>
          <a:prstGeom prst="line">
            <a:avLst/>
          </a:prstGeom>
          <a:noFill/>
          <a:ln w="6350">
            <a:solidFill>
              <a:srgbClr val="E0E0E0"/>
            </a:solidFill>
            <a:prstDash val="solid"/>
          </a:ln>
        </p:spPr>
      </p:sp>
      <p:sp>
        <p:nvSpPr>
          <p:cNvPr id="6" name="Shape 4"/>
          <p:cNvSpPr/>
          <p:nvPr/>
        </p:nvSpPr>
        <p:spPr>
          <a:xfrm>
            <a:off x="812800" y="4626595"/>
            <a:ext cx="10566401" cy="0"/>
          </a:xfrm>
          <a:prstGeom prst="line">
            <a:avLst/>
          </a:prstGeom>
          <a:noFill/>
          <a:ln w="6350">
            <a:solidFill>
              <a:srgbClr val="E0E0E0"/>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4653" y="1774598"/>
          <a:ext cx="10549467" cy="2850092"/>
        </p:xfrm>
        <a:graphic>
          <a:graphicData uri="http://schemas.openxmlformats.org/drawingml/2006/table">
            <a:tbl>
              <a:tblPr/>
              <a:tblGrid>
                <a:gridCol w="1582420"/>
                <a:gridCol w="6013196"/>
                <a:gridCol w="2953851"/>
              </a:tblGrid>
              <a:tr h="356261">
                <a:tc>
                  <a:txBody>
                    <a:bodyPr/>
                    <a:lstStyle/>
                    <a:p>
                      <a:pPr indent="0" marL="0">
                        <a:lnSpc>
                          <a:spcPts val="1680"/>
                        </a:lnSpc>
                        <a:buNone/>
                      </a:pPr>
                      <a:r>
                        <a:rPr lang="en-US" sz="1200" b="1" dirty="0">
                          <a:solidFill>
                            <a:srgbClr val="FFFFFF"/>
                          </a:solidFill>
                          <a:latin typeface="Inter" pitchFamily="34" charset="0"/>
                          <a:ea typeface="Inter" pitchFamily="34" charset="-122"/>
                          <a:cs typeface="Inter" pitchFamily="34" charset="-120"/>
                        </a:rPr>
                        <a:t>Layer</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191918"/>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91918"/>
                      </a:solidFill>
                      <a:prstDash val="solid"/>
                      <a:round/>
                      <a:headEnd type="none" w="med" len="med"/>
                      <a:tailEnd type="none" w="med" len="med"/>
                    </a:lnB>
                    <a:solidFill>
                      <a:srgbClr val="1A1A1A"/>
                    </a:solidFill>
                  </a:tcPr>
                </a:tc>
                <a:tc>
                  <a:txBody>
                    <a:bodyPr/>
                    <a:lstStyle/>
                    <a:p>
                      <a:pPr indent="0" marL="0">
                        <a:lnSpc>
                          <a:spcPts val="1680"/>
                        </a:lnSpc>
                        <a:buNone/>
                      </a:pPr>
                      <a:r>
                        <a:rPr lang="en-US" sz="1200" b="1" dirty="0">
                          <a:solidFill>
                            <a:srgbClr val="FFFFFF"/>
                          </a:solidFill>
                          <a:latin typeface="Inter" pitchFamily="34" charset="0"/>
                          <a:ea typeface="Inter" pitchFamily="34" charset="-122"/>
                          <a:cs typeface="Inter" pitchFamily="34" charset="-120"/>
                        </a:rPr>
                        <a:t>Control</a:t>
                      </a:r>
                      <a:endParaRPr lang="en-US" sz="1200" dirty="0">
                        <a:latin typeface="Inter" charset="0"/>
                        <a:ea typeface="Inter" charset="0"/>
                        <a:cs typeface="Inter" charset="0"/>
                      </a:endParaRPr>
                    </a:p>
                  </a:txBody>
                  <a:tcPr marL="127000" marR="127000" marT="76200" marB="76200" anchor="t">
                    <a:lnL w="12700" cap="flat" cmpd="sng" algn="ctr">
                      <a:solidFill>
                        <a:srgbClr val="191918"/>
                      </a:solidFill>
                      <a:prstDash val="solid"/>
                      <a:round/>
                      <a:headEnd type="none" w="med" len="med"/>
                      <a:tailEnd type="none" w="med" len="med"/>
                    </a:lnL>
                    <a:lnR w="12700" cap="flat" cmpd="sng" algn="ctr">
                      <a:solidFill>
                        <a:srgbClr val="191918"/>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91918"/>
                      </a:solidFill>
                      <a:prstDash val="solid"/>
                      <a:round/>
                      <a:headEnd type="none" w="med" len="med"/>
                      <a:tailEnd type="none" w="med" len="med"/>
                    </a:lnB>
                    <a:solidFill>
                      <a:srgbClr val="1A1A1A"/>
                    </a:solidFill>
                  </a:tcPr>
                </a:tc>
                <a:tc>
                  <a:txBody>
                    <a:bodyPr/>
                    <a:lstStyle/>
                    <a:p>
                      <a:pPr indent="0" marL="0">
                        <a:lnSpc>
                          <a:spcPts val="1680"/>
                        </a:lnSpc>
                        <a:buNone/>
                      </a:pPr>
                      <a:r>
                        <a:rPr lang="en-US" sz="1200" b="1" dirty="0">
                          <a:solidFill>
                            <a:srgbClr val="FFFFFF"/>
                          </a:solidFill>
                          <a:latin typeface="Inter" pitchFamily="34" charset="0"/>
                          <a:ea typeface="Inter" pitchFamily="34" charset="-122"/>
                          <a:cs typeface="Inter" pitchFamily="34" charset="-120"/>
                        </a:rPr>
                        <a:t>Prevents</a:t>
                      </a:r>
                      <a:endParaRPr lang="en-US" sz="1200" dirty="0">
                        <a:latin typeface="Inter" charset="0"/>
                        <a:ea typeface="Inter" charset="0"/>
                        <a:cs typeface="Inter" charset="0"/>
                      </a:endParaRPr>
                    </a:p>
                  </a:txBody>
                  <a:tcPr marL="127000" marR="127000" marT="76200" marB="76200" anchor="t">
                    <a:lnL w="12700" cap="flat" cmpd="sng" algn="ctr">
                      <a:solidFill>
                        <a:srgbClr val="191918"/>
                      </a:solidFill>
                      <a:prstDash val="solid"/>
                      <a:round/>
                      <a:headEnd type="none" w="med" len="med"/>
                      <a:tailEnd type="none" w="med" len="med"/>
                    </a:lnL>
                    <a:lnR w="12700" cap="flat" cmpd="sng" algn="ctr">
                      <a:solidFill>
                        <a:srgbClr val="191918"/>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91918"/>
                      </a:solidFill>
                      <a:prstDash val="solid"/>
                      <a:round/>
                      <a:headEnd type="none" w="med" len="med"/>
                      <a:tailEnd type="none" w="med" len="med"/>
                    </a:lnB>
                    <a:solidFill>
                      <a:srgbClr val="1A1A1A"/>
                    </a:solidFill>
                  </a:tcPr>
                </a:tc>
              </a:tr>
              <a:tr h="356261">
                <a:tc>
                  <a:txBody>
                    <a:bodyPr/>
                    <a:lstStyle/>
                    <a:p>
                      <a:pPr indent="0" marL="0">
                        <a:lnSpc>
                          <a:spcPts val="1680"/>
                        </a:lnSpc>
                        <a:buNone/>
                      </a:pPr>
                      <a:r>
                        <a:rPr lang="en-US" sz="1200" dirty="0">
                          <a:solidFill>
                            <a:srgbClr val="EB0A1E"/>
                          </a:solidFill>
                          <a:latin typeface="Inter" pitchFamily="34" charset="0"/>
                          <a:ea typeface="Inter" pitchFamily="34" charset="-122"/>
                          <a:cs typeface="Inter" pitchFamily="34" charset="-120"/>
                        </a:rPr>
                        <a:t>1 · Access</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91918"/>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Corporate SSO; allow-listed CX Eng group; role-based approvals</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91918"/>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Unauthorized access</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91918"/>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56261">
                <a:tc>
                  <a:txBody>
                    <a:bodyPr/>
                    <a:lstStyle/>
                    <a:p>
                      <a:pPr indent="0" marL="0">
                        <a:lnSpc>
                          <a:spcPts val="1680"/>
                        </a:lnSpc>
                        <a:buNone/>
                      </a:pPr>
                      <a:r>
                        <a:rPr lang="en-US" sz="1200" dirty="0">
                          <a:solidFill>
                            <a:srgbClr val="EB0A1E"/>
                          </a:solidFill>
                          <a:latin typeface="Inter" pitchFamily="34" charset="0"/>
                          <a:ea typeface="Inter" pitchFamily="34" charset="-122"/>
                          <a:cs typeface="Inter" pitchFamily="34" charset="-120"/>
                        </a:rPr>
                        <a:t>2 · Input</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Blocks PII, VINs and TFS account numbers before storage or model</a:t>
                      </a:r>
                      <a:endParaRPr lang="en-US" sz="1200" dirty="0">
                        <a:latin typeface="Inter" charset="0"/>
                        <a:ea typeface="Inter" charset="0"/>
                        <a:cs typeface="Inter" charset="0"/>
                      </a:endParaRPr>
                    </a:p>
                  </a:txBody>
                  <a:tcPr marL="127000" marR="127000" marT="76200" marB="762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PII stored or sent to a model</a:t>
                      </a:r>
                      <a:endParaRPr lang="en-US" sz="1200" dirty="0">
                        <a:latin typeface="Inter" charset="0"/>
                        <a:ea typeface="Inter" charset="0"/>
                        <a:cs typeface="Inter" charset="0"/>
                      </a:endParaRPr>
                    </a:p>
                  </a:txBody>
                  <a:tcPr marL="127000" marR="127000" marT="76200" marB="762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r>
              <a:tr h="356261">
                <a:tc>
                  <a:txBody>
                    <a:bodyPr/>
                    <a:lstStyle/>
                    <a:p>
                      <a:pPr indent="0" marL="0">
                        <a:lnSpc>
                          <a:spcPts val="1680"/>
                        </a:lnSpc>
                        <a:buNone/>
                      </a:pPr>
                      <a:r>
                        <a:rPr lang="en-US" sz="1200" dirty="0">
                          <a:solidFill>
                            <a:srgbClr val="EB0A1E"/>
                          </a:solidFill>
                          <a:latin typeface="Inter" pitchFamily="34" charset="0"/>
                          <a:ea typeface="Inter" pitchFamily="34" charset="-122"/>
                          <a:cs typeface="Inter" pitchFamily="34" charset="-120"/>
                        </a:rPr>
                        <a:t>3 · Model</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Bedrock Guardrails on model input and output; prompt-attack filter</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PII in responses; injection</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56261">
                <a:tc>
                  <a:txBody>
                    <a:bodyPr/>
                    <a:lstStyle/>
                    <a:p>
                      <a:pPr indent="0" marL="0">
                        <a:lnSpc>
                          <a:spcPts val="1680"/>
                        </a:lnSpc>
                        <a:buNone/>
                      </a:pPr>
                      <a:r>
                        <a:rPr lang="en-US" sz="1200" dirty="0">
                          <a:solidFill>
                            <a:srgbClr val="EB0A1E"/>
                          </a:solidFill>
                          <a:latin typeface="Inter" pitchFamily="34" charset="0"/>
                          <a:ea typeface="Inter" pitchFamily="34" charset="-122"/>
                          <a:cs typeface="Inter" pitchFamily="34" charset="-120"/>
                        </a:rPr>
                        <a:t>4 · Retrieval</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OKF content screened and reviewed before ChromaDB indexing</a:t>
                      </a:r>
                      <a:endParaRPr lang="en-US" sz="1200" dirty="0">
                        <a:latin typeface="Inter" charset="0"/>
                        <a:ea typeface="Inter" charset="0"/>
                        <a:cs typeface="Inter" charset="0"/>
                      </a:endParaRPr>
                    </a:p>
                  </a:txBody>
                  <a:tcPr marL="127000" marR="127000" marT="76200" marB="762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PII entering via references</a:t>
                      </a:r>
                      <a:endParaRPr lang="en-US" sz="1200" dirty="0">
                        <a:latin typeface="Inter" charset="0"/>
                        <a:ea typeface="Inter" charset="0"/>
                        <a:cs typeface="Inter" charset="0"/>
                      </a:endParaRPr>
                    </a:p>
                  </a:txBody>
                  <a:tcPr marL="127000" marR="127000" marT="76200" marB="762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r>
              <a:tr h="356261">
                <a:tc>
                  <a:txBody>
                    <a:bodyPr/>
                    <a:lstStyle/>
                    <a:p>
                      <a:pPr indent="0" marL="0">
                        <a:lnSpc>
                          <a:spcPts val="1680"/>
                        </a:lnSpc>
                        <a:buNone/>
                      </a:pPr>
                      <a:r>
                        <a:rPr lang="en-US" sz="1200" dirty="0">
                          <a:solidFill>
                            <a:srgbClr val="EB0A1E"/>
                          </a:solidFill>
                          <a:latin typeface="Inter" pitchFamily="34" charset="0"/>
                          <a:ea typeface="Inter" pitchFamily="34" charset="-122"/>
                          <a:cs typeface="Inter" pitchFamily="34" charset="-120"/>
                        </a:rPr>
                        <a:t>5 · Output</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Artifacts and exports screened; schema-constrained output</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PII in specs or handoff pack</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56261">
                <a:tc>
                  <a:txBody>
                    <a:bodyPr/>
                    <a:lstStyle/>
                    <a:p>
                      <a:pPr indent="0" marL="0">
                        <a:lnSpc>
                          <a:spcPts val="1680"/>
                        </a:lnSpc>
                        <a:buNone/>
                      </a:pPr>
                      <a:r>
                        <a:rPr lang="en-US" sz="1200" dirty="0">
                          <a:solidFill>
                            <a:srgbClr val="EB0A1E"/>
                          </a:solidFill>
                          <a:latin typeface="Inter" pitchFamily="34" charset="0"/>
                          <a:ea typeface="Inter" pitchFamily="34" charset="-122"/>
                          <a:cs typeface="Inter" pitchFamily="34" charset="-120"/>
                        </a:rPr>
                        <a:t>6 · Platform</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Bedrock only; prompts not used for training [BISO to confirm]</a:t>
                      </a:r>
                      <a:endParaRPr lang="en-US" sz="1200" dirty="0">
                        <a:latin typeface="Inter" charset="0"/>
                        <a:ea typeface="Inter" charset="0"/>
                        <a:cs typeface="Inter" charset="0"/>
                      </a:endParaRPr>
                    </a:p>
                  </a:txBody>
                  <a:tcPr marL="127000" marR="127000" marT="76200" marB="762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Data leaving the boundary</a:t>
                      </a:r>
                      <a:endParaRPr lang="en-US" sz="1200" dirty="0">
                        <a:latin typeface="Inter" charset="0"/>
                        <a:ea typeface="Inter" charset="0"/>
                        <a:cs typeface="Inter" charset="0"/>
                      </a:endParaRPr>
                    </a:p>
                  </a:txBody>
                  <a:tcPr marL="127000" marR="127000" marT="76200" marB="762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r>
              <a:tr h="356261">
                <a:tc>
                  <a:txBody>
                    <a:bodyPr/>
                    <a:lstStyle/>
                    <a:p>
                      <a:pPr indent="0" marL="0">
                        <a:lnSpc>
                          <a:spcPts val="1680"/>
                        </a:lnSpc>
                        <a:buNone/>
                      </a:pPr>
                      <a:r>
                        <a:rPr lang="en-US" sz="1200" dirty="0">
                          <a:solidFill>
                            <a:srgbClr val="EB0A1E"/>
                          </a:solidFill>
                          <a:latin typeface="Inter" pitchFamily="34" charset="0"/>
                          <a:ea typeface="Inter" pitchFamily="34" charset="-122"/>
                          <a:cs typeface="Inter" pitchFamily="34" charset="-120"/>
                        </a:rPr>
                        <a:t>7 · Logging</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Events logged without flagged content; retention [X days]</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Logs becoming a PII store</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bl>
          </a:graphicData>
        </a:graphic>
      </p:graphicFrame>
      <p:sp>
        <p:nvSpPr>
          <p:cNvPr id="8" name="Shape 5"/>
          <p:cNvSpPr/>
          <p:nvPr/>
        </p:nvSpPr>
        <p:spPr>
          <a:xfrm>
            <a:off x="812800" y="4756770"/>
            <a:ext cx="10566401" cy="587216"/>
          </a:xfrm>
          <a:prstGeom prst="roundRect">
            <a:avLst>
              <a:gd name="adj" fmla="val 8651"/>
            </a:avLst>
          </a:prstGeom>
          <a:solidFill>
            <a:srgbClr val="1A1A1A"/>
          </a:solidFill>
          <a:ln/>
        </p:spPr>
      </p:sp>
      <p:sp>
        <p:nvSpPr>
          <p:cNvPr id="9" name="Text 6"/>
          <p:cNvSpPr/>
          <p:nvPr/>
        </p:nvSpPr>
        <p:spPr>
          <a:xfrm>
            <a:off x="1016000" y="4954352"/>
            <a:ext cx="990468" cy="217408"/>
          </a:xfrm>
          <a:prstGeom prst="rect">
            <a:avLst/>
          </a:prstGeom>
          <a:noFill/>
          <a:ln/>
        </p:spPr>
        <p:txBody>
          <a:bodyPr wrap="none" lIns="0" tIns="0" rIns="0" bIns="0" rtlCol="0" anchor="t">
            <a:normAutofit/>
          </a:bodyPr>
          <a:lstStyle/>
          <a:p>
            <a:pPr algn="l" indent="0" marL="0">
              <a:lnSpc>
                <a:spcPts val="1680"/>
              </a:lnSpc>
              <a:buNone/>
            </a:pPr>
            <a:r>
              <a:rPr lang="en-US" sz="1200" b="1" spc="100" kern="0" dirty="0">
                <a:solidFill>
                  <a:srgbClr val="FF5A67"/>
                </a:solidFill>
                <a:latin typeface="Inter" pitchFamily="34" charset="0"/>
                <a:ea typeface="Inter" pitchFamily="34" charset="-122"/>
                <a:cs typeface="Inter" pitchFamily="34" charset="-120"/>
              </a:rPr>
              <a:t>ASSURANCE</a:t>
            </a:r>
            <a:endParaRPr lang="en-US" sz="1200" dirty="0"/>
          </a:p>
        </p:txBody>
      </p:sp>
      <p:sp>
        <p:nvSpPr>
          <p:cNvPr id="10" name="Text 7"/>
          <p:cNvSpPr/>
          <p:nvPr/>
        </p:nvSpPr>
        <p:spPr>
          <a:xfrm>
            <a:off x="2133468" y="4858370"/>
            <a:ext cx="9313809"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Tested against a seeded synthetic-PII suite before go-live, with results reported to the BISO; re-run on every prompt, model or guardrail change.</a:t>
            </a:r>
            <a:endParaRPr lang="en-US" sz="1200" dirty="0"/>
          </a:p>
        </p:txBody>
      </p:sp>
      <p:sp>
        <p:nvSpPr>
          <p:cNvPr id="11" name="Text 8"/>
          <p:cNvSpPr/>
          <p:nvPr/>
        </p:nvSpPr>
        <p:spPr>
          <a:xfrm>
            <a:off x="812800" y="6259599"/>
            <a:ext cx="784860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Inter" pitchFamily="34" charset="0"/>
                <a:ea typeface="Inter" pitchFamily="34" charset="-122"/>
                <a:cs typeface="Inter" pitchFamily="34" charset="-120"/>
              </a:rPr>
              <a:t>Proof of concept proposal · Policy CP6.55</a:t>
            </a:r>
            <a:endParaRPr lang="en-US" sz="1200" dirty="0"/>
          </a:p>
        </p:txBody>
      </p:sp>
      <p:sp>
        <p:nvSpPr>
          <p:cNvPr id="12" name="Text 9"/>
          <p:cNvSpPr/>
          <p:nvPr/>
        </p:nvSpPr>
        <p:spPr>
          <a:xfrm>
            <a:off x="10058401" y="6259599"/>
            <a:ext cx="132080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BM Plex Mono" pitchFamily="49" charset="0"/>
                <a:ea typeface="IBM Plex Mono" pitchFamily="49" charset="-122"/>
                <a:cs typeface="IBM Plex Mono" pitchFamily="49" charset="-120"/>
              </a:rPr>
              <a:t>18 / 23</a:t>
            </a:r>
            <a:endParaRPr lang="en-US" sz="1200" dirty="0"/>
          </a:p>
        </p:txBody>
      </p:sp>
      <p:sp>
        <p:nvSpPr>
          <p:cNvPr id="13" name="Text 10"/>
          <p:cNvSpPr/>
          <p:nvPr/>
        </p:nvSpPr>
        <p:spPr>
          <a:xfrm>
            <a:off x="812800" y="1778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1111"/>
                </a:solidFill>
                <a:latin typeface="Inter" pitchFamily="34" charset="0"/>
                <a:ea typeface="Inter" pitchFamily="34" charset="-122"/>
                <a:cs typeface="Inter" pitchFamily="34" charset="-120"/>
              </a:rPr>
              <a:t>Intent Discovery Service</a:t>
            </a:r>
            <a:endParaRPr lang="en-US" sz="1200" dirty="0"/>
          </a:p>
        </p:txBody>
      </p:sp>
      <p:sp>
        <p:nvSpPr>
          <p:cNvPr id="14" name="Text 11"/>
          <p:cNvSpPr/>
          <p:nvPr/>
        </p:nvSpPr>
        <p:spPr>
          <a:xfrm>
            <a:off x="6800850" y="177800"/>
            <a:ext cx="457835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nter" pitchFamily="34" charset="0"/>
                <a:ea typeface="Inter" pitchFamily="34" charset="-122"/>
                <a:cs typeface="Inter" pitchFamily="34" charset="-120"/>
              </a:rPr>
              <a:t>GenAI Governance Panel</a:t>
            </a:r>
            <a:endParaRPr lang="en-US" sz="1200" dirty="0"/>
          </a:p>
        </p:txBody>
      </p:sp>
      <p:pic>
        <p:nvPicPr>
          <p:cNvPr id="15" name="Image 0" descr="line">    </p:cNvPr>
          <p:cNvPicPr>
            <a:picLocks noChangeAspect="1"/>
          </p:cNvPicPr>
          <p:nvPr/>
        </p:nvPicPr>
        <p:blipFill>
          <a:blip r:embed="rId1"/>
          <a:srcRect l="-1137" r="-1137" t="0" b="0"/>
          <a:stretch/>
        </p:blipFill>
        <p:spPr>
          <a:xfrm>
            <a:off x="0" y="533400"/>
            <a:ext cx="12192001" cy="3725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896082"/>
            <a:ext cx="304800" cy="25400"/>
          </a:xfrm>
          <a:prstGeom prst="rect">
            <a:avLst/>
          </a:prstGeom>
          <a:solidFill>
            <a:srgbClr val="EB0A1E"/>
          </a:solidFill>
          <a:ln/>
        </p:spPr>
      </p:sp>
      <p:sp>
        <p:nvSpPr>
          <p:cNvPr id="3" name="Text 1"/>
          <p:cNvSpPr/>
          <p:nvPr/>
        </p:nvSpPr>
        <p:spPr>
          <a:xfrm>
            <a:off x="1219200" y="812800"/>
            <a:ext cx="2390235"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CONTROLS · POLICY 6.55</a:t>
            </a:r>
            <a:endParaRPr lang="en-US" sz="1200" dirty="0"/>
          </a:p>
        </p:txBody>
      </p:sp>
      <p:sp>
        <p:nvSpPr>
          <p:cNvPr id="4" name="Text 2"/>
          <p:cNvSpPr/>
          <p:nvPr>
            <p:ph type="title"/>
          </p:nvPr>
        </p:nvSpPr>
        <p:spPr>
          <a:xfrm>
            <a:off x="812800" y="1106401"/>
            <a:ext cx="10883393" cy="427725"/>
          </a:xfrm>
          <a:prstGeom prst="rect">
            <a:avLst/>
          </a:prstGeom>
          <a:noFill/>
          <a:ln/>
        </p:spPr>
        <p:txBody>
          <a:bodyPr wrap="square" lIns="0" tIns="0" rIns="0" bIns="0" rtlCol="0" anchor="t">
            <a:normAutofit/>
          </a:bodyPr>
          <a:lstStyle/>
          <a:p>
            <a:pPr algn="l" indent="0" marL="0">
              <a:lnSpc>
                <a:spcPts val="3520"/>
              </a:lnSpc>
              <a:buNone/>
            </a:pPr>
            <a:r>
              <a:rPr lang="en-US" sz="3200" b="1" i="0" spc="-50" kern="0" dirty="0">
                <a:solidFill>
                  <a:srgbClr val="1A1A1A"/>
                </a:solidFill>
                <a:latin typeface="Inter" pitchFamily="34" charset="0"/>
                <a:ea typeface="Inter" pitchFamily="34" charset="-122"/>
                <a:cs typeface="Inter" pitchFamily="34" charset="-120"/>
              </a:rPr>
              <a:t>Policy CP6.55 compliance by design</a:t>
            </a:r>
            <a:endParaRPr lang="en-US" sz="3200" dirty="0"/>
          </a:p>
        </p:txBody>
      </p:sp>
      <p:sp>
        <p:nvSpPr>
          <p:cNvPr id="5" name="Shape 3"/>
          <p:cNvSpPr/>
          <p:nvPr/>
        </p:nvSpPr>
        <p:spPr>
          <a:xfrm>
            <a:off x="11376026" y="1813533"/>
            <a:ext cx="0" cy="3223287"/>
          </a:xfrm>
          <a:prstGeom prst="line">
            <a:avLst/>
          </a:prstGeom>
          <a:noFill/>
          <a:ln w="6350">
            <a:solidFill>
              <a:srgbClr val="E0E0E0"/>
            </a:solidFill>
            <a:prstDash val="solid"/>
          </a:ln>
        </p:spPr>
      </p:sp>
      <p:sp>
        <p:nvSpPr>
          <p:cNvPr id="6" name="Shape 4"/>
          <p:cNvSpPr/>
          <p:nvPr/>
        </p:nvSpPr>
        <p:spPr>
          <a:xfrm>
            <a:off x="812800" y="5033644"/>
            <a:ext cx="10566401" cy="0"/>
          </a:xfrm>
          <a:prstGeom prst="line">
            <a:avLst/>
          </a:prstGeom>
          <a:noFill/>
          <a:ln w="6350">
            <a:solidFill>
              <a:srgbClr val="E0E0E0"/>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4653" y="1825386"/>
          <a:ext cx="10549467" cy="3206353"/>
        </p:xfrm>
        <a:graphic>
          <a:graphicData uri="http://schemas.openxmlformats.org/drawingml/2006/table">
            <a:tbl>
              <a:tblPr/>
              <a:tblGrid>
                <a:gridCol w="2531872"/>
                <a:gridCol w="8017595"/>
              </a:tblGrid>
              <a:tr h="356261">
                <a:tc>
                  <a:txBody>
                    <a:bodyPr/>
                    <a:lstStyle/>
                    <a:p>
                      <a:pPr indent="0" marL="0">
                        <a:lnSpc>
                          <a:spcPts val="1680"/>
                        </a:lnSpc>
                        <a:buNone/>
                      </a:pPr>
                      <a:r>
                        <a:rPr lang="en-US" sz="1200" b="1" dirty="0">
                          <a:solidFill>
                            <a:srgbClr val="FFFFFF"/>
                          </a:solidFill>
                          <a:latin typeface="Inter" pitchFamily="34" charset="0"/>
                          <a:ea typeface="Inter" pitchFamily="34" charset="-122"/>
                          <a:cs typeface="Inter" pitchFamily="34" charset="-120"/>
                        </a:rPr>
                        <a:t>Policy requirement</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191918"/>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91918"/>
                      </a:solidFill>
                      <a:prstDash val="solid"/>
                      <a:round/>
                      <a:headEnd type="none" w="med" len="med"/>
                      <a:tailEnd type="none" w="med" len="med"/>
                    </a:lnB>
                    <a:solidFill>
                      <a:srgbClr val="1A1A1A"/>
                    </a:solidFill>
                  </a:tcPr>
                </a:tc>
                <a:tc>
                  <a:txBody>
                    <a:bodyPr/>
                    <a:lstStyle/>
                    <a:p>
                      <a:pPr indent="0" marL="0">
                        <a:lnSpc>
                          <a:spcPts val="1680"/>
                        </a:lnSpc>
                        <a:buNone/>
                      </a:pPr>
                      <a:r>
                        <a:rPr lang="en-US" sz="1200" b="1" dirty="0">
                          <a:solidFill>
                            <a:srgbClr val="FFFFFF"/>
                          </a:solidFill>
                          <a:latin typeface="Inter" pitchFamily="34" charset="0"/>
                          <a:ea typeface="Inter" pitchFamily="34" charset="-122"/>
                          <a:cs typeface="Inter" pitchFamily="34" charset="-120"/>
                        </a:rPr>
                        <a:t>How the proposed design complies</a:t>
                      </a:r>
                      <a:endParaRPr lang="en-US" sz="1200" dirty="0">
                        <a:latin typeface="Inter" charset="0"/>
                        <a:ea typeface="Inter" charset="0"/>
                        <a:cs typeface="Inter" charset="0"/>
                      </a:endParaRPr>
                    </a:p>
                  </a:txBody>
                  <a:tcPr marL="127000" marR="127000" marT="76200" marB="76200" anchor="t">
                    <a:lnL w="12700" cap="flat" cmpd="sng" algn="ctr">
                      <a:solidFill>
                        <a:srgbClr val="191918"/>
                      </a:solidFill>
                      <a:prstDash val="solid"/>
                      <a:round/>
                      <a:headEnd type="none" w="med" len="med"/>
                      <a:tailEnd type="none" w="med" len="med"/>
                    </a:lnL>
                    <a:lnR w="12700" cap="flat" cmpd="sng" algn="ctr">
                      <a:solidFill>
                        <a:srgbClr val="191918"/>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91918"/>
                      </a:solidFill>
                      <a:prstDash val="solid"/>
                      <a:round/>
                      <a:headEnd type="none" w="med" len="med"/>
                      <a:tailEnd type="none" w="med" len="med"/>
                    </a:lnB>
                    <a:solidFill>
                      <a:srgbClr val="1A1A1A"/>
                    </a:solidFill>
                  </a:tcPr>
                </a:tc>
              </a:tr>
              <a:tr h="356261">
                <a:tc>
                  <a:txBody>
                    <a:bodyPr/>
                    <a:lstStyle/>
                    <a:p>
                      <a:pPr indent="0" marL="0">
                        <a:lnSpc>
                          <a:spcPts val="1680"/>
                        </a:lnSpc>
                        <a:buNone/>
                      </a:pPr>
                      <a:r>
                        <a:rPr lang="en-US" sz="1200" dirty="0">
                          <a:solidFill>
                            <a:srgbClr val="EB0A1E"/>
                          </a:solidFill>
                          <a:latin typeface="Inter" pitchFamily="34" charset="0"/>
                          <a:ea typeface="Inter" pitchFamily="34" charset="-122"/>
                          <a:cs typeface="Inter" pitchFamily="34" charset="-120"/>
                        </a:rPr>
                        <a:t>Bias &amp; discrimination</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91918"/>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Technical specifications only; no credit, HR or customer-facing decisions about individuals</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91918"/>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56261">
                <a:tc>
                  <a:txBody>
                    <a:bodyPr/>
                    <a:lstStyle/>
                    <a:p>
                      <a:pPr indent="0" marL="0">
                        <a:lnSpc>
                          <a:spcPts val="1680"/>
                        </a:lnSpc>
                        <a:buNone/>
                      </a:pPr>
                      <a:r>
                        <a:rPr lang="en-US" sz="1200" dirty="0">
                          <a:solidFill>
                            <a:srgbClr val="EB0A1E"/>
                          </a:solidFill>
                          <a:latin typeface="Inter" pitchFamily="34" charset="0"/>
                          <a:ea typeface="Inter" pitchFamily="34" charset="-122"/>
                          <a:cs typeface="Inter" pitchFamily="34" charset="-120"/>
                        </a:rPr>
                        <a:t>Privacy &amp; data protection</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PII blocked by layered guardrails at input, model, retrieval and output; no Personal, customer or production data</a:t>
                      </a:r>
                      <a:endParaRPr lang="en-US" sz="1200" dirty="0">
                        <a:latin typeface="Inter" charset="0"/>
                        <a:ea typeface="Inter" charset="0"/>
                        <a:cs typeface="Inter" charset="0"/>
                      </a:endParaRPr>
                    </a:p>
                  </a:txBody>
                  <a:tcPr marL="127000" marR="127000" marT="76200" marB="762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r>
              <a:tr h="356261">
                <a:tc>
                  <a:txBody>
                    <a:bodyPr/>
                    <a:lstStyle/>
                    <a:p>
                      <a:pPr indent="0" marL="0">
                        <a:lnSpc>
                          <a:spcPts val="1680"/>
                        </a:lnSpc>
                        <a:buNone/>
                      </a:pPr>
                      <a:r>
                        <a:rPr lang="en-US" sz="1200" dirty="0">
                          <a:solidFill>
                            <a:srgbClr val="EB0A1E"/>
                          </a:solidFill>
                          <a:latin typeface="Inter" pitchFamily="34" charset="0"/>
                          <a:ea typeface="Inter" pitchFamily="34" charset="-122"/>
                          <a:cs typeface="Inter" pitchFamily="34" charset="-120"/>
                        </a:rPr>
                        <a:t>Confidentiality</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SSO-authenticated users; LLM calls only via approved AWS Bedrock; all data stays in dev</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56261">
                <a:tc>
                  <a:txBody>
                    <a:bodyPr/>
                    <a:lstStyle/>
                    <a:p>
                      <a:pPr indent="0" marL="0">
                        <a:lnSpc>
                          <a:spcPts val="1680"/>
                        </a:lnSpc>
                        <a:buNone/>
                      </a:pPr>
                      <a:r>
                        <a:rPr lang="en-US" sz="1200" dirty="0">
                          <a:solidFill>
                            <a:srgbClr val="EB0A1E"/>
                          </a:solidFill>
                          <a:latin typeface="Inter" pitchFamily="34" charset="0"/>
                          <a:ea typeface="Inter" pitchFamily="34" charset="-122"/>
                          <a:cs typeface="Inter" pitchFamily="34" charset="-120"/>
                        </a:rPr>
                        <a:t>Intellectual property</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Output derives from internal requirements only; no external IP consumed</a:t>
                      </a:r>
                      <a:endParaRPr lang="en-US" sz="1200" dirty="0">
                        <a:latin typeface="Inter" charset="0"/>
                        <a:ea typeface="Inter" charset="0"/>
                        <a:cs typeface="Inter" charset="0"/>
                      </a:endParaRPr>
                    </a:p>
                  </a:txBody>
                  <a:tcPr marL="127000" marR="127000" marT="76200" marB="762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r>
              <a:tr h="356261">
                <a:tc>
                  <a:txBody>
                    <a:bodyPr/>
                    <a:lstStyle/>
                    <a:p>
                      <a:pPr indent="0" marL="0">
                        <a:lnSpc>
                          <a:spcPts val="1680"/>
                        </a:lnSpc>
                        <a:buNone/>
                      </a:pPr>
                      <a:r>
                        <a:rPr lang="en-US" sz="1200" dirty="0">
                          <a:solidFill>
                            <a:srgbClr val="EB0A1E"/>
                          </a:solidFill>
                          <a:latin typeface="Inter" pitchFamily="34" charset="0"/>
                          <a:ea typeface="Inter" pitchFamily="34" charset="-122"/>
                          <a:cs typeface="Inter" pitchFamily="34" charset="-120"/>
                        </a:rPr>
                        <a:t>Misinformation</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AI output labeled as proposals; deterministic gates, LLM-as-judge critique, dual human approval</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56261">
                <a:tc>
                  <a:txBody>
                    <a:bodyPr/>
                    <a:lstStyle/>
                    <a:p>
                      <a:pPr indent="0" marL="0">
                        <a:lnSpc>
                          <a:spcPts val="1680"/>
                        </a:lnSpc>
                        <a:buNone/>
                      </a:pPr>
                      <a:r>
                        <a:rPr lang="en-US" sz="1200" dirty="0">
                          <a:solidFill>
                            <a:srgbClr val="EB0A1E"/>
                          </a:solidFill>
                          <a:latin typeface="Inter" pitchFamily="34" charset="0"/>
                          <a:ea typeface="Inter" pitchFamily="34" charset="-122"/>
                          <a:cs typeface="Inter" pitchFamily="34" charset="-120"/>
                        </a:rPr>
                        <a:t>Independent validation</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Non-AI gates, identity-recorded IR Author and SME approval, offline evaluation harness</a:t>
                      </a:r>
                      <a:endParaRPr lang="en-US" sz="1200" dirty="0">
                        <a:latin typeface="Inter" charset="0"/>
                        <a:ea typeface="Inter" charset="0"/>
                        <a:cs typeface="Inter" charset="0"/>
                      </a:endParaRPr>
                    </a:p>
                  </a:txBody>
                  <a:tcPr marL="127000" marR="127000" marT="76200" marB="762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r>
              <a:tr h="356261">
                <a:tc>
                  <a:txBody>
                    <a:bodyPr/>
                    <a:lstStyle/>
                    <a:p>
                      <a:pPr indent="0" marL="0">
                        <a:lnSpc>
                          <a:spcPts val="1680"/>
                        </a:lnSpc>
                        <a:buNone/>
                      </a:pPr>
                      <a:r>
                        <a:rPr lang="en-US" sz="1200" dirty="0">
                          <a:solidFill>
                            <a:srgbClr val="EB0A1E"/>
                          </a:solidFill>
                          <a:latin typeface="Inter" pitchFamily="34" charset="0"/>
                          <a:ea typeface="Inter" pitchFamily="34" charset="-122"/>
                          <a:cs typeface="Inter" pitchFamily="34" charset="-120"/>
                        </a:rPr>
                        <a:t>Disclosure</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AI involvement visible throughout the UI: chat turns, Red Team panel, learnings page</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56261">
                <a:tc>
                  <a:txBody>
                    <a:bodyPr/>
                    <a:lstStyle/>
                    <a:p>
                      <a:pPr indent="0" marL="0">
                        <a:lnSpc>
                          <a:spcPts val="1680"/>
                        </a:lnSpc>
                        <a:buNone/>
                      </a:pPr>
                      <a:r>
                        <a:rPr lang="en-US" sz="1200" dirty="0">
                          <a:solidFill>
                            <a:srgbClr val="EB0A1E"/>
                          </a:solidFill>
                          <a:latin typeface="Inter" pitchFamily="34" charset="0"/>
                          <a:ea typeface="Inter" pitchFamily="34" charset="-122"/>
                          <a:cs typeface="Inter" pitchFamily="34" charset="-120"/>
                        </a:rPr>
                        <a:t>Procurement</a:t>
                      </a:r>
                      <a:endParaRPr lang="en-US" sz="1200" dirty="0">
                        <a:latin typeface="Inter" charset="0"/>
                        <a:ea typeface="Inter" charset="0"/>
                        <a:cs typeface="Inter" charset="0"/>
                      </a:endParaRPr>
                    </a:p>
                  </a:txBody>
                  <a:tcPr marL="127000" marR="127000" marT="76200" marB="76200" anchor="t">
                    <a:lnL w="12700" cap="flat" cmpd="sng" algn="ctr">
                      <a:solidFill>
                        <a:srgbClr val="CBCBCB"/>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c>
                  <a:txBody>
                    <a:bodyPr/>
                    <a:lstStyle/>
                    <a:p>
                      <a:pPr indent="0" marL="0">
                        <a:lnSpc>
                          <a:spcPts val="1680"/>
                        </a:lnSpc>
                        <a:buNone/>
                      </a:pPr>
                      <a:r>
                        <a:rPr lang="en-US" sz="1200" dirty="0">
                          <a:solidFill>
                            <a:srgbClr val="1A1A1A"/>
                          </a:solidFill>
                          <a:latin typeface="Inter" pitchFamily="34" charset="0"/>
                          <a:ea typeface="Inter" pitchFamily="34" charset="-122"/>
                          <a:cs typeface="Inter" pitchFamily="34" charset="-120"/>
                        </a:rPr>
                        <a:t>AWS Bedrock is an existing TMCC-approved LLM channel; no new vendor contract needed</a:t>
                      </a:r>
                      <a:endParaRPr lang="en-US" sz="1200" dirty="0">
                        <a:latin typeface="Inter" charset="0"/>
                        <a:ea typeface="Inter" charset="0"/>
                        <a:cs typeface="Inter" charset="0"/>
                      </a:endParaRPr>
                    </a:p>
                  </a:txBody>
                  <a:tcPr marL="127000" marR="127000" marT="76200" marB="76200" anchor="t">
                    <a:lnL w="12700" cap="flat" cmpd="sng" algn="ctr">
                      <a:solidFill>
                        <a:srgbClr val="C4C4C3"/>
                      </a:solidFill>
                      <a:prstDash val="solid"/>
                      <a:round/>
                      <a:headEnd type="none" w="med" len="med"/>
                      <a:tailEnd type="none" w="med" len="med"/>
                    </a:lnL>
                    <a:lnR w="12700" cap="flat" cmpd="sng" algn="ctr">
                      <a:solidFill>
                        <a:srgbClr val="C4C4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C3"/>
                      </a:solidFill>
                      <a:prstDash val="solid"/>
                      <a:round/>
                      <a:headEnd type="none" w="med" len="med"/>
                      <a:tailEnd type="none" w="med" len="med"/>
                    </a:lnB>
                    <a:solidFill>
                      <a:srgbClr val="F5F5F5"/>
                    </a:solidFill>
                  </a:tcPr>
                </a:tc>
              </a:tr>
            </a:tbl>
          </a:graphicData>
        </a:graphic>
      </p:graphicFrame>
      <p:sp>
        <p:nvSpPr>
          <p:cNvPr id="8" name="Text 5"/>
          <p:cNvSpPr/>
          <p:nvPr/>
        </p:nvSpPr>
        <p:spPr>
          <a:xfrm>
            <a:off x="812800" y="6259587"/>
            <a:ext cx="784860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Inter" pitchFamily="34" charset="0"/>
                <a:ea typeface="Inter" pitchFamily="34" charset="-122"/>
                <a:cs typeface="Inter" pitchFamily="34" charset="-120"/>
              </a:rPr>
              <a:t>Proof of concept proposal · Policy CP6.55</a:t>
            </a:r>
            <a:endParaRPr lang="en-US" sz="1200" dirty="0"/>
          </a:p>
        </p:txBody>
      </p:sp>
      <p:sp>
        <p:nvSpPr>
          <p:cNvPr id="9" name="Text 6"/>
          <p:cNvSpPr/>
          <p:nvPr/>
        </p:nvSpPr>
        <p:spPr>
          <a:xfrm>
            <a:off x="10058401" y="6259587"/>
            <a:ext cx="132080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BM Plex Mono" pitchFamily="49" charset="0"/>
                <a:ea typeface="IBM Plex Mono" pitchFamily="49" charset="-122"/>
                <a:cs typeface="IBM Plex Mono" pitchFamily="49" charset="-120"/>
              </a:rPr>
              <a:t>19 / 23</a:t>
            </a:r>
            <a:endParaRPr lang="en-US" sz="1200" dirty="0"/>
          </a:p>
        </p:txBody>
      </p:sp>
      <p:sp>
        <p:nvSpPr>
          <p:cNvPr id="10" name="Text 7"/>
          <p:cNvSpPr/>
          <p:nvPr/>
        </p:nvSpPr>
        <p:spPr>
          <a:xfrm>
            <a:off x="812800" y="1778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1111"/>
                </a:solidFill>
                <a:latin typeface="Inter" pitchFamily="34" charset="0"/>
                <a:ea typeface="Inter" pitchFamily="34" charset="-122"/>
                <a:cs typeface="Inter" pitchFamily="34" charset="-120"/>
              </a:rPr>
              <a:t>Intent Discovery Service</a:t>
            </a:r>
            <a:endParaRPr lang="en-US" sz="1200" dirty="0"/>
          </a:p>
        </p:txBody>
      </p:sp>
      <p:sp>
        <p:nvSpPr>
          <p:cNvPr id="11" name="Text 8"/>
          <p:cNvSpPr/>
          <p:nvPr/>
        </p:nvSpPr>
        <p:spPr>
          <a:xfrm>
            <a:off x="6800850" y="177800"/>
            <a:ext cx="457835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nter" pitchFamily="34" charset="0"/>
                <a:ea typeface="Inter" pitchFamily="34" charset="-122"/>
                <a:cs typeface="Inter" pitchFamily="34" charset="-120"/>
              </a:rPr>
              <a:t>GenAI Governance Panel</a:t>
            </a:r>
            <a:endParaRPr lang="en-US" sz="1200" dirty="0"/>
          </a:p>
        </p:txBody>
      </p:sp>
      <p:pic>
        <p:nvPicPr>
          <p:cNvPr id="12" name="Image 0" descr="line">    </p:cNvPr>
          <p:cNvPicPr>
            <a:picLocks noChangeAspect="1"/>
          </p:cNvPicPr>
          <p:nvPr/>
        </p:nvPicPr>
        <p:blipFill>
          <a:blip r:embed="rId1"/>
          <a:srcRect l="-1137" r="-1137" t="0" b="0"/>
          <a:stretch/>
        </p:blipFill>
        <p:spPr>
          <a:xfrm>
            <a:off x="0" y="533400"/>
            <a:ext cx="12192001" cy="3725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1A1A"/>
        </a:solidFill>
      </p:bgPr>
    </p:bg>
    <p:spTree>
      <p:nvGrpSpPr>
        <p:cNvPr id="1" name=""/>
        <p:cNvGrpSpPr/>
        <p:nvPr/>
      </p:nvGrpSpPr>
      <p:grpSpPr>
        <a:xfrm>
          <a:off x="0" y="0"/>
          <a:ext cx="0" cy="0"/>
          <a:chOff x="0" y="0"/>
          <a:chExt cx="0" cy="0"/>
        </a:xfrm>
      </p:grpSpPr>
      <p:sp>
        <p:nvSpPr>
          <p:cNvPr id="2" name="Shape 0"/>
          <p:cNvSpPr/>
          <p:nvPr/>
        </p:nvSpPr>
        <p:spPr>
          <a:xfrm>
            <a:off x="812800" y="896082"/>
            <a:ext cx="304800" cy="25400"/>
          </a:xfrm>
          <a:prstGeom prst="rect">
            <a:avLst/>
          </a:prstGeom>
          <a:solidFill>
            <a:srgbClr val="EB0A1E"/>
          </a:solidFill>
          <a:ln/>
        </p:spPr>
      </p:sp>
      <p:sp>
        <p:nvSpPr>
          <p:cNvPr id="3" name="Text 1"/>
          <p:cNvSpPr/>
          <p:nvPr/>
        </p:nvSpPr>
        <p:spPr>
          <a:xfrm>
            <a:off x="1219200" y="812800"/>
            <a:ext cx="3287808"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5A67"/>
                </a:solidFill>
                <a:latin typeface="Inter" pitchFamily="34" charset="0"/>
                <a:ea typeface="Inter" pitchFamily="34" charset="-122"/>
                <a:cs typeface="Inter" pitchFamily="34" charset="-120"/>
              </a:rPr>
              <a:t>CONTROLS · RISK CLASSIFICATION</a:t>
            </a:r>
            <a:endParaRPr lang="en-US" sz="1200" dirty="0"/>
          </a:p>
        </p:txBody>
      </p:sp>
      <p:sp>
        <p:nvSpPr>
          <p:cNvPr id="4" name="Text 2"/>
          <p:cNvSpPr/>
          <p:nvPr>
            <p:ph type="title"/>
          </p:nvPr>
        </p:nvSpPr>
        <p:spPr>
          <a:xfrm>
            <a:off x="812800" y="1106401"/>
            <a:ext cx="10883393" cy="427725"/>
          </a:xfrm>
          <a:prstGeom prst="rect">
            <a:avLst/>
          </a:prstGeom>
          <a:noFill/>
          <a:ln/>
        </p:spPr>
        <p:txBody>
          <a:bodyPr wrap="square" lIns="0" tIns="0" rIns="0" bIns="0" rtlCol="0" anchor="t">
            <a:normAutofit/>
          </a:bodyPr>
          <a:lstStyle/>
          <a:p>
            <a:pPr algn="l" indent="0" marL="0">
              <a:lnSpc>
                <a:spcPts val="3520"/>
              </a:lnSpc>
              <a:buNone/>
            </a:pPr>
            <a:r>
              <a:rPr lang="en-US" sz="3200" b="1" i="0" spc="-50" kern="0" dirty="0">
                <a:solidFill>
                  <a:srgbClr val="FFFFFF"/>
                </a:solidFill>
                <a:latin typeface="Inter" pitchFamily="34" charset="0"/>
                <a:ea typeface="Inter" pitchFamily="34" charset="-122"/>
                <a:cs typeface="Inter" pitchFamily="34" charset="-120"/>
              </a:rPr>
              <a:t>Preliminary classification: </a:t>
            </a:r>
            <a:r>
              <a:rPr lang="en-US" sz="3200" b="1" i="0" spc="-50" kern="0" dirty="0">
                <a:solidFill>
                  <a:srgbClr val="FF5A67"/>
                </a:solidFill>
                <a:latin typeface="Inter" pitchFamily="34" charset="0"/>
                <a:ea typeface="Inter" pitchFamily="34" charset="-122"/>
                <a:cs typeface="Inter" pitchFamily="34" charset="-120"/>
              </a:rPr>
              <a:t>Low Risk</a:t>
            </a:r>
            <a:endParaRPr lang="en-US" sz="3200" dirty="0"/>
          </a:p>
        </p:txBody>
      </p:sp>
      <p:sp>
        <p:nvSpPr>
          <p:cNvPr id="5" name="Text 3"/>
          <p:cNvSpPr/>
          <p:nvPr/>
        </p:nvSpPr>
        <p:spPr>
          <a:xfrm>
            <a:off x="812800" y="1610333"/>
            <a:ext cx="10883393" cy="248285"/>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D6D6D6"/>
                </a:solidFill>
                <a:latin typeface="Inter" pitchFamily="34" charset="0"/>
                <a:ea typeface="Inter" pitchFamily="34" charset="-122"/>
                <a:cs typeface="Inter" pitchFamily="34" charset="-120"/>
              </a:rPr>
              <a:t>Subject to Governance Panel confirmation, and only while these boundaries and controls hold.</a:t>
            </a:r>
            <a:endParaRPr lang="en-US" sz="1500" dirty="0"/>
          </a:p>
        </p:txBody>
      </p:sp>
      <p:sp>
        <p:nvSpPr>
          <p:cNvPr id="6" name="Shape 4"/>
          <p:cNvSpPr/>
          <p:nvPr/>
        </p:nvSpPr>
        <p:spPr>
          <a:xfrm>
            <a:off x="815975" y="2141190"/>
            <a:ext cx="5175250" cy="2506028"/>
          </a:xfrm>
          <a:prstGeom prst="roundRect">
            <a:avLst>
              <a:gd name="adj" fmla="val 2407"/>
            </a:avLst>
          </a:prstGeom>
          <a:solidFill>
            <a:srgbClr val="2A2A2A"/>
          </a:solidFill>
          <a:ln w="6350">
            <a:solidFill>
              <a:srgbClr val="3D3D3D"/>
            </a:solidFill>
            <a:prstDash val="solid"/>
          </a:ln>
        </p:spPr>
      </p:sp>
      <p:sp>
        <p:nvSpPr>
          <p:cNvPr id="7" name="Text 5"/>
          <p:cNvSpPr/>
          <p:nvPr/>
        </p:nvSpPr>
        <p:spPr>
          <a:xfrm>
            <a:off x="1046480" y="2371688"/>
            <a:ext cx="4855667"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FFFFF"/>
                </a:solidFill>
                <a:latin typeface="Inter" pitchFamily="34" charset="0"/>
                <a:ea typeface="Inter" pitchFamily="34" charset="-122"/>
                <a:cs typeface="Inter" pitchFamily="34" charset="-120"/>
              </a:rPr>
              <a:t>Scope boundaries</a:t>
            </a:r>
            <a:endParaRPr lang="en-US" sz="1500" dirty="0"/>
          </a:p>
        </p:txBody>
      </p:sp>
      <p:pic>
        <p:nvPicPr>
          <p:cNvPr id="8" name="Image 0" descr="Lock">    </p:cNvPr>
          <p:cNvPicPr>
            <a:picLocks noChangeAspect="1"/>
          </p:cNvPicPr>
          <p:nvPr/>
        </p:nvPicPr>
        <p:blipFill>
          <a:blip r:embed="rId1"/>
          <a:srcRect l="-278" r="-278" t="0" b="0"/>
          <a:stretch/>
        </p:blipFill>
        <p:spPr>
          <a:xfrm>
            <a:off x="1046480" y="2683483"/>
            <a:ext cx="191558" cy="203200"/>
          </a:xfrm>
          <a:prstGeom prst="rect">
            <a:avLst/>
          </a:prstGeom>
        </p:spPr>
      </p:pic>
      <p:sp>
        <p:nvSpPr>
          <p:cNvPr id="9" name="Text 6"/>
          <p:cNvSpPr/>
          <p:nvPr/>
        </p:nvSpPr>
        <p:spPr>
          <a:xfrm>
            <a:off x="1326938" y="2683483"/>
            <a:ext cx="4566796"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6"/>
                </a:solidFill>
                <a:latin typeface="Inter" pitchFamily="34" charset="0"/>
                <a:ea typeface="Inter" pitchFamily="34" charset="-122"/>
                <a:cs typeface="Inter" pitchFamily="34" charset="-120"/>
              </a:rPr>
              <a:t>Development environment only; no production deployment or integration</a:t>
            </a:r>
            <a:endParaRPr lang="en-US" sz="1200" dirty="0"/>
          </a:p>
        </p:txBody>
      </p:sp>
      <p:pic>
        <p:nvPicPr>
          <p:cNvPr id="10" name="Image 1" descr="Lock">    </p:cNvPr>
          <p:cNvPicPr>
            <a:picLocks noChangeAspect="1"/>
          </p:cNvPicPr>
          <p:nvPr/>
        </p:nvPicPr>
        <p:blipFill>
          <a:blip r:embed="rId2"/>
          <a:srcRect l="0" r="0" t="0" b="0"/>
          <a:stretch/>
        </p:blipFill>
        <p:spPr>
          <a:xfrm>
            <a:off x="1046480" y="3156396"/>
            <a:ext cx="203200" cy="203200"/>
          </a:xfrm>
          <a:prstGeom prst="rect">
            <a:avLst/>
          </a:prstGeom>
        </p:spPr>
      </p:pic>
      <p:sp>
        <p:nvSpPr>
          <p:cNvPr id="11" name="Text 7"/>
          <p:cNvSpPr/>
          <p:nvPr/>
        </p:nvSpPr>
        <p:spPr>
          <a:xfrm>
            <a:off x="1338580" y="3156396"/>
            <a:ext cx="4447223"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6"/>
                </a:solidFill>
                <a:latin typeface="Inter" pitchFamily="34" charset="0"/>
                <a:ea typeface="Inter" pitchFamily="34" charset="-122"/>
                <a:cs typeface="Inter" pitchFamily="34" charset="-120"/>
              </a:rPr>
              <a:t>Internal, opt-in, one team; SSO sign-in; no CI/CD planned</a:t>
            </a:r>
            <a:endParaRPr lang="en-US" sz="1200" dirty="0"/>
          </a:p>
        </p:txBody>
      </p:sp>
      <p:pic>
        <p:nvPicPr>
          <p:cNvPr id="12" name="Image 2" descr="Lock">    </p:cNvPr>
          <p:cNvPicPr>
            <a:picLocks noChangeAspect="1"/>
          </p:cNvPicPr>
          <p:nvPr/>
        </p:nvPicPr>
        <p:blipFill>
          <a:blip r:embed="rId3"/>
          <a:srcRect l="0" r="0" t="0" b="0"/>
          <a:stretch/>
        </p:blipFill>
        <p:spPr>
          <a:xfrm>
            <a:off x="1046480" y="3448496"/>
            <a:ext cx="203200" cy="203200"/>
          </a:xfrm>
          <a:prstGeom prst="rect">
            <a:avLst/>
          </a:prstGeom>
        </p:spPr>
      </p:pic>
      <p:sp>
        <p:nvSpPr>
          <p:cNvPr id="13" name="Text 8"/>
          <p:cNvSpPr/>
          <p:nvPr/>
        </p:nvSpPr>
        <p:spPr>
          <a:xfrm>
            <a:off x="1338580" y="3448496"/>
            <a:ext cx="4521327"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6"/>
                </a:solidFill>
                <a:latin typeface="Inter" pitchFamily="34" charset="0"/>
                <a:ea typeface="Inter" pitchFamily="34" charset="-122"/>
                <a:cs typeface="Inter" pitchFamily="34" charset="-120"/>
              </a:rPr>
              <a:t>No Personal, customer, production or SOX-controlled data</a:t>
            </a:r>
            <a:endParaRPr lang="en-US" sz="1200" dirty="0"/>
          </a:p>
        </p:txBody>
      </p:sp>
      <p:pic>
        <p:nvPicPr>
          <p:cNvPr id="14" name="Image 3" descr="Lock">    </p:cNvPr>
          <p:cNvPicPr>
            <a:picLocks noChangeAspect="1"/>
          </p:cNvPicPr>
          <p:nvPr/>
        </p:nvPicPr>
        <p:blipFill>
          <a:blip r:embed="rId4"/>
          <a:srcRect l="0" r="0" t="0" b="0"/>
          <a:stretch/>
        </p:blipFill>
        <p:spPr>
          <a:xfrm>
            <a:off x="1046480" y="3740596"/>
            <a:ext cx="203200" cy="203200"/>
          </a:xfrm>
          <a:prstGeom prst="rect">
            <a:avLst/>
          </a:prstGeom>
        </p:spPr>
      </p:pic>
      <p:sp>
        <p:nvSpPr>
          <p:cNvPr id="15" name="Text 9"/>
          <p:cNvSpPr/>
          <p:nvPr/>
        </p:nvSpPr>
        <p:spPr>
          <a:xfrm>
            <a:off x="1338580" y="3740596"/>
            <a:ext cx="4349655"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6"/>
                </a:solidFill>
                <a:latin typeface="Inter" pitchFamily="34" charset="0"/>
                <a:ea typeface="Inter" pitchFamily="34" charset="-122"/>
                <a:cs typeface="Inter" pitchFamily="34" charset="-120"/>
              </a:rPr>
              <a:t>No autonomous approval, publication or implementation</a:t>
            </a:r>
            <a:endParaRPr lang="en-US" sz="1200" dirty="0"/>
          </a:p>
        </p:txBody>
      </p:sp>
      <p:pic>
        <p:nvPicPr>
          <p:cNvPr id="16" name="Image 4" descr="Lock">    </p:cNvPr>
          <p:cNvPicPr>
            <a:picLocks noChangeAspect="1"/>
          </p:cNvPicPr>
          <p:nvPr/>
        </p:nvPicPr>
        <p:blipFill>
          <a:blip r:embed="rId5"/>
          <a:srcRect l="0" r="0" t="-669" b="-669"/>
          <a:stretch/>
        </p:blipFill>
        <p:spPr>
          <a:xfrm>
            <a:off x="1046480" y="4032696"/>
            <a:ext cx="187986" cy="203200"/>
          </a:xfrm>
          <a:prstGeom prst="rect">
            <a:avLst/>
          </a:prstGeom>
        </p:spPr>
      </p:pic>
      <p:sp>
        <p:nvSpPr>
          <p:cNvPr id="17" name="Text 10"/>
          <p:cNvSpPr/>
          <p:nvPr/>
        </p:nvSpPr>
        <p:spPr>
          <a:xfrm>
            <a:off x="1323367" y="4032696"/>
            <a:ext cx="4570475"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6"/>
                </a:solidFill>
                <a:latin typeface="Inter" pitchFamily="34" charset="0"/>
                <a:ea typeface="Inter" pitchFamily="34" charset="-122"/>
                <a:cs typeface="Inter" pitchFamily="34" charset="-120"/>
              </a:rPr>
              <a:t>No source-code generation; downstream coding use governed separately</a:t>
            </a:r>
            <a:endParaRPr lang="en-US" sz="1200" dirty="0"/>
          </a:p>
        </p:txBody>
      </p:sp>
      <p:sp>
        <p:nvSpPr>
          <p:cNvPr id="18" name="Shape 11"/>
          <p:cNvSpPr/>
          <p:nvPr/>
        </p:nvSpPr>
        <p:spPr>
          <a:xfrm>
            <a:off x="6200775" y="2141190"/>
            <a:ext cx="5175250" cy="2506028"/>
          </a:xfrm>
          <a:prstGeom prst="roundRect">
            <a:avLst>
              <a:gd name="adj" fmla="val 2407"/>
            </a:avLst>
          </a:prstGeom>
          <a:solidFill>
            <a:srgbClr val="2A2A2A"/>
          </a:solidFill>
          <a:ln w="6350">
            <a:solidFill>
              <a:srgbClr val="3D3D3D"/>
            </a:solidFill>
            <a:prstDash val="solid"/>
          </a:ln>
        </p:spPr>
      </p:sp>
      <p:sp>
        <p:nvSpPr>
          <p:cNvPr id="19" name="Text 12"/>
          <p:cNvSpPr/>
          <p:nvPr/>
        </p:nvSpPr>
        <p:spPr>
          <a:xfrm>
            <a:off x="6431280" y="2371688"/>
            <a:ext cx="4855667"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FFFFF"/>
                </a:solidFill>
                <a:latin typeface="Inter" pitchFamily="34" charset="0"/>
                <a:ea typeface="Inter" pitchFamily="34" charset="-122"/>
                <a:cs typeface="Inter" pitchFamily="34" charset="-120"/>
              </a:rPr>
              <a:t>Required controls</a:t>
            </a:r>
            <a:endParaRPr lang="en-US" sz="1500" dirty="0"/>
          </a:p>
        </p:txBody>
      </p:sp>
      <p:pic>
        <p:nvPicPr>
          <p:cNvPr id="20" name="Image 5" descr="CheckCircle">    </p:cNvPr>
          <p:cNvPicPr>
            <a:picLocks noChangeAspect="1"/>
          </p:cNvPicPr>
          <p:nvPr/>
        </p:nvPicPr>
        <p:blipFill>
          <a:blip r:embed="rId6"/>
          <a:srcRect l="0" r="0" t="0" b="0"/>
          <a:stretch/>
        </p:blipFill>
        <p:spPr>
          <a:xfrm>
            <a:off x="6431280" y="2683483"/>
            <a:ext cx="203200" cy="203200"/>
          </a:xfrm>
          <a:prstGeom prst="rect">
            <a:avLst/>
          </a:prstGeom>
        </p:spPr>
      </p:pic>
      <p:sp>
        <p:nvSpPr>
          <p:cNvPr id="21" name="Text 13"/>
          <p:cNvSpPr/>
          <p:nvPr/>
        </p:nvSpPr>
        <p:spPr>
          <a:xfrm>
            <a:off x="6723380" y="2683483"/>
            <a:ext cx="4255453"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6"/>
                </a:solidFill>
                <a:latin typeface="Inter" pitchFamily="34" charset="0"/>
                <a:ea typeface="Inter" pitchFamily="34" charset="-122"/>
                <a:cs typeface="Inter" pitchFamily="34" charset="-120"/>
              </a:rPr>
              <a:t>Deterministic validation gates on every modeling stage</a:t>
            </a:r>
            <a:endParaRPr lang="en-US" sz="1200" dirty="0"/>
          </a:p>
        </p:txBody>
      </p:sp>
      <p:pic>
        <p:nvPicPr>
          <p:cNvPr id="22" name="Image 6" descr="CheckCircle">    </p:cNvPr>
          <p:cNvPicPr>
            <a:picLocks noChangeAspect="1"/>
          </p:cNvPicPr>
          <p:nvPr/>
        </p:nvPicPr>
        <p:blipFill>
          <a:blip r:embed="rId7"/>
          <a:srcRect l="0" r="0" t="0" b="0"/>
          <a:stretch/>
        </p:blipFill>
        <p:spPr>
          <a:xfrm>
            <a:off x="6431280" y="2975583"/>
            <a:ext cx="203200" cy="203200"/>
          </a:xfrm>
          <a:prstGeom prst="rect">
            <a:avLst/>
          </a:prstGeom>
        </p:spPr>
      </p:pic>
      <p:sp>
        <p:nvSpPr>
          <p:cNvPr id="23" name="Text 14"/>
          <p:cNvSpPr/>
          <p:nvPr/>
        </p:nvSpPr>
        <p:spPr>
          <a:xfrm>
            <a:off x="6723380" y="2975583"/>
            <a:ext cx="4586478"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6"/>
                </a:solidFill>
                <a:latin typeface="Inter" pitchFamily="34" charset="0"/>
                <a:ea typeface="Inter" pitchFamily="34" charset="-122"/>
                <a:cs typeface="Inter" pitchFamily="34" charset="-120"/>
              </a:rPr>
              <a:t>Identity-stamped approvals, review records and repair logs</a:t>
            </a:r>
            <a:endParaRPr lang="en-US" sz="1200" dirty="0"/>
          </a:p>
        </p:txBody>
      </p:sp>
      <p:pic>
        <p:nvPicPr>
          <p:cNvPr id="24" name="Image 7" descr="CheckCircle">    </p:cNvPr>
          <p:cNvPicPr>
            <a:picLocks noChangeAspect="1"/>
          </p:cNvPicPr>
          <p:nvPr/>
        </p:nvPicPr>
        <p:blipFill>
          <a:blip r:embed="rId8"/>
          <a:srcRect l="0" r="0" t="0" b="0"/>
          <a:stretch/>
        </p:blipFill>
        <p:spPr>
          <a:xfrm>
            <a:off x="6431280" y="3267683"/>
            <a:ext cx="203200" cy="203200"/>
          </a:xfrm>
          <a:prstGeom prst="rect">
            <a:avLst/>
          </a:prstGeom>
        </p:spPr>
      </p:pic>
      <p:sp>
        <p:nvSpPr>
          <p:cNvPr id="25" name="Text 15"/>
          <p:cNvSpPr/>
          <p:nvPr/>
        </p:nvSpPr>
        <p:spPr>
          <a:xfrm>
            <a:off x="6723380" y="3267683"/>
            <a:ext cx="434813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6"/>
                </a:solidFill>
                <a:latin typeface="Inter" pitchFamily="34" charset="0"/>
                <a:ea typeface="Inter" pitchFamily="34" charset="-122"/>
                <a:cs typeface="Inter" pitchFamily="34" charset="-120"/>
              </a:rPr>
              <a:t>Mandatory approval by the IR Author and a domain SME</a:t>
            </a:r>
            <a:endParaRPr lang="en-US" sz="1200" dirty="0"/>
          </a:p>
        </p:txBody>
      </p:sp>
      <p:pic>
        <p:nvPicPr>
          <p:cNvPr id="26" name="Image 8" descr="CheckCircle">    </p:cNvPr>
          <p:cNvPicPr>
            <a:picLocks noChangeAspect="1"/>
          </p:cNvPicPr>
          <p:nvPr/>
        </p:nvPicPr>
        <p:blipFill>
          <a:blip r:embed="rId9"/>
          <a:srcRect l="0" r="0" t="0" b="0"/>
          <a:stretch/>
        </p:blipFill>
        <p:spPr>
          <a:xfrm>
            <a:off x="6431280" y="3559783"/>
            <a:ext cx="203200" cy="203200"/>
          </a:xfrm>
          <a:prstGeom prst="rect">
            <a:avLst/>
          </a:prstGeom>
        </p:spPr>
      </p:pic>
      <p:sp>
        <p:nvSpPr>
          <p:cNvPr id="27" name="Text 16"/>
          <p:cNvSpPr/>
          <p:nvPr/>
        </p:nvSpPr>
        <p:spPr>
          <a:xfrm>
            <a:off x="6723380" y="3559783"/>
            <a:ext cx="4490943"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6"/>
                </a:solidFill>
                <a:latin typeface="Inter" pitchFamily="34" charset="0"/>
                <a:ea typeface="Inter" pitchFamily="34" charset="-122"/>
                <a:cs typeface="Inter" pitchFamily="34" charset="-120"/>
              </a:rPr>
              <a:t>Layered PII guardrails at input, model, retrieval and output</a:t>
            </a:r>
            <a:endParaRPr lang="en-US" sz="1200" dirty="0"/>
          </a:p>
        </p:txBody>
      </p:sp>
      <p:pic>
        <p:nvPicPr>
          <p:cNvPr id="28" name="Image 9" descr="CheckCircle">    </p:cNvPr>
          <p:cNvPicPr>
            <a:picLocks noChangeAspect="1"/>
          </p:cNvPicPr>
          <p:nvPr/>
        </p:nvPicPr>
        <p:blipFill>
          <a:blip r:embed="rId10"/>
          <a:srcRect l="0" r="0" t="0" b="0"/>
          <a:stretch/>
        </p:blipFill>
        <p:spPr>
          <a:xfrm>
            <a:off x="6431280" y="3851883"/>
            <a:ext cx="203200" cy="203200"/>
          </a:xfrm>
          <a:prstGeom prst="rect">
            <a:avLst/>
          </a:prstGeom>
        </p:spPr>
      </p:pic>
      <p:sp>
        <p:nvSpPr>
          <p:cNvPr id="29" name="Text 17"/>
          <p:cNvSpPr/>
          <p:nvPr/>
        </p:nvSpPr>
        <p:spPr>
          <a:xfrm>
            <a:off x="6723380" y="3851883"/>
            <a:ext cx="4649470"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6"/>
                </a:solidFill>
                <a:latin typeface="Inter" pitchFamily="34" charset="0"/>
                <a:ea typeface="Inter" pitchFamily="34" charset="-122"/>
                <a:cs typeface="Inter" pitchFamily="34" charset="-120"/>
              </a:rPr>
              <a:t>Red Team review supplements, never replaces, human review</a:t>
            </a:r>
            <a:endParaRPr lang="en-US" sz="1200" dirty="0"/>
          </a:p>
        </p:txBody>
      </p:sp>
      <p:pic>
        <p:nvPicPr>
          <p:cNvPr id="30" name="Image 10" descr="CheckCircle">    </p:cNvPr>
          <p:cNvPicPr>
            <a:picLocks noChangeAspect="1"/>
          </p:cNvPicPr>
          <p:nvPr/>
        </p:nvPicPr>
        <p:blipFill>
          <a:blip r:embed="rId11"/>
          <a:srcRect l="0" r="0" t="0" b="0"/>
          <a:stretch/>
        </p:blipFill>
        <p:spPr>
          <a:xfrm>
            <a:off x="6431280" y="4143983"/>
            <a:ext cx="203200" cy="203200"/>
          </a:xfrm>
          <a:prstGeom prst="rect">
            <a:avLst/>
          </a:prstGeom>
        </p:spPr>
      </p:pic>
      <p:sp>
        <p:nvSpPr>
          <p:cNvPr id="31" name="Text 18"/>
          <p:cNvSpPr/>
          <p:nvPr/>
        </p:nvSpPr>
        <p:spPr>
          <a:xfrm>
            <a:off x="6723380" y="4143983"/>
            <a:ext cx="4196398"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6"/>
                </a:solidFill>
                <a:latin typeface="Inter" pitchFamily="34" charset="0"/>
                <a:ea typeface="Inter" pitchFamily="34" charset="-122"/>
                <a:cs typeface="Inter" pitchFamily="34" charset="-120"/>
              </a:rPr>
              <a:t>Offline evaluation before any prompt or model change</a:t>
            </a:r>
            <a:endParaRPr lang="en-US" sz="1200" dirty="0"/>
          </a:p>
        </p:txBody>
      </p:sp>
      <p:sp>
        <p:nvSpPr>
          <p:cNvPr id="32" name="Text 19"/>
          <p:cNvSpPr/>
          <p:nvPr/>
        </p:nvSpPr>
        <p:spPr>
          <a:xfrm>
            <a:off x="812800" y="6259587"/>
            <a:ext cx="784860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3A3A3"/>
                </a:solidFill>
                <a:latin typeface="Inter" pitchFamily="34" charset="0"/>
                <a:ea typeface="Inter" pitchFamily="34" charset="-122"/>
                <a:cs typeface="Inter" pitchFamily="34" charset="-120"/>
              </a:rPr>
              <a:t>Proof of concept proposal · Policy CP6.55</a:t>
            </a:r>
            <a:endParaRPr lang="en-US" sz="1200" dirty="0"/>
          </a:p>
        </p:txBody>
      </p:sp>
      <p:sp>
        <p:nvSpPr>
          <p:cNvPr id="33" name="Text 20"/>
          <p:cNvSpPr/>
          <p:nvPr/>
        </p:nvSpPr>
        <p:spPr>
          <a:xfrm>
            <a:off x="10058401" y="6259587"/>
            <a:ext cx="132080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3A3A3"/>
                </a:solidFill>
                <a:latin typeface="IBM Plex Mono" pitchFamily="49" charset="0"/>
                <a:ea typeface="IBM Plex Mono" pitchFamily="49" charset="-122"/>
                <a:cs typeface="IBM Plex Mono" pitchFamily="49" charset="-120"/>
              </a:rPr>
              <a:t>20 / 23</a:t>
            </a:r>
            <a:endParaRPr lang="en-US" sz="1200" dirty="0"/>
          </a:p>
        </p:txBody>
      </p:sp>
      <p:sp>
        <p:nvSpPr>
          <p:cNvPr id="34" name="Text 21"/>
          <p:cNvSpPr/>
          <p:nvPr/>
        </p:nvSpPr>
        <p:spPr>
          <a:xfrm>
            <a:off x="812800" y="1778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FFFFF"/>
                </a:solidFill>
                <a:latin typeface="Inter" pitchFamily="34" charset="0"/>
                <a:ea typeface="Inter" pitchFamily="34" charset="-122"/>
                <a:cs typeface="Inter" pitchFamily="34" charset="-120"/>
              </a:rPr>
              <a:t>Intent Discovery Service</a:t>
            </a:r>
            <a:endParaRPr lang="en-US" sz="1200" dirty="0"/>
          </a:p>
        </p:txBody>
      </p:sp>
      <p:sp>
        <p:nvSpPr>
          <p:cNvPr id="35" name="Text 22"/>
          <p:cNvSpPr/>
          <p:nvPr/>
        </p:nvSpPr>
        <p:spPr>
          <a:xfrm>
            <a:off x="6800850" y="177800"/>
            <a:ext cx="457835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3A3A3"/>
                </a:solidFill>
                <a:latin typeface="Inter" pitchFamily="34" charset="0"/>
                <a:ea typeface="Inter" pitchFamily="34" charset="-122"/>
                <a:cs typeface="Inter" pitchFamily="34" charset="-120"/>
              </a:rPr>
              <a:t>GenAI Governance Panel</a:t>
            </a:r>
            <a:endParaRPr lang="en-US" sz="1200" dirty="0"/>
          </a:p>
        </p:txBody>
      </p:sp>
      <p:pic>
        <p:nvPicPr>
          <p:cNvPr id="36" name="Image 11" descr="line">    </p:cNvPr>
          <p:cNvPicPr>
            <a:picLocks noChangeAspect="1"/>
          </p:cNvPicPr>
          <p:nvPr/>
        </p:nvPicPr>
        <p:blipFill>
          <a:blip r:embed="rId12"/>
          <a:srcRect l="-1137" r="-1137" t="0" b="0"/>
          <a:stretch/>
        </p:blipFill>
        <p:spPr>
          <a:xfrm>
            <a:off x="0" y="533400"/>
            <a:ext cx="12192001" cy="3725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896082"/>
            <a:ext cx="304800" cy="25400"/>
          </a:xfrm>
          <a:prstGeom prst="rect">
            <a:avLst/>
          </a:prstGeom>
          <a:solidFill>
            <a:srgbClr val="EB0A1E"/>
          </a:solidFill>
          <a:ln/>
        </p:spPr>
      </p:sp>
      <p:sp>
        <p:nvSpPr>
          <p:cNvPr id="3" name="Text 1"/>
          <p:cNvSpPr/>
          <p:nvPr/>
        </p:nvSpPr>
        <p:spPr>
          <a:xfrm>
            <a:off x="1219200" y="812800"/>
            <a:ext cx="3074067"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DECISION · SUCCESS MEASURES</a:t>
            </a:r>
            <a:endParaRPr lang="en-US" sz="1200" dirty="0"/>
          </a:p>
        </p:txBody>
      </p:sp>
      <p:sp>
        <p:nvSpPr>
          <p:cNvPr id="4" name="Text 2"/>
          <p:cNvSpPr/>
          <p:nvPr>
            <p:ph type="title"/>
          </p:nvPr>
        </p:nvSpPr>
        <p:spPr>
          <a:xfrm>
            <a:off x="812800" y="1106401"/>
            <a:ext cx="10883393" cy="427725"/>
          </a:xfrm>
          <a:prstGeom prst="rect">
            <a:avLst/>
          </a:prstGeom>
          <a:noFill/>
          <a:ln/>
        </p:spPr>
        <p:txBody>
          <a:bodyPr wrap="square" lIns="0" tIns="0" rIns="0" bIns="0" rtlCol="0" anchor="t">
            <a:normAutofit/>
          </a:bodyPr>
          <a:lstStyle/>
          <a:p>
            <a:pPr algn="l" indent="0" marL="0">
              <a:lnSpc>
                <a:spcPts val="3520"/>
              </a:lnSpc>
              <a:buNone/>
            </a:pPr>
            <a:r>
              <a:rPr lang="en-US" sz="3200" b="1" i="0" spc="-50" kern="0" dirty="0">
                <a:solidFill>
                  <a:srgbClr val="1A1A1A"/>
                </a:solidFill>
                <a:latin typeface="Inter" pitchFamily="34" charset="0"/>
                <a:ea typeface="Inter" pitchFamily="34" charset="-122"/>
                <a:cs typeface="Inter" pitchFamily="34" charset="-120"/>
              </a:rPr>
              <a:t>How the PoC would be measured</a:t>
            </a:r>
            <a:endParaRPr lang="en-US" sz="3200" dirty="0"/>
          </a:p>
        </p:txBody>
      </p:sp>
      <p:sp>
        <p:nvSpPr>
          <p:cNvPr id="5" name="Shape 3"/>
          <p:cNvSpPr/>
          <p:nvPr/>
        </p:nvSpPr>
        <p:spPr>
          <a:xfrm>
            <a:off x="815975" y="1816708"/>
            <a:ext cx="3414183" cy="2995533"/>
          </a:xfrm>
          <a:prstGeom prst="roundRect">
            <a:avLst>
              <a:gd name="adj" fmla="val 1590"/>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pic>
        <p:nvPicPr>
          <p:cNvPr id="6" name="Image 0" descr="Verified">    </p:cNvPr>
          <p:cNvPicPr>
            <a:picLocks noChangeAspect="1"/>
          </p:cNvPicPr>
          <p:nvPr/>
        </p:nvPicPr>
        <p:blipFill>
          <a:blip r:embed="rId1"/>
          <a:srcRect l="0" r="0" t="0" b="0"/>
          <a:stretch/>
        </p:blipFill>
        <p:spPr>
          <a:xfrm>
            <a:off x="1021080" y="2021805"/>
            <a:ext cx="254000" cy="254000"/>
          </a:xfrm>
          <a:prstGeom prst="rect">
            <a:avLst/>
          </a:prstGeom>
        </p:spPr>
      </p:pic>
      <p:sp>
        <p:nvSpPr>
          <p:cNvPr id="7" name="Text 4"/>
          <p:cNvSpPr/>
          <p:nvPr/>
        </p:nvSpPr>
        <p:spPr>
          <a:xfrm>
            <a:off x="1351280" y="2037370"/>
            <a:ext cx="2040255"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Specification quality</a:t>
            </a:r>
            <a:endParaRPr lang="en-US" sz="1500" dirty="0"/>
          </a:p>
        </p:txBody>
      </p:sp>
      <p:sp>
        <p:nvSpPr>
          <p:cNvPr id="8" name="Shape 5"/>
          <p:cNvSpPr/>
          <p:nvPr/>
        </p:nvSpPr>
        <p:spPr>
          <a:xfrm>
            <a:off x="1021080" y="2402805"/>
            <a:ext cx="304800" cy="19050"/>
          </a:xfrm>
          <a:prstGeom prst="rect">
            <a:avLst/>
          </a:prstGeom>
          <a:solidFill>
            <a:srgbClr val="EB0A1E"/>
          </a:solidFill>
          <a:ln/>
        </p:spPr>
      </p:sp>
      <p:sp>
        <p:nvSpPr>
          <p:cNvPr id="9" name="Text 6"/>
          <p:cNvSpPr/>
          <p:nvPr/>
        </p:nvSpPr>
        <p:spPr>
          <a:xfrm>
            <a:off x="1021080" y="2548855"/>
            <a:ext cx="3094093"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Specification completeness</a:t>
            </a:r>
            <a:endParaRPr lang="en-US" sz="1200" dirty="0"/>
          </a:p>
        </p:txBody>
      </p:sp>
      <p:sp>
        <p:nvSpPr>
          <p:cNvPr id="10" name="Text 7"/>
          <p:cNvSpPr/>
          <p:nvPr/>
        </p:nvSpPr>
        <p:spPr>
          <a:xfrm>
            <a:off x="1021080" y="2766268"/>
            <a:ext cx="3094093"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 of intents with invariants, decision tables, failure codes and evidence all defined</a:t>
            </a:r>
            <a:endParaRPr lang="en-US" sz="1200" dirty="0"/>
          </a:p>
        </p:txBody>
      </p:sp>
      <p:sp>
        <p:nvSpPr>
          <p:cNvPr id="11" name="Text 8"/>
          <p:cNvSpPr/>
          <p:nvPr/>
        </p:nvSpPr>
        <p:spPr>
          <a:xfrm>
            <a:off x="1021080" y="3277282"/>
            <a:ext cx="3094093"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Decision-table coverage</a:t>
            </a:r>
            <a:endParaRPr lang="en-US" sz="1200" dirty="0"/>
          </a:p>
        </p:txBody>
      </p:sp>
      <p:sp>
        <p:nvSpPr>
          <p:cNvPr id="12" name="Text 9"/>
          <p:cNvSpPr/>
          <p:nvPr/>
        </p:nvSpPr>
        <p:spPr>
          <a:xfrm>
            <a:off x="1021080" y="3494695"/>
            <a:ext cx="3094093"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 of decision tables with combination-count completeness verified</a:t>
            </a:r>
            <a:endParaRPr lang="en-US" sz="1200" dirty="0"/>
          </a:p>
        </p:txBody>
      </p:sp>
      <p:sp>
        <p:nvSpPr>
          <p:cNvPr id="13" name="Text 10"/>
          <p:cNvSpPr/>
          <p:nvPr/>
        </p:nvSpPr>
        <p:spPr>
          <a:xfrm>
            <a:off x="1021080" y="4005709"/>
            <a:ext cx="3094093"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Test coverage quality</a:t>
            </a:r>
            <a:endParaRPr lang="en-US" sz="1200" dirty="0"/>
          </a:p>
        </p:txBody>
      </p:sp>
      <p:sp>
        <p:nvSpPr>
          <p:cNvPr id="14" name="Text 11"/>
          <p:cNvSpPr/>
          <p:nvPr/>
        </p:nvSpPr>
        <p:spPr>
          <a:xfrm>
            <a:off x="1021080" y="4223110"/>
            <a:ext cx="3094093"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 of acceptance criteria that map to executable verification evidence</a:t>
            </a:r>
            <a:endParaRPr lang="en-US" sz="1200" dirty="0"/>
          </a:p>
        </p:txBody>
      </p:sp>
      <p:sp>
        <p:nvSpPr>
          <p:cNvPr id="15" name="Shape 12"/>
          <p:cNvSpPr/>
          <p:nvPr/>
        </p:nvSpPr>
        <p:spPr>
          <a:xfrm>
            <a:off x="4388908" y="1816708"/>
            <a:ext cx="3414183" cy="2995533"/>
          </a:xfrm>
          <a:prstGeom prst="roundRect">
            <a:avLst>
              <a:gd name="adj" fmla="val 1590"/>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pic>
        <p:nvPicPr>
          <p:cNvPr id="16" name="Image 1" descr="Clock">    </p:cNvPr>
          <p:cNvPicPr>
            <a:picLocks noChangeAspect="1"/>
          </p:cNvPicPr>
          <p:nvPr/>
        </p:nvPicPr>
        <p:blipFill>
          <a:blip r:embed="rId2"/>
          <a:srcRect l="0" r="0" t="0" b="0"/>
          <a:stretch/>
        </p:blipFill>
        <p:spPr>
          <a:xfrm>
            <a:off x="4594013" y="2021805"/>
            <a:ext cx="254000" cy="254000"/>
          </a:xfrm>
          <a:prstGeom prst="rect">
            <a:avLst/>
          </a:prstGeom>
        </p:spPr>
      </p:pic>
      <p:sp>
        <p:nvSpPr>
          <p:cNvPr id="17" name="Text 13"/>
          <p:cNvSpPr/>
          <p:nvPr/>
        </p:nvSpPr>
        <p:spPr>
          <a:xfrm>
            <a:off x="4924214" y="2037370"/>
            <a:ext cx="822484"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Delivery</a:t>
            </a:r>
            <a:endParaRPr lang="en-US" sz="1500" dirty="0"/>
          </a:p>
        </p:txBody>
      </p:sp>
      <p:sp>
        <p:nvSpPr>
          <p:cNvPr id="18" name="Shape 14"/>
          <p:cNvSpPr/>
          <p:nvPr/>
        </p:nvSpPr>
        <p:spPr>
          <a:xfrm>
            <a:off x="4594013" y="2402805"/>
            <a:ext cx="304800" cy="19050"/>
          </a:xfrm>
          <a:prstGeom prst="rect">
            <a:avLst/>
          </a:prstGeom>
          <a:solidFill>
            <a:srgbClr val="EB0A1E"/>
          </a:solidFill>
          <a:ln/>
        </p:spPr>
      </p:sp>
      <p:sp>
        <p:nvSpPr>
          <p:cNvPr id="19" name="Text 15"/>
          <p:cNvSpPr/>
          <p:nvPr/>
        </p:nvSpPr>
        <p:spPr>
          <a:xfrm>
            <a:off x="4594013" y="2548855"/>
            <a:ext cx="3094093"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Discovery rate</a:t>
            </a:r>
            <a:endParaRPr lang="en-US" sz="1200" dirty="0"/>
          </a:p>
        </p:txBody>
      </p:sp>
      <p:sp>
        <p:nvSpPr>
          <p:cNvPr id="20" name="Text 16"/>
          <p:cNvSpPr/>
          <p:nvPr/>
        </p:nvSpPr>
        <p:spPr>
          <a:xfrm>
            <a:off x="4594013" y="2766268"/>
            <a:ext cx="3094093"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Edge cases and missing requirements surfaced that were not in the original intake</a:t>
            </a:r>
            <a:endParaRPr lang="en-US" sz="1200" dirty="0"/>
          </a:p>
        </p:txBody>
      </p:sp>
      <p:sp>
        <p:nvSpPr>
          <p:cNvPr id="21" name="Text 17"/>
          <p:cNvSpPr/>
          <p:nvPr/>
        </p:nvSpPr>
        <p:spPr>
          <a:xfrm>
            <a:off x="4594013" y="3277282"/>
            <a:ext cx="3094093"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Rework reduction</a:t>
            </a:r>
            <a:endParaRPr lang="en-US" sz="1200" dirty="0"/>
          </a:p>
        </p:txBody>
      </p:sp>
      <p:sp>
        <p:nvSpPr>
          <p:cNvPr id="22" name="Text 18"/>
          <p:cNvSpPr/>
          <p:nvPr/>
        </p:nvSpPr>
        <p:spPr>
          <a:xfrm>
            <a:off x="4594013" y="3494695"/>
            <a:ext cx="3094093"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Fewer back-and-forth cycles between BSAs and engineering</a:t>
            </a:r>
            <a:endParaRPr lang="en-US" sz="1200" dirty="0"/>
          </a:p>
        </p:txBody>
      </p:sp>
      <p:sp>
        <p:nvSpPr>
          <p:cNvPr id="23" name="Text 19"/>
          <p:cNvSpPr/>
          <p:nvPr/>
        </p:nvSpPr>
        <p:spPr>
          <a:xfrm>
            <a:off x="4594013" y="4005709"/>
            <a:ext cx="3094093"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Time to decidable</a:t>
            </a:r>
            <a:endParaRPr lang="en-US" sz="1200" dirty="0"/>
          </a:p>
        </p:txBody>
      </p:sp>
      <p:sp>
        <p:nvSpPr>
          <p:cNvPr id="24" name="Text 20"/>
          <p:cNvSpPr/>
          <p:nvPr/>
        </p:nvSpPr>
        <p:spPr>
          <a:xfrm>
            <a:off x="4594013" y="4223110"/>
            <a:ext cx="3094093"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Intake to fully decidable spec, compared with the current manual process</a:t>
            </a:r>
            <a:endParaRPr lang="en-US" sz="1200" dirty="0"/>
          </a:p>
        </p:txBody>
      </p:sp>
      <p:sp>
        <p:nvSpPr>
          <p:cNvPr id="25" name="Shape 21"/>
          <p:cNvSpPr/>
          <p:nvPr/>
        </p:nvSpPr>
        <p:spPr>
          <a:xfrm>
            <a:off x="7961842" y="1816708"/>
            <a:ext cx="3414183" cy="2995533"/>
          </a:xfrm>
          <a:prstGeom prst="roundRect">
            <a:avLst>
              <a:gd name="adj" fmla="val 1590"/>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pic>
        <p:nvPicPr>
          <p:cNvPr id="26" name="Image 2" descr="Activity">    </p:cNvPr>
          <p:cNvPicPr>
            <a:picLocks noChangeAspect="1"/>
          </p:cNvPicPr>
          <p:nvPr/>
        </p:nvPicPr>
        <p:blipFill>
          <a:blip r:embed="rId3"/>
          <a:srcRect l="0" r="0" t="0" b="0"/>
          <a:stretch/>
        </p:blipFill>
        <p:spPr>
          <a:xfrm>
            <a:off x="8166947" y="2021805"/>
            <a:ext cx="254000" cy="254000"/>
          </a:xfrm>
          <a:prstGeom prst="rect">
            <a:avLst/>
          </a:prstGeom>
        </p:spPr>
      </p:pic>
      <p:sp>
        <p:nvSpPr>
          <p:cNvPr id="27" name="Text 22"/>
          <p:cNvSpPr/>
          <p:nvPr/>
        </p:nvSpPr>
        <p:spPr>
          <a:xfrm>
            <a:off x="8497147" y="2037370"/>
            <a:ext cx="1639475"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AI output quality</a:t>
            </a:r>
            <a:endParaRPr lang="en-US" sz="1500" dirty="0"/>
          </a:p>
        </p:txBody>
      </p:sp>
      <p:sp>
        <p:nvSpPr>
          <p:cNvPr id="28" name="Shape 23"/>
          <p:cNvSpPr/>
          <p:nvPr/>
        </p:nvSpPr>
        <p:spPr>
          <a:xfrm>
            <a:off x="8166947" y="2402805"/>
            <a:ext cx="304800" cy="19050"/>
          </a:xfrm>
          <a:prstGeom prst="rect">
            <a:avLst/>
          </a:prstGeom>
          <a:solidFill>
            <a:srgbClr val="EB0A1E"/>
          </a:solidFill>
          <a:ln/>
        </p:spPr>
      </p:sp>
      <p:sp>
        <p:nvSpPr>
          <p:cNvPr id="29" name="Text 24"/>
          <p:cNvSpPr/>
          <p:nvPr/>
        </p:nvSpPr>
        <p:spPr>
          <a:xfrm>
            <a:off x="8166947" y="2548855"/>
            <a:ext cx="3094093"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Gate pass rate</a:t>
            </a:r>
            <a:endParaRPr lang="en-US" sz="1200" dirty="0"/>
          </a:p>
        </p:txBody>
      </p:sp>
      <p:sp>
        <p:nvSpPr>
          <p:cNvPr id="30" name="Text 25"/>
          <p:cNvSpPr/>
          <p:nvPr/>
        </p:nvSpPr>
        <p:spPr>
          <a:xfrm>
            <a:off x="8166947" y="2766268"/>
            <a:ext cx="3094093"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 of ESML, DMML and IR artifacts that pass validation without the repair loop</a:t>
            </a:r>
            <a:endParaRPr lang="en-US" sz="1200" dirty="0"/>
          </a:p>
        </p:txBody>
      </p:sp>
      <p:sp>
        <p:nvSpPr>
          <p:cNvPr id="31" name="Text 26"/>
          <p:cNvSpPr/>
          <p:nvPr/>
        </p:nvSpPr>
        <p:spPr>
          <a:xfrm>
            <a:off x="8166947" y="3277282"/>
            <a:ext cx="3094093"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A1A1A"/>
                </a:solidFill>
                <a:latin typeface="Inter" pitchFamily="34" charset="0"/>
                <a:ea typeface="Inter" pitchFamily="34" charset="-122"/>
                <a:cs typeface="Inter" pitchFamily="34" charset="-120"/>
              </a:rPr>
              <a:t>Model accuracy</a:t>
            </a:r>
            <a:endParaRPr lang="en-US" sz="1200" dirty="0"/>
          </a:p>
        </p:txBody>
      </p:sp>
      <p:sp>
        <p:nvSpPr>
          <p:cNvPr id="32" name="Text 27"/>
          <p:cNvSpPr/>
          <p:nvPr/>
        </p:nvSpPr>
        <p:spPr>
          <a:xfrm>
            <a:off x="8166947" y="3494695"/>
            <a:ext cx="3094093" cy="60142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Invented, omitted and misclassified elements per prompt version, from the offline evaluation harness</a:t>
            </a:r>
            <a:endParaRPr lang="en-US" sz="1200" dirty="0"/>
          </a:p>
        </p:txBody>
      </p:sp>
      <p:sp>
        <p:nvSpPr>
          <p:cNvPr id="33" name="Text 28"/>
          <p:cNvSpPr/>
          <p:nvPr/>
        </p:nvSpPr>
        <p:spPr>
          <a:xfrm>
            <a:off x="812800" y="6259587"/>
            <a:ext cx="784860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Inter" pitchFamily="34" charset="0"/>
                <a:ea typeface="Inter" pitchFamily="34" charset="-122"/>
                <a:cs typeface="Inter" pitchFamily="34" charset="-120"/>
              </a:rPr>
              <a:t>Proof of concept proposal · Policy CP6.55</a:t>
            </a:r>
            <a:endParaRPr lang="en-US" sz="1200" dirty="0"/>
          </a:p>
        </p:txBody>
      </p:sp>
      <p:sp>
        <p:nvSpPr>
          <p:cNvPr id="34" name="Text 29"/>
          <p:cNvSpPr/>
          <p:nvPr/>
        </p:nvSpPr>
        <p:spPr>
          <a:xfrm>
            <a:off x="10058401" y="6259587"/>
            <a:ext cx="132080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BM Plex Mono" pitchFamily="49" charset="0"/>
                <a:ea typeface="IBM Plex Mono" pitchFamily="49" charset="-122"/>
                <a:cs typeface="IBM Plex Mono" pitchFamily="49" charset="-120"/>
              </a:rPr>
              <a:t>21 / 23</a:t>
            </a:r>
            <a:endParaRPr lang="en-US" sz="1200" dirty="0"/>
          </a:p>
        </p:txBody>
      </p:sp>
      <p:sp>
        <p:nvSpPr>
          <p:cNvPr id="35" name="Text 30"/>
          <p:cNvSpPr/>
          <p:nvPr/>
        </p:nvSpPr>
        <p:spPr>
          <a:xfrm>
            <a:off x="812800" y="1778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1111"/>
                </a:solidFill>
                <a:latin typeface="Inter" pitchFamily="34" charset="0"/>
                <a:ea typeface="Inter" pitchFamily="34" charset="-122"/>
                <a:cs typeface="Inter" pitchFamily="34" charset="-120"/>
              </a:rPr>
              <a:t>Intent Discovery Service</a:t>
            </a:r>
            <a:endParaRPr lang="en-US" sz="1200" dirty="0"/>
          </a:p>
        </p:txBody>
      </p:sp>
      <p:sp>
        <p:nvSpPr>
          <p:cNvPr id="36" name="Text 31"/>
          <p:cNvSpPr/>
          <p:nvPr/>
        </p:nvSpPr>
        <p:spPr>
          <a:xfrm>
            <a:off x="6800850" y="177800"/>
            <a:ext cx="457835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nter" pitchFamily="34" charset="0"/>
                <a:ea typeface="Inter" pitchFamily="34" charset="-122"/>
                <a:cs typeface="Inter" pitchFamily="34" charset="-120"/>
              </a:rPr>
              <a:t>GenAI Governance Panel</a:t>
            </a:r>
            <a:endParaRPr lang="en-US" sz="1200" dirty="0"/>
          </a:p>
        </p:txBody>
      </p:sp>
      <p:pic>
        <p:nvPicPr>
          <p:cNvPr id="37" name="Image 3" descr="line">    </p:cNvPr>
          <p:cNvPicPr>
            <a:picLocks noChangeAspect="1"/>
          </p:cNvPicPr>
          <p:nvPr/>
        </p:nvPicPr>
        <p:blipFill>
          <a:blip r:embed="rId4"/>
          <a:srcRect l="-1137" r="-1137" t="0" b="0"/>
          <a:stretch/>
        </p:blipFill>
        <p:spPr>
          <a:xfrm>
            <a:off x="0" y="533400"/>
            <a:ext cx="12192001" cy="3725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2800" y="896082"/>
            <a:ext cx="304800" cy="25400"/>
          </a:xfrm>
          <a:prstGeom prst="rect">
            <a:avLst/>
          </a:prstGeom>
          <a:solidFill>
            <a:srgbClr val="EB0A1E"/>
          </a:solidFill>
          <a:ln/>
        </p:spPr>
      </p:sp>
      <p:sp>
        <p:nvSpPr>
          <p:cNvPr id="3" name="Text 1"/>
          <p:cNvSpPr/>
          <p:nvPr/>
        </p:nvSpPr>
        <p:spPr>
          <a:xfrm>
            <a:off x="1219200" y="812800"/>
            <a:ext cx="2769076"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B0A1E"/>
                </a:solidFill>
                <a:latin typeface="Inter" pitchFamily="34" charset="0"/>
                <a:ea typeface="Inter" pitchFamily="34" charset="-122"/>
                <a:cs typeface="Inter" pitchFamily="34" charset="-120"/>
              </a:rPr>
              <a:t>DECISION · ACCOUNTABILITY</a:t>
            </a:r>
            <a:endParaRPr lang="en-US" sz="1200" dirty="0"/>
          </a:p>
        </p:txBody>
      </p:sp>
      <p:sp>
        <p:nvSpPr>
          <p:cNvPr id="4" name="Text 2"/>
          <p:cNvSpPr/>
          <p:nvPr>
            <p:ph type="title"/>
          </p:nvPr>
        </p:nvSpPr>
        <p:spPr>
          <a:xfrm>
            <a:off x="812800" y="1106401"/>
            <a:ext cx="10883393" cy="427725"/>
          </a:xfrm>
          <a:prstGeom prst="rect">
            <a:avLst/>
          </a:prstGeom>
          <a:noFill/>
          <a:ln/>
        </p:spPr>
        <p:txBody>
          <a:bodyPr wrap="square" lIns="0" tIns="0" rIns="0" bIns="0" rtlCol="0" anchor="t">
            <a:normAutofit/>
          </a:bodyPr>
          <a:lstStyle/>
          <a:p>
            <a:pPr algn="l" indent="0" marL="0">
              <a:lnSpc>
                <a:spcPts val="3520"/>
              </a:lnSpc>
              <a:buNone/>
            </a:pPr>
            <a:r>
              <a:rPr lang="en-US" sz="3200" b="1" i="0" spc="-50" kern="0" dirty="0">
                <a:solidFill>
                  <a:srgbClr val="1A1A1A"/>
                </a:solidFill>
                <a:latin typeface="Inter" pitchFamily="34" charset="0"/>
                <a:ea typeface="Inter" pitchFamily="34" charset="-122"/>
                <a:cs typeface="Inter" pitchFamily="34" charset="-120"/>
              </a:rPr>
              <a:t>Accountability and change control</a:t>
            </a:r>
            <a:endParaRPr lang="en-US" sz="3200" dirty="0"/>
          </a:p>
        </p:txBody>
      </p:sp>
      <p:sp>
        <p:nvSpPr>
          <p:cNvPr id="5" name="Shape 3"/>
          <p:cNvSpPr/>
          <p:nvPr/>
        </p:nvSpPr>
        <p:spPr>
          <a:xfrm>
            <a:off x="812800" y="1813533"/>
            <a:ext cx="4273021" cy="1751886"/>
          </a:xfrm>
          <a:prstGeom prst="roundRect">
            <a:avLst>
              <a:gd name="adj" fmla="val 2900"/>
            </a:avLst>
          </a:prstGeom>
          <a:solidFill>
            <a:srgbClr val="1A1A1A"/>
          </a:solidFill>
          <a:ln/>
        </p:spPr>
      </p:sp>
      <p:sp>
        <p:nvSpPr>
          <p:cNvPr id="6" name="Text 4"/>
          <p:cNvSpPr/>
          <p:nvPr/>
        </p:nvSpPr>
        <p:spPr>
          <a:xfrm>
            <a:off x="1016000" y="2016733"/>
            <a:ext cx="3982620"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5A67"/>
                </a:solidFill>
                <a:latin typeface="Inter" pitchFamily="34" charset="0"/>
                <a:ea typeface="Inter" pitchFamily="34" charset="-122"/>
                <a:cs typeface="Inter" pitchFamily="34" charset="-120"/>
              </a:rPr>
              <a:t>USE CASE OWNERS · CX ENGINEERING</a:t>
            </a:r>
            <a:endParaRPr lang="en-US" sz="1200" dirty="0"/>
          </a:p>
        </p:txBody>
      </p:sp>
      <p:sp>
        <p:nvSpPr>
          <p:cNvPr id="7" name="Text 5"/>
          <p:cNvSpPr/>
          <p:nvPr/>
        </p:nvSpPr>
        <p:spPr>
          <a:xfrm>
            <a:off x="1016000" y="2284933"/>
            <a:ext cx="3982620"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FFFFF"/>
                </a:solidFill>
                <a:latin typeface="Inter" pitchFamily="34" charset="0"/>
                <a:ea typeface="Inter" pitchFamily="34" charset="-122"/>
                <a:cs typeface="Inter" pitchFamily="34" charset="-120"/>
              </a:rPr>
              <a:t>Ankur Bhakta · Pavan Kumar Goli</a:t>
            </a:r>
            <a:endParaRPr lang="en-US" sz="1500" dirty="0"/>
          </a:p>
        </p:txBody>
      </p:sp>
      <p:sp>
        <p:nvSpPr>
          <p:cNvPr id="8" name="Text 6"/>
          <p:cNvSpPr/>
          <p:nvPr/>
        </p:nvSpPr>
        <p:spPr>
          <a:xfrm>
            <a:off x="1016000" y="2584016"/>
            <a:ext cx="3982620" cy="79343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6"/>
                </a:solidFill>
                <a:latin typeface="Inter" pitchFamily="34" charset="0"/>
                <a:ea typeface="Inter" pitchFamily="34" charset="-122"/>
                <a:cs typeface="Inter" pitchFamily="34" charset="-120"/>
              </a:rPr>
              <a:t>Responsible for PoC delivery and operation, access and data-handling guidance, model configuration, evaluation reviews, audit records, user onboarding and compliance reporting.</a:t>
            </a:r>
            <a:endParaRPr lang="en-US" sz="1200" dirty="0"/>
          </a:p>
        </p:txBody>
      </p:sp>
      <p:sp>
        <p:nvSpPr>
          <p:cNvPr id="9" name="Shape 7"/>
          <p:cNvSpPr/>
          <p:nvPr/>
        </p:nvSpPr>
        <p:spPr>
          <a:xfrm>
            <a:off x="5241396" y="1816708"/>
            <a:ext cx="2987940" cy="1745536"/>
          </a:xfrm>
          <a:prstGeom prst="roundRect">
            <a:avLst>
              <a:gd name="adj" fmla="val 2728"/>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10" name="Text 8"/>
          <p:cNvSpPr/>
          <p:nvPr/>
        </p:nvSpPr>
        <p:spPr>
          <a:xfrm>
            <a:off x="5446501" y="2021805"/>
            <a:ext cx="2655062"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8595B"/>
                </a:solidFill>
                <a:latin typeface="Inter" pitchFamily="34" charset="0"/>
                <a:ea typeface="Inter" pitchFamily="34" charset="-122"/>
                <a:cs typeface="Inter" pitchFamily="34" charset="-120"/>
              </a:rPr>
              <a:t>IR AUTHOR</a:t>
            </a:r>
            <a:endParaRPr lang="en-US" sz="1200" dirty="0"/>
          </a:p>
        </p:txBody>
      </p:sp>
      <p:sp>
        <p:nvSpPr>
          <p:cNvPr id="11" name="Text 9"/>
          <p:cNvSpPr/>
          <p:nvPr/>
        </p:nvSpPr>
        <p:spPr>
          <a:xfrm>
            <a:off x="5446501" y="2290018"/>
            <a:ext cx="2655062"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Specification owner</a:t>
            </a:r>
            <a:endParaRPr lang="en-US" sz="1500" dirty="0"/>
          </a:p>
        </p:txBody>
      </p:sp>
      <p:sp>
        <p:nvSpPr>
          <p:cNvPr id="12" name="Text 10"/>
          <p:cNvSpPr/>
          <p:nvPr/>
        </p:nvSpPr>
        <p:spPr>
          <a:xfrm>
            <a:off x="5446501" y="2589101"/>
            <a:ext cx="2655062"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Reviews, corrects and approves each specification before finalization.</a:t>
            </a:r>
            <a:endParaRPr lang="en-US" sz="1200" dirty="0"/>
          </a:p>
        </p:txBody>
      </p:sp>
      <p:sp>
        <p:nvSpPr>
          <p:cNvPr id="13" name="Shape 11"/>
          <p:cNvSpPr/>
          <p:nvPr/>
        </p:nvSpPr>
        <p:spPr>
          <a:xfrm>
            <a:off x="8388086" y="1816708"/>
            <a:ext cx="2987940" cy="1745536"/>
          </a:xfrm>
          <a:prstGeom prst="roundRect">
            <a:avLst>
              <a:gd name="adj" fmla="val 2728"/>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14" name="Text 12"/>
          <p:cNvSpPr/>
          <p:nvPr/>
        </p:nvSpPr>
        <p:spPr>
          <a:xfrm>
            <a:off x="8593191" y="2021805"/>
            <a:ext cx="2655062"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58595B"/>
                </a:solidFill>
                <a:latin typeface="Inter" pitchFamily="34" charset="0"/>
                <a:ea typeface="Inter" pitchFamily="34" charset="-122"/>
                <a:cs typeface="Inter" pitchFamily="34" charset="-120"/>
              </a:rPr>
              <a:t>DOMAIN SME</a:t>
            </a:r>
            <a:endParaRPr lang="en-US" sz="1200" dirty="0"/>
          </a:p>
        </p:txBody>
      </p:sp>
      <p:sp>
        <p:nvSpPr>
          <p:cNvPr id="15" name="Text 13"/>
          <p:cNvSpPr/>
          <p:nvPr/>
        </p:nvSpPr>
        <p:spPr>
          <a:xfrm>
            <a:off x="8593191" y="2290018"/>
            <a:ext cx="2655062"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Correctness attestor</a:t>
            </a:r>
            <a:endParaRPr lang="en-US" sz="1500" dirty="0"/>
          </a:p>
        </p:txBody>
      </p:sp>
      <p:sp>
        <p:nvSpPr>
          <p:cNvPr id="16" name="Text 14"/>
          <p:cNvSpPr/>
          <p:nvPr/>
        </p:nvSpPr>
        <p:spPr>
          <a:xfrm>
            <a:off x="8593191" y="2589101"/>
            <a:ext cx="2655062" cy="793433"/>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Independently attests that language, contexts, Aggregates, rules, decisions and non-goals reflect the intended outcome.</a:t>
            </a:r>
            <a:endParaRPr lang="en-US" sz="1200" dirty="0"/>
          </a:p>
        </p:txBody>
      </p:sp>
      <p:sp>
        <p:nvSpPr>
          <p:cNvPr id="17" name="Shape 15"/>
          <p:cNvSpPr/>
          <p:nvPr/>
        </p:nvSpPr>
        <p:spPr>
          <a:xfrm>
            <a:off x="815975" y="3720988"/>
            <a:ext cx="5200650" cy="1285319"/>
          </a:xfrm>
          <a:prstGeom prst="roundRect">
            <a:avLst>
              <a:gd name="adj" fmla="val 3705"/>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18" name="Text 16"/>
          <p:cNvSpPr/>
          <p:nvPr/>
        </p:nvSpPr>
        <p:spPr>
          <a:xfrm>
            <a:off x="1021080" y="3926098"/>
            <a:ext cx="4934153"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Coordination</a:t>
            </a:r>
            <a:endParaRPr lang="en-US" sz="1500" dirty="0"/>
          </a:p>
        </p:txBody>
      </p:sp>
      <p:sp>
        <p:nvSpPr>
          <p:cNvPr id="19" name="Text 17"/>
          <p:cNvSpPr/>
          <p:nvPr/>
        </p:nvSpPr>
        <p:spPr>
          <a:xfrm>
            <a:off x="1021080" y="4225181"/>
            <a:ext cx="4934153" cy="60142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Owners coordinate with the Domain Architect, BISO, DRL and the GenAI Governance Panel on any material change to scope, data, provider or deployment.</a:t>
            </a:r>
            <a:endParaRPr lang="en-US" sz="1200" dirty="0"/>
          </a:p>
        </p:txBody>
      </p:sp>
      <p:sp>
        <p:nvSpPr>
          <p:cNvPr id="20" name="Shape 18"/>
          <p:cNvSpPr/>
          <p:nvPr/>
        </p:nvSpPr>
        <p:spPr>
          <a:xfrm>
            <a:off x="6175375" y="3720988"/>
            <a:ext cx="5200650" cy="1285319"/>
          </a:xfrm>
          <a:prstGeom prst="roundRect">
            <a:avLst>
              <a:gd name="adj" fmla="val 3705"/>
            </a:avLst>
          </a:prstGeom>
          <a:solidFill>
            <a:srgbClr val="FFFFFF"/>
          </a:solidFill>
          <a:ln w="6350">
            <a:solidFill>
              <a:srgbClr val="E6E6E6"/>
            </a:solidFill>
            <a:prstDash val="solid"/>
          </a:ln>
          <a:effectLst>
            <a:outerShdw sx="100000" sy="100000" kx="0" ky="0" algn="bl" rotWithShape="0" blurRad="88900" dist="25400" dir="5400000">
              <a:srgbClr val="000000">
                <a:alpha val="8000"/>
              </a:srgbClr>
            </a:outerShdw>
          </a:effectLst>
        </p:spPr>
      </p:sp>
      <p:sp>
        <p:nvSpPr>
          <p:cNvPr id="21" name="Text 19"/>
          <p:cNvSpPr/>
          <p:nvPr/>
        </p:nvSpPr>
        <p:spPr>
          <a:xfrm>
            <a:off x="6380480" y="3926098"/>
            <a:ext cx="4934153" cy="248285"/>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A1A1A"/>
                </a:solidFill>
                <a:latin typeface="Inter" pitchFamily="34" charset="0"/>
                <a:ea typeface="Inter" pitchFamily="34" charset="-122"/>
                <a:cs typeface="Inter" pitchFamily="34" charset="-120"/>
              </a:rPr>
              <a:t>Change control</a:t>
            </a:r>
            <a:endParaRPr lang="en-US" sz="1500" dirty="0"/>
          </a:p>
        </p:txBody>
      </p:sp>
      <p:sp>
        <p:nvSpPr>
          <p:cNvPr id="22" name="Text 20"/>
          <p:cNvSpPr/>
          <p:nvPr/>
        </p:nvSpPr>
        <p:spPr>
          <a:xfrm>
            <a:off x="6380480" y="4225181"/>
            <a:ext cx="4934153" cy="60142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8595B"/>
                </a:solidFill>
                <a:latin typeface="Inter" pitchFamily="34" charset="0"/>
                <a:ea typeface="Inter" pitchFamily="34" charset="-122"/>
                <a:cs typeface="Inter" pitchFamily="34" charset="-120"/>
              </a:rPr>
              <a:t>Changes to the ladder, prompts, schemas, validation rules or evaluation criteria are versioned and reviewed by the Use Case Owners and Domain Architect before release.</a:t>
            </a:r>
            <a:endParaRPr lang="en-US" sz="1200" dirty="0"/>
          </a:p>
        </p:txBody>
      </p:sp>
      <p:sp>
        <p:nvSpPr>
          <p:cNvPr id="23" name="Text 21"/>
          <p:cNvSpPr/>
          <p:nvPr/>
        </p:nvSpPr>
        <p:spPr>
          <a:xfrm>
            <a:off x="812800" y="6259587"/>
            <a:ext cx="784860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6B6B"/>
                </a:solidFill>
                <a:latin typeface="Inter" pitchFamily="34" charset="0"/>
                <a:ea typeface="Inter" pitchFamily="34" charset="-122"/>
                <a:cs typeface="Inter" pitchFamily="34" charset="-120"/>
              </a:rPr>
              <a:t>Proof of concept proposal · Policy CP6.55</a:t>
            </a:r>
            <a:endParaRPr lang="en-US" sz="1200" dirty="0"/>
          </a:p>
        </p:txBody>
      </p:sp>
      <p:sp>
        <p:nvSpPr>
          <p:cNvPr id="24" name="Text 22"/>
          <p:cNvSpPr/>
          <p:nvPr/>
        </p:nvSpPr>
        <p:spPr>
          <a:xfrm>
            <a:off x="10058401" y="6259587"/>
            <a:ext cx="132080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BM Plex Mono" pitchFamily="49" charset="0"/>
                <a:ea typeface="IBM Plex Mono" pitchFamily="49" charset="-122"/>
                <a:cs typeface="IBM Plex Mono" pitchFamily="49" charset="-120"/>
              </a:rPr>
              <a:t>22 / 23</a:t>
            </a:r>
            <a:endParaRPr lang="en-US" sz="1200" dirty="0"/>
          </a:p>
        </p:txBody>
      </p:sp>
      <p:sp>
        <p:nvSpPr>
          <p:cNvPr id="25" name="Text 23"/>
          <p:cNvSpPr/>
          <p:nvPr/>
        </p:nvSpPr>
        <p:spPr>
          <a:xfrm>
            <a:off x="812800" y="1778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1111"/>
                </a:solidFill>
                <a:latin typeface="Inter" pitchFamily="34" charset="0"/>
                <a:ea typeface="Inter" pitchFamily="34" charset="-122"/>
                <a:cs typeface="Inter" pitchFamily="34" charset="-120"/>
              </a:rPr>
              <a:t>Intent Discovery Service</a:t>
            </a:r>
            <a:endParaRPr lang="en-US" sz="1200" dirty="0"/>
          </a:p>
        </p:txBody>
      </p:sp>
      <p:sp>
        <p:nvSpPr>
          <p:cNvPr id="26" name="Text 24"/>
          <p:cNvSpPr/>
          <p:nvPr/>
        </p:nvSpPr>
        <p:spPr>
          <a:xfrm>
            <a:off x="6800850" y="177800"/>
            <a:ext cx="457835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6B6B"/>
                </a:solidFill>
                <a:latin typeface="Inter" pitchFamily="34" charset="0"/>
                <a:ea typeface="Inter" pitchFamily="34" charset="-122"/>
                <a:cs typeface="Inter" pitchFamily="34" charset="-120"/>
              </a:rPr>
              <a:t>GenAI Governance Panel</a:t>
            </a:r>
            <a:endParaRPr lang="en-US" sz="1200" dirty="0"/>
          </a:p>
        </p:txBody>
      </p:sp>
      <p:pic>
        <p:nvPicPr>
          <p:cNvPr id="27" name="Image 0" descr="line">    </p:cNvPr>
          <p:cNvPicPr>
            <a:picLocks noChangeAspect="1"/>
          </p:cNvPicPr>
          <p:nvPr/>
        </p:nvPicPr>
        <p:blipFill>
          <a:blip r:embed="rId1"/>
          <a:srcRect l="-1137" r="-1137" t="0" b="0"/>
          <a:stretch/>
        </p:blipFill>
        <p:spPr>
          <a:xfrm>
            <a:off x="0" y="533400"/>
            <a:ext cx="12192001" cy="3725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1A1A"/>
        </a:solidFill>
      </p:bgPr>
    </p:bg>
    <p:spTree>
      <p:nvGrpSpPr>
        <p:cNvPr id="1" name=""/>
        <p:cNvGrpSpPr/>
        <p:nvPr/>
      </p:nvGrpSpPr>
      <p:grpSpPr>
        <a:xfrm>
          <a:off x="0" y="0"/>
          <a:ext cx="0" cy="0"/>
          <a:chOff x="0" y="0"/>
          <a:chExt cx="0" cy="0"/>
        </a:xfrm>
      </p:grpSpPr>
      <p:sp>
        <p:nvSpPr>
          <p:cNvPr id="2" name="Shape 0"/>
          <p:cNvSpPr/>
          <p:nvPr/>
        </p:nvSpPr>
        <p:spPr>
          <a:xfrm>
            <a:off x="812800" y="896082"/>
            <a:ext cx="304800" cy="25400"/>
          </a:xfrm>
          <a:prstGeom prst="rect">
            <a:avLst/>
          </a:prstGeom>
          <a:solidFill>
            <a:srgbClr val="EB0A1E"/>
          </a:solidFill>
          <a:ln/>
        </p:spPr>
      </p:sp>
      <p:sp>
        <p:nvSpPr>
          <p:cNvPr id="3" name="Text 1"/>
          <p:cNvSpPr/>
          <p:nvPr/>
        </p:nvSpPr>
        <p:spPr>
          <a:xfrm>
            <a:off x="1219200" y="812800"/>
            <a:ext cx="911384"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F5A67"/>
                </a:solidFill>
                <a:latin typeface="Inter" pitchFamily="34" charset="0"/>
                <a:ea typeface="Inter" pitchFamily="34" charset="-122"/>
                <a:cs typeface="Inter" pitchFamily="34" charset="-120"/>
              </a:rPr>
              <a:t>DECISION</a:t>
            </a:r>
            <a:endParaRPr lang="en-US" sz="1200" dirty="0"/>
          </a:p>
        </p:txBody>
      </p:sp>
      <p:sp>
        <p:nvSpPr>
          <p:cNvPr id="4" name="Text 2"/>
          <p:cNvSpPr/>
          <p:nvPr>
            <p:ph type="title"/>
          </p:nvPr>
        </p:nvSpPr>
        <p:spPr>
          <a:xfrm>
            <a:off x="812800" y="1106401"/>
            <a:ext cx="10883393" cy="427725"/>
          </a:xfrm>
          <a:prstGeom prst="rect">
            <a:avLst/>
          </a:prstGeom>
          <a:noFill/>
          <a:ln/>
        </p:spPr>
        <p:txBody>
          <a:bodyPr wrap="square" lIns="0" tIns="0" rIns="0" bIns="0" rtlCol="0" anchor="t">
            <a:normAutofit/>
          </a:bodyPr>
          <a:lstStyle/>
          <a:p>
            <a:pPr algn="l" indent="0" marL="0">
              <a:lnSpc>
                <a:spcPts val="3520"/>
              </a:lnSpc>
              <a:buNone/>
            </a:pPr>
            <a:r>
              <a:rPr lang="en-US" sz="3200" b="1" i="0" spc="-50" kern="0" dirty="0">
                <a:solidFill>
                  <a:srgbClr val="FFFFFF"/>
                </a:solidFill>
                <a:latin typeface="Inter" pitchFamily="34" charset="0"/>
                <a:ea typeface="Inter" pitchFamily="34" charset="-122"/>
                <a:cs typeface="Inter" pitchFamily="34" charset="-120"/>
              </a:rPr>
              <a:t>Decision requested from the Panel</a:t>
            </a:r>
            <a:endParaRPr lang="en-US" sz="3200" dirty="0"/>
          </a:p>
        </p:txBody>
      </p:sp>
      <p:sp>
        <p:nvSpPr>
          <p:cNvPr id="5" name="Shape 3"/>
          <p:cNvSpPr/>
          <p:nvPr/>
        </p:nvSpPr>
        <p:spPr>
          <a:xfrm>
            <a:off x="815975" y="1816708"/>
            <a:ext cx="10560051" cy="1119346"/>
          </a:xfrm>
          <a:prstGeom prst="roundRect">
            <a:avLst>
              <a:gd name="adj" fmla="val 5389"/>
            </a:avLst>
          </a:prstGeom>
          <a:solidFill>
            <a:srgbClr val="2A2A2A"/>
          </a:solidFill>
          <a:ln w="6350">
            <a:solidFill>
              <a:srgbClr val="3D3D3D"/>
            </a:solidFill>
            <a:prstDash val="solid"/>
          </a:ln>
        </p:spPr>
      </p:sp>
      <p:sp>
        <p:nvSpPr>
          <p:cNvPr id="6" name="Text 4"/>
          <p:cNvSpPr/>
          <p:nvPr/>
        </p:nvSpPr>
        <p:spPr>
          <a:xfrm>
            <a:off x="1071880" y="2021805"/>
            <a:ext cx="457200" cy="39116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FF5A67"/>
                </a:solidFill>
                <a:latin typeface="Inter" pitchFamily="34" charset="0"/>
                <a:ea typeface="Inter" pitchFamily="34" charset="-122"/>
                <a:cs typeface="Inter" pitchFamily="34" charset="-120"/>
              </a:rPr>
              <a:t>1</a:t>
            </a:r>
            <a:endParaRPr lang="en-US" sz="3200" dirty="0"/>
          </a:p>
        </p:txBody>
      </p:sp>
      <p:sp>
        <p:nvSpPr>
          <p:cNvPr id="7" name="Text 5"/>
          <p:cNvSpPr/>
          <p:nvPr/>
        </p:nvSpPr>
        <p:spPr>
          <a:xfrm>
            <a:off x="1681480" y="2021805"/>
            <a:ext cx="9721799" cy="29972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FFFFF"/>
                </a:solidFill>
                <a:latin typeface="Inter" pitchFamily="34" charset="0"/>
                <a:ea typeface="Inter" pitchFamily="34" charset="-122"/>
                <a:cs typeface="Inter" pitchFamily="34" charset="-120"/>
              </a:rPr>
              <a:t>Approve the proof of concept</a:t>
            </a:r>
            <a:endParaRPr lang="en-US" sz="2000" dirty="0"/>
          </a:p>
        </p:txBody>
      </p:sp>
      <p:sp>
        <p:nvSpPr>
          <p:cNvPr id="8" name="Text 6"/>
          <p:cNvSpPr/>
          <p:nvPr/>
        </p:nvSpPr>
        <p:spPr>
          <a:xfrm>
            <a:off x="1681480" y="2346933"/>
            <a:ext cx="9721799"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6"/>
                </a:solidFill>
                <a:latin typeface="Inter" pitchFamily="34" charset="0"/>
                <a:ea typeface="Inter" pitchFamily="34" charset="-122"/>
                <a:cs typeface="Inter" pitchFamily="34" charset="-120"/>
              </a:rPr>
              <a:t>Build and evaluate the Intent Discovery Service in the development environment. Approval covers specification only; downstream coding stays under existing approvals.</a:t>
            </a:r>
            <a:endParaRPr lang="en-US" sz="1200" dirty="0"/>
          </a:p>
        </p:txBody>
      </p:sp>
      <p:sp>
        <p:nvSpPr>
          <p:cNvPr id="9" name="Shape 7"/>
          <p:cNvSpPr/>
          <p:nvPr/>
        </p:nvSpPr>
        <p:spPr>
          <a:xfrm>
            <a:off x="815975" y="3094806"/>
            <a:ext cx="10560051" cy="927338"/>
          </a:xfrm>
          <a:prstGeom prst="roundRect">
            <a:avLst>
              <a:gd name="adj" fmla="val 6505"/>
            </a:avLst>
          </a:prstGeom>
          <a:solidFill>
            <a:srgbClr val="2A2A2A"/>
          </a:solidFill>
          <a:ln w="6350">
            <a:solidFill>
              <a:srgbClr val="3D3D3D"/>
            </a:solidFill>
            <a:prstDash val="solid"/>
          </a:ln>
        </p:spPr>
      </p:sp>
      <p:sp>
        <p:nvSpPr>
          <p:cNvPr id="10" name="Text 8"/>
          <p:cNvSpPr/>
          <p:nvPr/>
        </p:nvSpPr>
        <p:spPr>
          <a:xfrm>
            <a:off x="1071880" y="3299904"/>
            <a:ext cx="457200" cy="39116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FF5A67"/>
                </a:solidFill>
                <a:latin typeface="Inter" pitchFamily="34" charset="0"/>
                <a:ea typeface="Inter" pitchFamily="34" charset="-122"/>
                <a:cs typeface="Inter" pitchFamily="34" charset="-120"/>
              </a:rPr>
              <a:t>2</a:t>
            </a:r>
            <a:endParaRPr lang="en-US" sz="3200" dirty="0"/>
          </a:p>
        </p:txBody>
      </p:sp>
      <p:sp>
        <p:nvSpPr>
          <p:cNvPr id="11" name="Text 9"/>
          <p:cNvSpPr/>
          <p:nvPr/>
        </p:nvSpPr>
        <p:spPr>
          <a:xfrm>
            <a:off x="1681480" y="3299904"/>
            <a:ext cx="9721799" cy="29972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FFFFF"/>
                </a:solidFill>
                <a:latin typeface="Inter" pitchFamily="34" charset="0"/>
                <a:ea typeface="Inter" pitchFamily="34" charset="-122"/>
                <a:cs typeface="Inter" pitchFamily="34" charset="-120"/>
              </a:rPr>
              <a:t>Confirm the preliminary Low Risk classification</a:t>
            </a:r>
            <a:endParaRPr lang="en-US" sz="2000" dirty="0"/>
          </a:p>
        </p:txBody>
      </p:sp>
      <p:sp>
        <p:nvSpPr>
          <p:cNvPr id="12" name="Text 10"/>
          <p:cNvSpPr/>
          <p:nvPr/>
        </p:nvSpPr>
        <p:spPr>
          <a:xfrm>
            <a:off x="1681480" y="3625031"/>
            <a:ext cx="9721799"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6"/>
                </a:solidFill>
                <a:latin typeface="Inter" pitchFamily="34" charset="0"/>
                <a:ea typeface="Inter" pitchFamily="34" charset="-122"/>
                <a:cs typeface="Inter" pitchFamily="34" charset="-120"/>
              </a:rPr>
              <a:t>Under Policy CP6.55, conditional on the scope boundaries and controls presented.</a:t>
            </a:r>
            <a:endParaRPr lang="en-US" sz="1200" dirty="0"/>
          </a:p>
        </p:txBody>
      </p:sp>
      <p:sp>
        <p:nvSpPr>
          <p:cNvPr id="13" name="Text 11"/>
          <p:cNvSpPr/>
          <p:nvPr/>
        </p:nvSpPr>
        <p:spPr>
          <a:xfrm>
            <a:off x="812800" y="4330117"/>
            <a:ext cx="3418501"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3A3A3"/>
                </a:solidFill>
                <a:latin typeface="Inter" pitchFamily="34" charset="0"/>
                <a:ea typeface="Inter" pitchFamily="34" charset="-122"/>
                <a:cs typeface="Inter" pitchFamily="34" charset="-120"/>
              </a:rPr>
              <a:t>CONTACTS</a:t>
            </a:r>
            <a:endParaRPr lang="en-US" sz="1200" dirty="0"/>
          </a:p>
        </p:txBody>
      </p:sp>
      <p:sp>
        <p:nvSpPr>
          <p:cNvPr id="14" name="Text 12"/>
          <p:cNvSpPr/>
          <p:nvPr/>
        </p:nvSpPr>
        <p:spPr>
          <a:xfrm>
            <a:off x="812800" y="4572918"/>
            <a:ext cx="3418501"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Ankur Bhakta</a:t>
            </a:r>
            <a:endParaRPr lang="en-US" sz="1200" dirty="0"/>
          </a:p>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ankur.bhakta@toyota.com</a:t>
            </a:r>
            <a:endParaRPr lang="en-US" sz="1200" dirty="0"/>
          </a:p>
        </p:txBody>
      </p:sp>
      <p:sp>
        <p:nvSpPr>
          <p:cNvPr id="15" name="Text 13"/>
          <p:cNvSpPr/>
          <p:nvPr/>
        </p:nvSpPr>
        <p:spPr>
          <a:xfrm>
            <a:off x="812800" y="5007744"/>
            <a:ext cx="3418501" cy="409416"/>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Pavan Kumar Goli</a:t>
            </a:r>
            <a:endParaRPr lang="en-US" sz="1200" dirty="0"/>
          </a:p>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pavankumar.goli@toyota.com</a:t>
            </a:r>
            <a:endParaRPr lang="en-US" sz="1200" dirty="0"/>
          </a:p>
        </p:txBody>
      </p:sp>
      <p:sp>
        <p:nvSpPr>
          <p:cNvPr id="16" name="Text 14"/>
          <p:cNvSpPr/>
          <p:nvPr/>
        </p:nvSpPr>
        <p:spPr>
          <a:xfrm>
            <a:off x="4436533" y="4330117"/>
            <a:ext cx="3418501"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3A3A3"/>
                </a:solidFill>
                <a:latin typeface="Inter" pitchFamily="34" charset="0"/>
                <a:ea typeface="Inter" pitchFamily="34" charset="-122"/>
                <a:cs typeface="Inter" pitchFamily="34" charset="-120"/>
              </a:rPr>
              <a:t>PROPOSED TIMELINE</a:t>
            </a:r>
            <a:endParaRPr lang="en-US" sz="1200" dirty="0"/>
          </a:p>
        </p:txBody>
      </p:sp>
      <p:sp>
        <p:nvSpPr>
          <p:cNvPr id="17" name="Text 15"/>
          <p:cNvSpPr/>
          <p:nvPr/>
        </p:nvSpPr>
        <p:spPr>
          <a:xfrm>
            <a:off x="4436533" y="4572918"/>
            <a:ext cx="3418501" cy="217408"/>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FFFFF"/>
                </a:solidFill>
                <a:latin typeface="Inter" pitchFamily="34" charset="0"/>
                <a:ea typeface="Inter" pitchFamily="34" charset="-122"/>
                <a:cs typeface="Inter" pitchFamily="34" charset="-120"/>
              </a:rPr>
              <a:t>[PoC duration and Panel check-in date]</a:t>
            </a:r>
            <a:endParaRPr lang="en-US" sz="1200" dirty="0"/>
          </a:p>
        </p:txBody>
      </p:sp>
      <p:sp>
        <p:nvSpPr>
          <p:cNvPr id="18" name="Text 16"/>
          <p:cNvSpPr/>
          <p:nvPr/>
        </p:nvSpPr>
        <p:spPr>
          <a:xfrm>
            <a:off x="8060267" y="4330117"/>
            <a:ext cx="3418501" cy="217408"/>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3A3A3"/>
                </a:solidFill>
                <a:latin typeface="Inter" pitchFamily="34" charset="0"/>
                <a:ea typeface="Inter" pitchFamily="34" charset="-122"/>
                <a:cs typeface="Inter" pitchFamily="34" charset="-120"/>
              </a:rPr>
              <a:t>MATERIAL CHANGES</a:t>
            </a:r>
            <a:endParaRPr lang="en-US" sz="1200" dirty="0"/>
          </a:p>
        </p:txBody>
      </p:sp>
      <p:sp>
        <p:nvSpPr>
          <p:cNvPr id="19" name="Text 17"/>
          <p:cNvSpPr/>
          <p:nvPr/>
        </p:nvSpPr>
        <p:spPr>
          <a:xfrm>
            <a:off x="8060267" y="4572918"/>
            <a:ext cx="3418501" cy="601424"/>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D6D6D6"/>
                </a:solidFill>
                <a:latin typeface="Inter" pitchFamily="34" charset="0"/>
                <a:ea typeface="Inter" pitchFamily="34" charset="-122"/>
                <a:cs typeface="Inter" pitchFamily="34" charset="-120"/>
              </a:rPr>
              <a:t>Scope, data, provider or deployment changes are coordinated with the Domain Architect, BISO, DRL and this Panel.</a:t>
            </a:r>
            <a:endParaRPr lang="en-US" sz="1200" dirty="0"/>
          </a:p>
        </p:txBody>
      </p:sp>
      <p:sp>
        <p:nvSpPr>
          <p:cNvPr id="20" name="Text 18"/>
          <p:cNvSpPr/>
          <p:nvPr/>
        </p:nvSpPr>
        <p:spPr>
          <a:xfrm>
            <a:off x="10058401" y="6259587"/>
            <a:ext cx="132080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3A3A3"/>
                </a:solidFill>
                <a:latin typeface="IBM Plex Mono" pitchFamily="49" charset="0"/>
                <a:ea typeface="IBM Plex Mono" pitchFamily="49" charset="-122"/>
                <a:cs typeface="IBM Plex Mono" pitchFamily="49" charset="-120"/>
              </a:rPr>
              <a:t>23 / 23</a:t>
            </a:r>
            <a:endParaRPr lang="en-US" sz="1200" dirty="0"/>
          </a:p>
        </p:txBody>
      </p:sp>
      <p:sp>
        <p:nvSpPr>
          <p:cNvPr id="21" name="Text 19"/>
          <p:cNvSpPr/>
          <p:nvPr/>
        </p:nvSpPr>
        <p:spPr>
          <a:xfrm>
            <a:off x="812800" y="177800"/>
            <a:ext cx="5886450" cy="217408"/>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FFFFF"/>
                </a:solidFill>
                <a:latin typeface="Inter" pitchFamily="34" charset="0"/>
                <a:ea typeface="Inter" pitchFamily="34" charset="-122"/>
                <a:cs typeface="Inter" pitchFamily="34" charset="-120"/>
              </a:rPr>
              <a:t>Intent Discovery Service</a:t>
            </a:r>
            <a:endParaRPr lang="en-US" sz="1200" dirty="0"/>
          </a:p>
        </p:txBody>
      </p:sp>
      <p:sp>
        <p:nvSpPr>
          <p:cNvPr id="22" name="Text 20"/>
          <p:cNvSpPr/>
          <p:nvPr/>
        </p:nvSpPr>
        <p:spPr>
          <a:xfrm>
            <a:off x="6800850" y="177800"/>
            <a:ext cx="4578350" cy="217408"/>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A3A3A3"/>
                </a:solidFill>
                <a:latin typeface="Inter" pitchFamily="34" charset="0"/>
                <a:ea typeface="Inter" pitchFamily="34" charset="-122"/>
                <a:cs typeface="Inter" pitchFamily="34" charset="-120"/>
              </a:rPr>
              <a:t>GenAI Governance Panel</a:t>
            </a:r>
            <a:endParaRPr lang="en-US" sz="1200" dirty="0"/>
          </a:p>
        </p:txBody>
      </p:sp>
      <p:pic>
        <p:nvPicPr>
          <p:cNvPr id="23" name="Image 0" descr="line">    </p:cNvPr>
          <p:cNvPicPr>
            <a:picLocks noChangeAspect="1"/>
          </p:cNvPicPr>
          <p:nvPr/>
        </p:nvPicPr>
        <p:blipFill>
          <a:blip r:embed="rId1"/>
          <a:srcRect l="-1137" r="-1137" t="0" b="0"/>
          <a:stretch/>
        </p:blipFill>
        <p:spPr>
          <a:xfrm>
            <a:off x="0" y="533400"/>
            <a:ext cx="12192001" cy="37253"/>
          </a:xfrm>
          <a:prstGeom prst="rect">
            <a:avLst/>
          </a:prstGeom>
        </p:spPr>
      </p:pic>
    </p:spTree>
  </p:cSld>
  <p:clrMapOvr>
    <a:masterClrMapping/>
  </p:clrMapOvr>
</p:sld>
</file>

<file path=ppt/theme/theme1.xml><?xml version="1.0" encoding="utf-8"?>
<a:theme xmlns:a="http://schemas.openxmlformats.org/drawingml/2006/main" name="Intent Discovery Service — GenAI Council v4">
  <a:themeElements>
    <a:clrScheme name="Intent Discovery Service — GenAI Council v4">
      <a:dk1>
        <a:srgbClr val="1A1A1A"/>
      </a:dk1>
      <a:lt1>
        <a:srgbClr val="FFFFFF"/>
      </a:lt1>
      <a:dk2>
        <a:srgbClr val="535353"/>
      </a:dk2>
      <a:lt2>
        <a:srgbClr val="E8E8E8"/>
      </a:lt2>
      <a:accent1>
        <a:srgbClr val="EB0A1E"/>
      </a:accent1>
      <a:accent2>
        <a:srgbClr val="FF5A67"/>
      </a:accent2>
      <a:accent3>
        <a:srgbClr val="58595B"/>
      </a:accent3>
      <a:accent4>
        <a:srgbClr val="6B6B6B"/>
      </a:accent4>
      <a:accent5>
        <a:srgbClr val="D6D6D6"/>
      </a:accent5>
      <a:accent6>
        <a:srgbClr val="A3A3A3"/>
      </a:accent6>
      <a:hlink>
        <a:srgbClr val="0563C1"/>
      </a:hlink>
      <a:folHlink>
        <a:srgbClr val="954F72"/>
      </a:folHlink>
    </a:clrScheme>
    <a:fontScheme name="Intent Discovery Service — GenAI Council v4">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Intent Discovery Service — GenAI Council v4</dc:title>
  <dc:subject/>
  <dc:creator/>
  <cp:lastModifiedBy/>
  <cp:revision>1</cp:revision>
  <dcterms:created xsi:type="dcterms:W3CDTF">2026-10-02T01:09:15Z</dcterms:created>
  <dcterms:modified xsi:type="dcterms:W3CDTF">2026-10-02T01:09:15Z</dcterms:modified>
</cp:coreProperties>
</file>