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Ankur Bhakta and Pavan Kumar Goli from CX Engineering. This is a new proof-of-concept proposal under Policy CP6.55 for the AI-Powered Intent Discovery Service. In one sentence: an AI-assisted interviewer that helps BSAs and engineers turn ambiguous requirements into validated, human-approved specifications. It does not generate source code, and it would run in the development environment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asking for two decisions: approval to build a development-only proof of concept, and confirmation of the preliminary Low Risk classification under CP6.55. The six tiles are the boundaries that make this low risk: development environment only with no production connection; TMCC-approved Claude models accessed only through AWS Bedrock Runtime, an existing channel with no new vendor contract; internal, non-personal requirement text only; output is specifications and acceptance criteria, never source code; an IR Author and a domain subject-matter expert must approve before anything is finalized; and use is opt-in and internal to CX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patterns were observed repeatedly on the Titles project. Requirements arrive in vague or technology-centric language; terminology is inconsistent so business and engineering never establish a shared Ubiquitous Language; domain ownership, Bounded Context boundaries and the Aggregates that enforce rules are unclear; rules say "usually" or "typically" without spelling out the exceptions; acceptance criteria are weak, which produces weak test coverage; and solutions are built around fragments of a feature. The existing required BSA format has not fixed this, because the underlying issue is that prose requirements are hard to validate, drift over time and leave room for silent assumptions. The cost is conflicting interpretations, integration gaps, rework, interpretation burden on engineers, and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now." As teams adopt AI coding assistants, ambiguity in intent gets turned into convincing, polished code faster than ever, which makes the problem harder to spot, not easier. The cheapest place to intervene is upstream, before engineering begins, by making intent explicit, shared and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is deliberately designed not to generate source code. It uses an LLM as an AI-augmented BSA interviewer that asks one closed question at a time until a requirement is decidable. It uses Event Storming and Domain-Driven Design to establish a Ubiquitous Language, identify Bounded Contexts and their relationships through Context Mapping, and define the Aggregates, invariants, decisions and process boundaries that express business intent. After a human confirms the interrogation results, a staged, schema-validated pipeline produces an Event Storming model, a DDD domain model and a machine-checkable Intent Registry. GenAI drafts these and performs a separate Red Team challenge; deterministic code validates structure and references and generates diagrams and the handoff pack. No artifact can be finalized or published without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is recommended because the task needs contextual reasoning over ambiguous business language, adaptive follow-up questions, reconciliation of conflicting terminology, and synthesis into structured domain models. We considered four alternatives. Templates enforce format but cannot adapt. Linters validate structure but not meaning. Manual peer review stays essential for approval, and it stays in this design, but on its own it has not surfaced gaps early and does not scale. Keyword analysis finds terms but cannot interrogate or synthesize. Deterministic, non-generative methods remain in the design wherever they are sufficient: all validation gates are non-AI.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fall into three groups. First, catching gaps early: missing or ambiguous requirements surface before engineering starts, and vague acceptance criteria become explicit, testable states, triggers and rules. Second, one shared model of intent: a Ubiquitous Language across business, architecture and engineering, explicit Bounded Context ownership and Context Map relationships before integration decisions, and clear Aggregates for each rule and invariant. Third, verifiable specifications: decision-table coverage is checked deterministically across every defined input combination, which is impractical to do reliably by hand; every rule names its enforcement point and test; corrections and question feedback carry across sessions; and the output is a durable, versionable spec and a structured handoff that makes downstream implementation reviewable.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are all internal to CX Engineering and its partners in requirements work: roughly 15 to 25 engineers and tech leads who build against the specs; 5 to 10 Business Systems Analysts who author requirements; IR Authors, drawn from the BSA group, who approve specifications; 2 to 4 domain architects or SMEs who attest to business correctness; and 3 to 5 engineering managers or tech leads who review specs and prioritize. The trade-off is that users must engage with a more structured, question-driven process than free-form prose, and must review AI-proposed models before approval. That is why the PoC stays opt-in, internal and development-only.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BSA or engineer creates a session for a feature, for example Account Closure. The AI walks a fixed 12-rung ladder, one question at a time: ownership, scope and boundaries, process and timing, business rules, error scenarios, recorded decisions, decision tables, recovery and fallback, reporting and visibility, regulatory, risk tier, and non-goals. Each question is closed: the AI proposes its own answer with consequences. The user can answer (confirm or refine), defer, contest (reject and supply the correct answer, which creates an answer-correction record), or flag the question itself, for example "wrong premise" or "too technical", which is captured as a cross-session learning. As the conversation progresses the tool drafts the spec sections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tinted rows are the human decision points. A person opens the session, responds to every AI proposal, confirms the draft before modeling starts, and, with a domain SME, attests to the finished model. The AI interrogates, drafts, models and challenges; deterministic code validates each modeling stage and generates the diagrams and handoff pack from the approved models only. Red Team blocking findings must be resolved or recorded as explicitly approved gaps; advisory findings stay visible. Finalized artifacts are written as versionable Markdown and YAML under specs/feature-slug.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user confirms the draft, the pipeline runs three LLM-drafted stages. The Event Storming model captures actors, commands, domain events, aggregates, policies, read models, external systems and hotspots. The DDD domain model defines the Ubiquitous Language, subdomains, Bounded Contexts, Context Map relationships, Aggregates with invariants, policies and process managers, reusing existing organizational contexts where appropriate. The Intent Registry is the gate artifact: aggregate states and transitions, invariants with a named enforcement point, decision tables, process flows with timeouts, required test evidence per rule, and bounded gaps and non-goals. The user triggers each stage explicitly and sees its status, errors and repair history. Every stage must pass predefined, non-AI checks before the next can run. Be clear with the Panel: these checks establish structure, traceability and decision-table coverage. They do not prove business correctness; that requires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left to right. A BSA or engineer works in a React and TypeScript interface. Inputs are limited to internal, non-personal requirement text and approved OKF glossary and context material. Inside the development-only boundary, a Node.js and Express service would run the 12-rung interrogation agent, the ladder state machine and the Intent Registry manager, with file-based storage for sessions, learnings and specs. There is no database or vector store. The ESML, DMML and Intent Registry stages are drafted by the LLM, and each must pass a deterministic, non-AI gate before the next stage runs: schema validation, cross-reference checks and the decision-table completeness checker, with a bounded number of repair attempts and any unresolved failure returned to a human. A separate Red Team pass then raises advisory or blocking findings, and the IR Author and a domain SME must both approve. Only then does deterministic code generate the diagrams and handoff pack into specs/feature-slug as versioned Markdown and YAML. All LLM calls go through AWS Bedrock Runtime using TMCC-approved Claude models; a mock provider is used only for automated tests and offline evaluation. The red band lists what is out of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component has a hard limit. The interrogation agent is read-only with respect to finalized specifications: it asks and proposes but cannot approve, finalize or publish. The modeling pipeline drafts intermediate models that remain AI-generated proposals until humans approve them, and a stage that fails deterministic checks cannot be finalized. The Red Team agent raises advisory or blocking flags, never automatic edits. On the human side: users can always contest and correct AI answers, and those corrections are retained so the same mistake is less likely to recur; the IR Author and a domain SME approve business correctness, not just structural validity; blocking findings must be resolved or converted into a documented gap they both approve; and an offline evaluation harness makes quality regressions measurable, with the PoC owners reviewing results before any prompt or model change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finalization the tool writes the validated models, the deterministic diagrams, the Red Team findings, and an implementation handoff pack. AGENTS.md captures the ubiquitous language, bounded-context boundaries, business rules and their enforcement points, failure vocabulary and explicit non-goals. tasks.md is an ordered task breakdown. acceptance-criteria.md maps every rule to the test evidence required to prove it. eval-rubric.md explains how to judge an implementation against the specification. These are specifications, instructions and acceptance criteria, not code. The tool contains no code generator, implementation templates or scaffolding. Implementation happens separately, by engineers or a general-purpose coding assistant that consumes the approved pack. Diagrams and the pack are generated deterministically from approved models and introduce no model content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would only touch descriptions of what software should do. Inputs are feature requirement text typed or dictated by the user, business rules and decision logic, and glossary and architecture references from the internal OKF knowledge base; outputs are internal work product. The PoC would not be designed or approved to process Personal Data, customer records, production data, account numbers, SSNs, or credit or financial data, and users would be instructed not to enter them. Before use, internal reference content would be reviewed for embedded customer examples or restricted data and redacted or excluded where necessary. LLM calls go only through AWS Bedrock within the approved cloud boundary, and session transcripts, learnings and generated artifacts remain in the development environment. No vector database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 each Policy 6.55 requirement. Bias and discrimination: the tool produces technical specifications only, with no decisions affecting individuals. Privacy: Personal Data, customer records and production data are prohibited; users receive data-entry guidance and internal references are reviewed and redacted or excluded before use. Confidentiality: LLM calls go only through TMCC-approved AWS Bedrock, never public GenAI endpoints; session data, learnings and artifacts stay in the development environment. Intellectual property: output derives from internal requirements only. Misinformation: AI answers and models are labeled as proposals, deterministic checks reject structural inconsistencies, Red Team findings stay visible, and both the IR Author and a domain SME must approve business correctness. Independent validation: non-AI gates check schema conformance, cross-reference integrity, decision-table coverage and verification mapping; humans separately approve correctness; an offline harness regression-tests prompt and model changes. Disclosure: AI involvement is explicit in the chat turns, Red Team panel and learnings page. Procurement: Bedrock is an existing approved channel, so no new vendor contract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preliminary assessment is Low Risk, subject to the Panel's confirmation. That assessment depends on the PoC remaining an internal, development-only productivity tool with no Personal Data, no customer or production data, no autonomous business decisions, no production integration and no source-code generation. It also depends on the controls being implemented as described: deterministic validation, retained review records, and mandatory approval by both the IR Author and a domain SME. Limitations to state openly: no user authentication is planned because this is a single-team internal tool, no CI/CD integration initially, and automated gates establish structural consistency and defined coverage, not semantic completeness or business correctness. Red Team review supplements, and does not replace, independent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measures we would use to judge the PoC, grouped three ways. Specification quality: how many intents are fully specified, how many decision tables are proven complete, and how many acceptance criteria map to executable verification evidence. Delivery: how many edge cases and missing requirements the interrogation surfaces that were not in the original intake, the reduction in back-and-forth between BSAs and engineering, and time from intake to a decidable spec compared with today's manual process. AI output quality: how often ESML, DMML and IR artifacts pass validation first time without the repair loop, and the offline evaluation harness's counts of invented, omitted and misclassified elements per prompt version. Targets and baselines are not yet set; we can agree them with the Panel as a condition of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is split three ways. The Use Case Owners, Ankur Bhakta and Pavan Kumar Goli, are responsible for PoC delivery, operation, access and data-handling guidance, model configuration, evaluation reviews, audit records, user onboarding and compliance reporting. The IR Author owns specification review and approval. A designated domain SME independently attests that the Ubiquitous Language, Bounded Contexts, Context Map, Aggregates, business rules, decisions and non-goals reflect the intended business outcome. The owners coordinate with the Domain Architect, BISO, DRL and this Panel on any material change to scope, data, provider or deployment, and changes to the interrogation ladder, prompts, schemas, validation rules or evaluation criteria are versioned and reviewed by the owners and the Domain Architect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are asking the Panel for two decisions: approval to build and evaluate the Intent Discovery Service as a development-only proof of concept, and confirmation of the preliminary Low Risk classification under CP6.55, conditional on the boundaries and controls we have presented. Any material change to scope, data, provider or deployment would be coordinated with the Domain Architect, BISO, DRL and this Panel before it happens.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pic>
        <p:nvPicPr>
          <p:cNvPr id="2" name="Image 0" descr="Twelve ascending ladder rungs representing the interrogation ladder">    </p:cNvPr>
          <p:cNvPicPr>
            <a:picLocks noChangeAspect="1"/>
          </p:cNvPicPr>
          <p:nvPr/>
        </p:nvPicPr>
        <p:blipFill>
          <a:blip r:embed="rId1"/>
          <a:srcRect l="0" r="0" t="0" b="0"/>
          <a:stretch/>
        </p:blipFill>
        <p:spPr>
          <a:xfrm>
            <a:off x="9093200" y="1270000"/>
            <a:ext cx="2286000" cy="3556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TFS GENAI GOVERNANCE PANEL · PROOF OF CONCEPT PROPOSAL</a:t>
            </a:r>
            <a:endParaRPr lang="en-US" sz="1200" dirty="0"/>
          </a:p>
        </p:txBody>
      </p:sp>
      <p:sp>
        <p:nvSpPr>
          <p:cNvPr id="4" name="Text 1"/>
          <p:cNvSpPr/>
          <p:nvPr/>
        </p:nvSpPr>
        <p:spPr>
          <a:xfrm>
            <a:off x="812800" y="2134235"/>
            <a:ext cx="7848600" cy="15189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6F4EF"/>
                </a:solidFill>
                <a:latin typeface="Source Serif 4" pitchFamily="34" charset="0"/>
                <a:ea typeface="Source Serif 4" pitchFamily="34" charset="-122"/>
                <a:cs typeface="Source Serif 4" pitchFamily="34" charset="-120"/>
              </a:rPr>
              <a:t>AI-Powered Intent Discovery Service</a:t>
            </a:r>
            <a:endParaRPr lang="en-US" sz="5600" dirty="0"/>
          </a:p>
        </p:txBody>
      </p:sp>
      <p:sp>
        <p:nvSpPr>
          <p:cNvPr id="5" name="Text 2"/>
          <p:cNvSpPr/>
          <p:nvPr/>
        </p:nvSpPr>
        <p:spPr>
          <a:xfrm>
            <a:off x="812800" y="3830955"/>
            <a:ext cx="78486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E0"/>
                </a:solidFill>
                <a:latin typeface="IBM Plex Sans" pitchFamily="34" charset="0"/>
                <a:ea typeface="IBM Plex Sans" pitchFamily="34" charset="-122"/>
                <a:cs typeface="IBM Plex Sans" pitchFamily="34" charset="-120"/>
              </a:rPr>
              <a:t>for CX Requirements Engineering</a:t>
            </a:r>
            <a:endParaRPr lang="en-US" sz="2000" dirty="0"/>
          </a:p>
        </p:txBody>
      </p:sp>
      <p:sp>
        <p:nvSpPr>
          <p:cNvPr id="6" name="Text 3"/>
          <p:cNvSpPr/>
          <p:nvPr/>
        </p:nvSpPr>
        <p:spPr>
          <a:xfrm>
            <a:off x="812800" y="5269230"/>
            <a:ext cx="289891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SUBMITTED BY</a:t>
            </a:r>
            <a:endParaRPr lang="en-US" sz="1200" dirty="0"/>
          </a:p>
        </p:txBody>
      </p:sp>
      <p:sp>
        <p:nvSpPr>
          <p:cNvPr id="7" name="Text 4"/>
          <p:cNvSpPr/>
          <p:nvPr/>
        </p:nvSpPr>
        <p:spPr>
          <a:xfrm>
            <a:off x="812800" y="5533390"/>
            <a:ext cx="289891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Ankur Bhakta · Pavan Kumar Goli</a:t>
            </a:r>
            <a:endParaRPr lang="en-US" sz="1500" dirty="0"/>
          </a:p>
        </p:txBody>
      </p:sp>
      <p:sp>
        <p:nvSpPr>
          <p:cNvPr id="8" name="Text 5"/>
          <p:cNvSpPr/>
          <p:nvPr/>
        </p:nvSpPr>
        <p:spPr>
          <a:xfrm>
            <a:off x="812800" y="5831840"/>
            <a:ext cx="2898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CX Engineering</a:t>
            </a:r>
            <a:endParaRPr lang="en-US" sz="1200" dirty="0"/>
          </a:p>
        </p:txBody>
      </p:sp>
      <p:sp>
        <p:nvSpPr>
          <p:cNvPr id="9" name="Text 6"/>
          <p:cNvSpPr/>
          <p:nvPr/>
        </p:nvSpPr>
        <p:spPr>
          <a:xfrm>
            <a:off x="4084479" y="5269230"/>
            <a:ext cx="247427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POLICY REFERENCE</a:t>
            </a:r>
            <a:endParaRPr lang="en-US" sz="1200" dirty="0"/>
          </a:p>
        </p:txBody>
      </p:sp>
      <p:sp>
        <p:nvSpPr>
          <p:cNvPr id="10" name="Text 7"/>
          <p:cNvSpPr/>
          <p:nvPr/>
        </p:nvSpPr>
        <p:spPr>
          <a:xfrm>
            <a:off x="4084479" y="5533390"/>
            <a:ext cx="247427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CP6.55 Generative AI Policy</a:t>
            </a:r>
            <a:endParaRPr lang="en-US" sz="1500" dirty="0"/>
          </a:p>
        </p:txBody>
      </p:sp>
      <p:sp>
        <p:nvSpPr>
          <p:cNvPr id="11" name="Text 8"/>
          <p:cNvSpPr/>
          <p:nvPr/>
        </p:nvSpPr>
        <p:spPr>
          <a:xfrm>
            <a:off x="6943884" y="5269230"/>
            <a:ext cx="187998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REQUEST TYPE</a:t>
            </a:r>
            <a:endParaRPr lang="en-US" sz="1200" dirty="0"/>
          </a:p>
        </p:txBody>
      </p:sp>
      <p:sp>
        <p:nvSpPr>
          <p:cNvPr id="12" name="Text 9"/>
          <p:cNvSpPr/>
          <p:nvPr/>
        </p:nvSpPr>
        <p:spPr>
          <a:xfrm>
            <a:off x="6943884" y="5533390"/>
            <a:ext cx="187998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New proof of concept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SUMMARY</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What we are asking the Panel to approve</a:t>
            </a:r>
            <a:endParaRPr lang="en-US" sz="3200" dirty="0"/>
          </a:p>
        </p:txBody>
      </p:sp>
      <p:sp>
        <p:nvSpPr>
          <p:cNvPr id="4" name="Shape 2"/>
          <p:cNvSpPr/>
          <p:nvPr/>
        </p:nvSpPr>
        <p:spPr>
          <a:xfrm>
            <a:off x="812800" y="1879600"/>
            <a:ext cx="10566400" cy="1117600"/>
          </a:xfrm>
          <a:prstGeom prst="roundRect">
            <a:avLst>
              <a:gd name="adj" fmla="val 9091"/>
            </a:avLst>
          </a:prstGeom>
          <a:solidFill>
            <a:srgbClr val="13233A"/>
          </a:solidFill>
          <a:ln/>
        </p:spPr>
      </p:sp>
      <p:sp>
        <p:nvSpPr>
          <p:cNvPr id="5" name="Text 3"/>
          <p:cNvSpPr/>
          <p:nvPr/>
        </p:nvSpPr>
        <p:spPr>
          <a:xfrm>
            <a:off x="1117600" y="2133600"/>
            <a:ext cx="209296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Decision requested</a:t>
            </a:r>
            <a:endParaRPr lang="en-US" sz="2000" dirty="0"/>
          </a:p>
        </p:txBody>
      </p:sp>
      <p:sp>
        <p:nvSpPr>
          <p:cNvPr id="6" name="Text 4"/>
          <p:cNvSpPr/>
          <p:nvPr/>
        </p:nvSpPr>
        <p:spPr>
          <a:xfrm>
            <a:off x="3454400" y="2190750"/>
            <a:ext cx="168275"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A48F"/>
                </a:solidFill>
                <a:latin typeface="Source Serif 4" pitchFamily="34" charset="0"/>
                <a:ea typeface="Source Serif 4" pitchFamily="34" charset="-122"/>
                <a:cs typeface="Source Serif 4" pitchFamily="34" charset="-120"/>
              </a:rPr>
              <a:t>1</a:t>
            </a:r>
            <a:endParaRPr lang="en-US" sz="2000" dirty="0"/>
          </a:p>
        </p:txBody>
      </p:sp>
      <p:sp>
        <p:nvSpPr>
          <p:cNvPr id="7" name="Text 5"/>
          <p:cNvSpPr/>
          <p:nvPr/>
        </p:nvSpPr>
        <p:spPr>
          <a:xfrm>
            <a:off x="3698875" y="2190750"/>
            <a:ext cx="351551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Approve a development-only proof of concept</a:t>
            </a:r>
            <a:endParaRPr lang="en-US" sz="1500" dirty="0"/>
          </a:p>
        </p:txBody>
      </p:sp>
      <p:sp>
        <p:nvSpPr>
          <p:cNvPr id="8" name="Text 6"/>
          <p:cNvSpPr/>
          <p:nvPr/>
        </p:nvSpPr>
        <p:spPr>
          <a:xfrm>
            <a:off x="7416800" y="2190750"/>
            <a:ext cx="166132"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A48F"/>
                </a:solidFill>
                <a:latin typeface="Source Serif 4" pitchFamily="34" charset="0"/>
                <a:ea typeface="Source Serif 4" pitchFamily="34" charset="-122"/>
                <a:cs typeface="Source Serif 4" pitchFamily="34" charset="-120"/>
              </a:rPr>
              <a:t>2</a:t>
            </a:r>
            <a:endParaRPr lang="en-US" sz="2000" dirty="0"/>
          </a:p>
        </p:txBody>
      </p:sp>
      <p:sp>
        <p:nvSpPr>
          <p:cNvPr id="9" name="Text 7"/>
          <p:cNvSpPr/>
          <p:nvPr/>
        </p:nvSpPr>
        <p:spPr>
          <a:xfrm>
            <a:off x="7659132" y="2190750"/>
            <a:ext cx="351772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Confirm the preliminary Low Risk classification</a:t>
            </a:r>
            <a:endParaRPr lang="en-US" sz="1500" dirty="0"/>
          </a:p>
        </p:txBody>
      </p:sp>
      <p:sp>
        <p:nvSpPr>
          <p:cNvPr id="10" name="Shape 8"/>
          <p:cNvSpPr/>
          <p:nvPr/>
        </p:nvSpPr>
        <p:spPr>
          <a:xfrm>
            <a:off x="815975" y="3203575"/>
            <a:ext cx="3414157" cy="1131570"/>
          </a:xfrm>
          <a:prstGeom prst="roundRect">
            <a:avLst>
              <a:gd name="adj" fmla="val 6453"/>
            </a:avLst>
          </a:prstGeom>
          <a:solidFill>
            <a:srgbClr val="FDFCF9"/>
          </a:solidFill>
          <a:ln w="6350">
            <a:solidFill>
              <a:srgbClr val="DDD7CB"/>
            </a:solidFill>
            <a:prstDash val="solid"/>
          </a:ln>
        </p:spPr>
      </p:sp>
      <p:sp>
        <p:nvSpPr>
          <p:cNvPr id="11" name="Text 9"/>
          <p:cNvSpPr/>
          <p:nvPr/>
        </p:nvSpPr>
        <p:spPr>
          <a:xfrm>
            <a:off x="1021080"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ENVIRONMENT</a:t>
            </a:r>
            <a:endParaRPr lang="en-US" sz="1200" dirty="0"/>
          </a:p>
        </p:txBody>
      </p:sp>
      <p:sp>
        <p:nvSpPr>
          <p:cNvPr id="12" name="Text 10"/>
          <p:cNvSpPr/>
          <p:nvPr/>
        </p:nvSpPr>
        <p:spPr>
          <a:xfrm>
            <a:off x="1021080"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Development only; no production connection</a:t>
            </a:r>
            <a:endParaRPr lang="en-US" sz="1500" dirty="0"/>
          </a:p>
        </p:txBody>
      </p:sp>
      <p:sp>
        <p:nvSpPr>
          <p:cNvPr id="13" name="Shape 11"/>
          <p:cNvSpPr/>
          <p:nvPr/>
        </p:nvSpPr>
        <p:spPr>
          <a:xfrm>
            <a:off x="4388882" y="3203575"/>
            <a:ext cx="3414157" cy="1131570"/>
          </a:xfrm>
          <a:prstGeom prst="roundRect">
            <a:avLst>
              <a:gd name="adj" fmla="val 6453"/>
            </a:avLst>
          </a:prstGeom>
          <a:solidFill>
            <a:srgbClr val="FDFCF9"/>
          </a:solidFill>
          <a:ln w="6350">
            <a:solidFill>
              <a:srgbClr val="DDD7CB"/>
            </a:solidFill>
            <a:prstDash val="solid"/>
          </a:ln>
        </p:spPr>
      </p:sp>
      <p:sp>
        <p:nvSpPr>
          <p:cNvPr id="14" name="Text 12"/>
          <p:cNvSpPr/>
          <p:nvPr/>
        </p:nvSpPr>
        <p:spPr>
          <a:xfrm>
            <a:off x="4593987"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MODEL ACCESS</a:t>
            </a:r>
            <a:endParaRPr lang="en-US" sz="1200" dirty="0"/>
          </a:p>
        </p:txBody>
      </p:sp>
      <p:sp>
        <p:nvSpPr>
          <p:cNvPr id="15" name="Text 13"/>
          <p:cNvSpPr/>
          <p:nvPr/>
        </p:nvSpPr>
        <p:spPr>
          <a:xfrm>
            <a:off x="4593987"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Claude models via AWS Bedrock only</a:t>
            </a:r>
            <a:endParaRPr lang="en-US" sz="1500" dirty="0"/>
          </a:p>
        </p:txBody>
      </p:sp>
      <p:sp>
        <p:nvSpPr>
          <p:cNvPr id="16" name="Shape 14"/>
          <p:cNvSpPr/>
          <p:nvPr/>
        </p:nvSpPr>
        <p:spPr>
          <a:xfrm>
            <a:off x="7961789" y="3203575"/>
            <a:ext cx="3414157" cy="1131570"/>
          </a:xfrm>
          <a:prstGeom prst="roundRect">
            <a:avLst>
              <a:gd name="adj" fmla="val 6453"/>
            </a:avLst>
          </a:prstGeom>
          <a:solidFill>
            <a:srgbClr val="FDFCF9"/>
          </a:solidFill>
          <a:ln w="6350">
            <a:solidFill>
              <a:srgbClr val="DDD7CB"/>
            </a:solidFill>
            <a:prstDash val="solid"/>
          </a:ln>
        </p:spPr>
      </p:sp>
      <p:sp>
        <p:nvSpPr>
          <p:cNvPr id="17" name="Text 15"/>
          <p:cNvSpPr/>
          <p:nvPr/>
        </p:nvSpPr>
        <p:spPr>
          <a:xfrm>
            <a:off x="8166894"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DATA</a:t>
            </a:r>
            <a:endParaRPr lang="en-US" sz="1200" dirty="0"/>
          </a:p>
        </p:txBody>
      </p:sp>
      <p:sp>
        <p:nvSpPr>
          <p:cNvPr id="18" name="Text 16"/>
          <p:cNvSpPr/>
          <p:nvPr/>
        </p:nvSpPr>
        <p:spPr>
          <a:xfrm>
            <a:off x="8166894"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Internal, non-personal requirement text</a:t>
            </a:r>
            <a:endParaRPr lang="en-US" sz="1500" dirty="0"/>
          </a:p>
        </p:txBody>
      </p:sp>
      <p:sp>
        <p:nvSpPr>
          <p:cNvPr id="19" name="Shape 17"/>
          <p:cNvSpPr/>
          <p:nvPr/>
        </p:nvSpPr>
        <p:spPr>
          <a:xfrm>
            <a:off x="815975" y="4493895"/>
            <a:ext cx="3414157" cy="1131570"/>
          </a:xfrm>
          <a:prstGeom prst="roundRect">
            <a:avLst>
              <a:gd name="adj" fmla="val 6453"/>
            </a:avLst>
          </a:prstGeom>
          <a:solidFill>
            <a:srgbClr val="FDFCF9"/>
          </a:solidFill>
          <a:ln w="6350">
            <a:solidFill>
              <a:srgbClr val="DDD7CB"/>
            </a:solidFill>
            <a:prstDash val="solid"/>
          </a:ln>
        </p:spPr>
      </p:sp>
      <p:sp>
        <p:nvSpPr>
          <p:cNvPr id="20" name="Text 18"/>
          <p:cNvSpPr/>
          <p:nvPr/>
        </p:nvSpPr>
        <p:spPr>
          <a:xfrm>
            <a:off x="1021080"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OUTPUT</a:t>
            </a:r>
            <a:endParaRPr lang="en-US" sz="1200" dirty="0"/>
          </a:p>
        </p:txBody>
      </p:sp>
      <p:sp>
        <p:nvSpPr>
          <p:cNvPr id="21" name="Text 19"/>
          <p:cNvSpPr/>
          <p:nvPr/>
        </p:nvSpPr>
        <p:spPr>
          <a:xfrm>
            <a:off x="1021080" y="4950460"/>
            <a:ext cx="309406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Specifications only; no source code</a:t>
            </a:r>
            <a:endParaRPr lang="en-US" sz="1500" dirty="0"/>
          </a:p>
        </p:txBody>
      </p:sp>
      <p:sp>
        <p:nvSpPr>
          <p:cNvPr id="22" name="Shape 20"/>
          <p:cNvSpPr/>
          <p:nvPr/>
        </p:nvSpPr>
        <p:spPr>
          <a:xfrm>
            <a:off x="4388882" y="4493895"/>
            <a:ext cx="3414157" cy="1131570"/>
          </a:xfrm>
          <a:prstGeom prst="roundRect">
            <a:avLst>
              <a:gd name="adj" fmla="val 6453"/>
            </a:avLst>
          </a:prstGeom>
          <a:solidFill>
            <a:srgbClr val="FDFCF9"/>
          </a:solidFill>
          <a:ln w="6350">
            <a:solidFill>
              <a:srgbClr val="DDD7CB"/>
            </a:solidFill>
            <a:prstDash val="solid"/>
          </a:ln>
        </p:spPr>
      </p:sp>
      <p:sp>
        <p:nvSpPr>
          <p:cNvPr id="23" name="Text 21"/>
          <p:cNvSpPr/>
          <p:nvPr/>
        </p:nvSpPr>
        <p:spPr>
          <a:xfrm>
            <a:off x="4593987"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APPROVAL</a:t>
            </a:r>
            <a:endParaRPr lang="en-US" sz="1200" dirty="0"/>
          </a:p>
        </p:txBody>
      </p:sp>
      <p:sp>
        <p:nvSpPr>
          <p:cNvPr id="24" name="Text 22"/>
          <p:cNvSpPr/>
          <p:nvPr/>
        </p:nvSpPr>
        <p:spPr>
          <a:xfrm>
            <a:off x="4593987" y="495046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IR Author and domain SME approve before finalization</a:t>
            </a:r>
            <a:endParaRPr lang="en-US" sz="1500" dirty="0"/>
          </a:p>
        </p:txBody>
      </p:sp>
      <p:sp>
        <p:nvSpPr>
          <p:cNvPr id="25" name="Shape 23"/>
          <p:cNvSpPr/>
          <p:nvPr/>
        </p:nvSpPr>
        <p:spPr>
          <a:xfrm>
            <a:off x="7961789" y="4493895"/>
            <a:ext cx="3414157" cy="1131570"/>
          </a:xfrm>
          <a:prstGeom prst="roundRect">
            <a:avLst>
              <a:gd name="adj" fmla="val 6453"/>
            </a:avLst>
          </a:prstGeom>
          <a:solidFill>
            <a:srgbClr val="FDFCF9"/>
          </a:solidFill>
          <a:ln w="6350">
            <a:solidFill>
              <a:srgbClr val="DDD7CB"/>
            </a:solidFill>
            <a:prstDash val="solid"/>
          </a:ln>
        </p:spPr>
      </p:sp>
      <p:sp>
        <p:nvSpPr>
          <p:cNvPr id="26" name="Text 24"/>
          <p:cNvSpPr/>
          <p:nvPr/>
        </p:nvSpPr>
        <p:spPr>
          <a:xfrm>
            <a:off x="8166894"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USERS</a:t>
            </a:r>
            <a:endParaRPr lang="en-US" sz="1200" dirty="0"/>
          </a:p>
        </p:txBody>
      </p:sp>
      <p:sp>
        <p:nvSpPr>
          <p:cNvPr id="27" name="Text 25"/>
          <p:cNvSpPr/>
          <p:nvPr/>
        </p:nvSpPr>
        <p:spPr>
          <a:xfrm>
            <a:off x="8166894" y="4950460"/>
            <a:ext cx="309406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Opt-in, internal to CX Engineering</a:t>
            </a:r>
            <a:endParaRPr lang="en-US" sz="1500" dirty="0"/>
          </a:p>
        </p:txBody>
      </p:sp>
      <p:sp>
        <p:nvSpPr>
          <p:cNvPr id="28" name="Text 26"/>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9" name="Text 27"/>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02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PROBLEM · OBSERVED ON THE TITLES PROJECT</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Requirements reach engineering ambiguous</a:t>
            </a:r>
            <a:endParaRPr lang="en-US" sz="3200" dirty="0"/>
          </a:p>
        </p:txBody>
      </p:sp>
      <p:sp>
        <p:nvSpPr>
          <p:cNvPr id="4" name="Shape 2"/>
          <p:cNvSpPr/>
          <p:nvPr/>
        </p:nvSpPr>
        <p:spPr>
          <a:xfrm>
            <a:off x="815975" y="1882775"/>
            <a:ext cx="3414157" cy="1160780"/>
          </a:xfrm>
          <a:prstGeom prst="roundRect">
            <a:avLst>
              <a:gd name="adj" fmla="val 6291"/>
            </a:avLst>
          </a:prstGeom>
          <a:solidFill>
            <a:srgbClr val="FDFCF9"/>
          </a:solidFill>
          <a:ln w="6350">
            <a:solidFill>
              <a:srgbClr val="DDD7CB"/>
            </a:solidFill>
            <a:prstDash val="solid"/>
          </a:ln>
        </p:spPr>
      </p:sp>
      <p:sp>
        <p:nvSpPr>
          <p:cNvPr id="5" name="Text 3"/>
          <p:cNvSpPr/>
          <p:nvPr/>
        </p:nvSpPr>
        <p:spPr>
          <a:xfrm>
            <a:off x="1021080"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Vague language</a:t>
            </a:r>
            <a:endParaRPr lang="en-US" sz="1500" dirty="0"/>
          </a:p>
        </p:txBody>
      </p:sp>
      <p:sp>
        <p:nvSpPr>
          <p:cNvPr id="6" name="Text 4"/>
          <p:cNvSpPr/>
          <p:nvPr/>
        </p:nvSpPr>
        <p:spPr>
          <a:xfrm>
            <a:off x="1021080"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Written in technology-centric terms rather than clear business outcomes.</a:t>
            </a:r>
            <a:endParaRPr lang="en-US" sz="1200" dirty="0"/>
          </a:p>
        </p:txBody>
      </p:sp>
      <p:sp>
        <p:nvSpPr>
          <p:cNvPr id="7" name="Shape 5"/>
          <p:cNvSpPr/>
          <p:nvPr/>
        </p:nvSpPr>
        <p:spPr>
          <a:xfrm>
            <a:off x="4388882" y="1882775"/>
            <a:ext cx="3414157" cy="1160780"/>
          </a:xfrm>
          <a:prstGeom prst="roundRect">
            <a:avLst>
              <a:gd name="adj" fmla="val 6291"/>
            </a:avLst>
          </a:prstGeom>
          <a:solidFill>
            <a:srgbClr val="FDFCF9"/>
          </a:solidFill>
          <a:ln w="6350">
            <a:solidFill>
              <a:srgbClr val="DDD7CB"/>
            </a:solidFill>
            <a:prstDash val="solid"/>
          </a:ln>
        </p:spPr>
      </p:sp>
      <p:sp>
        <p:nvSpPr>
          <p:cNvPr id="8" name="Text 6"/>
          <p:cNvSpPr/>
          <p:nvPr/>
        </p:nvSpPr>
        <p:spPr>
          <a:xfrm>
            <a:off x="4593987"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Inconsistent terminology</a:t>
            </a:r>
            <a:endParaRPr lang="en-US" sz="1500" dirty="0"/>
          </a:p>
        </p:txBody>
      </p:sp>
      <p:sp>
        <p:nvSpPr>
          <p:cNvPr id="9" name="Text 7"/>
          <p:cNvSpPr/>
          <p:nvPr/>
        </p:nvSpPr>
        <p:spPr>
          <a:xfrm>
            <a:off x="4593987"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No shared Ubiquitous Language between business and engineering teams.</a:t>
            </a:r>
            <a:endParaRPr lang="en-US" sz="1200" dirty="0"/>
          </a:p>
        </p:txBody>
      </p:sp>
      <p:sp>
        <p:nvSpPr>
          <p:cNvPr id="10" name="Shape 8"/>
          <p:cNvSpPr/>
          <p:nvPr/>
        </p:nvSpPr>
        <p:spPr>
          <a:xfrm>
            <a:off x="7961789" y="1882775"/>
            <a:ext cx="3414157" cy="1160780"/>
          </a:xfrm>
          <a:prstGeom prst="roundRect">
            <a:avLst>
              <a:gd name="adj" fmla="val 6291"/>
            </a:avLst>
          </a:prstGeom>
          <a:solidFill>
            <a:srgbClr val="FDFCF9"/>
          </a:solidFill>
          <a:ln w="6350">
            <a:solidFill>
              <a:srgbClr val="DDD7CB"/>
            </a:solidFill>
            <a:prstDash val="solid"/>
          </a:ln>
        </p:spPr>
      </p:sp>
      <p:sp>
        <p:nvSpPr>
          <p:cNvPr id="11" name="Text 9"/>
          <p:cNvSpPr/>
          <p:nvPr/>
        </p:nvSpPr>
        <p:spPr>
          <a:xfrm>
            <a:off x="8166894"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Unclear ownership</a:t>
            </a:r>
            <a:endParaRPr lang="en-US" sz="1500" dirty="0"/>
          </a:p>
        </p:txBody>
      </p:sp>
      <p:sp>
        <p:nvSpPr>
          <p:cNvPr id="12" name="Text 10"/>
          <p:cNvSpPr/>
          <p:nvPr/>
        </p:nvSpPr>
        <p:spPr>
          <a:xfrm>
            <a:off x="8166894"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Bounded Contexts, their relationships and rule-enforcing Aggregates go undefined.</a:t>
            </a:r>
            <a:endParaRPr lang="en-US" sz="1200" dirty="0"/>
          </a:p>
        </p:txBody>
      </p:sp>
      <p:sp>
        <p:nvSpPr>
          <p:cNvPr id="13" name="Shape 11"/>
          <p:cNvSpPr/>
          <p:nvPr/>
        </p:nvSpPr>
        <p:spPr>
          <a:xfrm>
            <a:off x="815975" y="3202305"/>
            <a:ext cx="3414157" cy="1160780"/>
          </a:xfrm>
          <a:prstGeom prst="roundRect">
            <a:avLst>
              <a:gd name="adj" fmla="val 6291"/>
            </a:avLst>
          </a:prstGeom>
          <a:solidFill>
            <a:srgbClr val="FDFCF9"/>
          </a:solidFill>
          <a:ln w="6350">
            <a:solidFill>
              <a:srgbClr val="DDD7CB"/>
            </a:solidFill>
            <a:prstDash val="solid"/>
          </a:ln>
        </p:spPr>
      </p:sp>
      <p:sp>
        <p:nvSpPr>
          <p:cNvPr id="14" name="Text 12"/>
          <p:cNvSpPr/>
          <p:nvPr/>
        </p:nvSpPr>
        <p:spPr>
          <a:xfrm>
            <a:off x="1021080"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Hidden exceptions</a:t>
            </a:r>
            <a:endParaRPr lang="en-US" sz="1500" dirty="0"/>
          </a:p>
        </p:txBody>
      </p:sp>
      <p:sp>
        <p:nvSpPr>
          <p:cNvPr id="15" name="Text 13"/>
          <p:cNvSpPr/>
          <p:nvPr/>
        </p:nvSpPr>
        <p:spPr>
          <a:xfrm>
            <a:off x="1021080"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Rules stated as “usually” or “normally”, with the exceptions never made explicit.</a:t>
            </a:r>
            <a:endParaRPr lang="en-US" sz="1200" dirty="0"/>
          </a:p>
        </p:txBody>
      </p:sp>
      <p:sp>
        <p:nvSpPr>
          <p:cNvPr id="16" name="Shape 14"/>
          <p:cNvSpPr/>
          <p:nvPr/>
        </p:nvSpPr>
        <p:spPr>
          <a:xfrm>
            <a:off x="4388882" y="3202305"/>
            <a:ext cx="3414157" cy="1160780"/>
          </a:xfrm>
          <a:prstGeom prst="roundRect">
            <a:avLst>
              <a:gd name="adj" fmla="val 6291"/>
            </a:avLst>
          </a:prstGeom>
          <a:solidFill>
            <a:srgbClr val="FDFCF9"/>
          </a:solidFill>
          <a:ln w="6350">
            <a:solidFill>
              <a:srgbClr val="DDD7CB"/>
            </a:solidFill>
            <a:prstDash val="solid"/>
          </a:ln>
        </p:spPr>
      </p:sp>
      <p:sp>
        <p:nvSpPr>
          <p:cNvPr id="17" name="Text 15"/>
          <p:cNvSpPr/>
          <p:nvPr/>
        </p:nvSpPr>
        <p:spPr>
          <a:xfrm>
            <a:off x="4593987"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Weak acceptance criteria</a:t>
            </a:r>
            <a:endParaRPr lang="en-US" sz="1500" dirty="0"/>
          </a:p>
        </p:txBody>
      </p:sp>
      <p:sp>
        <p:nvSpPr>
          <p:cNvPr id="18" name="Text 16"/>
          <p:cNvSpPr/>
          <p:nvPr/>
        </p:nvSpPr>
        <p:spPr>
          <a:xfrm>
            <a:off x="4593987"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Leads directly to weak, unverifiable test coverage.</a:t>
            </a:r>
            <a:endParaRPr lang="en-US" sz="1200" dirty="0"/>
          </a:p>
        </p:txBody>
      </p:sp>
      <p:sp>
        <p:nvSpPr>
          <p:cNvPr id="19" name="Shape 17"/>
          <p:cNvSpPr/>
          <p:nvPr/>
        </p:nvSpPr>
        <p:spPr>
          <a:xfrm>
            <a:off x="7961789" y="3202305"/>
            <a:ext cx="3414157" cy="1160780"/>
          </a:xfrm>
          <a:prstGeom prst="roundRect">
            <a:avLst>
              <a:gd name="adj" fmla="val 6291"/>
            </a:avLst>
          </a:prstGeom>
          <a:solidFill>
            <a:srgbClr val="FDFCF9"/>
          </a:solidFill>
          <a:ln w="6350">
            <a:solidFill>
              <a:srgbClr val="DDD7CB"/>
            </a:solidFill>
            <a:prstDash val="solid"/>
          </a:ln>
        </p:spPr>
      </p:sp>
      <p:sp>
        <p:nvSpPr>
          <p:cNvPr id="20" name="Text 18"/>
          <p:cNvSpPr/>
          <p:nvPr/>
        </p:nvSpPr>
        <p:spPr>
          <a:xfrm>
            <a:off x="8166894"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Fragmented scope</a:t>
            </a:r>
            <a:endParaRPr lang="en-US" sz="1500" dirty="0"/>
          </a:p>
        </p:txBody>
      </p:sp>
      <p:sp>
        <p:nvSpPr>
          <p:cNvPr id="21" name="Text 19"/>
          <p:cNvSpPr/>
          <p:nvPr/>
        </p:nvSpPr>
        <p:spPr>
          <a:xfrm>
            <a:off x="8166894"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Solutions get built around isolated parts of a feature, not the full business outcome.</a:t>
            </a:r>
            <a:endParaRPr lang="en-US" sz="1200" dirty="0"/>
          </a:p>
        </p:txBody>
      </p:sp>
      <p:sp>
        <p:nvSpPr>
          <p:cNvPr id="22" name="Shape 20"/>
          <p:cNvSpPr/>
          <p:nvPr/>
        </p:nvSpPr>
        <p:spPr>
          <a:xfrm>
            <a:off x="812800" y="4569461"/>
            <a:ext cx="10566400" cy="467360"/>
          </a:xfrm>
          <a:prstGeom prst="roundRect">
            <a:avLst>
              <a:gd name="adj" fmla="val 16304"/>
            </a:avLst>
          </a:prstGeom>
          <a:solidFill>
            <a:srgbClr val="F4E4DE"/>
          </a:solidFill>
          <a:ln/>
        </p:spPr>
      </p:sp>
      <p:sp>
        <p:nvSpPr>
          <p:cNvPr id="23" name="Text 21"/>
          <p:cNvSpPr/>
          <p:nvPr/>
        </p:nvSpPr>
        <p:spPr>
          <a:xfrm>
            <a:off x="1016000" y="4696461"/>
            <a:ext cx="883920" cy="23876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THE COST</a:t>
            </a:r>
            <a:endParaRPr lang="en-US" sz="1200" dirty="0"/>
          </a:p>
        </p:txBody>
      </p:sp>
      <p:sp>
        <p:nvSpPr>
          <p:cNvPr id="24" name="Text 22"/>
          <p:cNvSpPr/>
          <p:nvPr/>
        </p:nvSpPr>
        <p:spPr>
          <a:xfrm>
            <a:off x="2026920" y="4696461"/>
            <a:ext cx="75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Conflicting interpretations → integration gaps → rework → engineer interpretation burden → waste (muda)</a:t>
            </a:r>
            <a:endParaRPr lang="en-US" sz="1200" dirty="0"/>
          </a:p>
        </p:txBody>
      </p:sp>
      <p:sp>
        <p:nvSpPr>
          <p:cNvPr id="25" name="Text 2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6" name="Text 24"/>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03 / 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0452F"/>
        </a:solidFill>
      </p:bgPr>
    </p:bg>
    <p:spTree>
      <p:nvGrpSpPr>
        <p:cNvPr id="1" name=""/>
        <p:cNvGrpSpPr/>
        <p:nvPr/>
      </p:nvGrpSpPr>
      <p:grpSpPr>
        <a:xfrm>
          <a:off x="0" y="0"/>
          <a:ext cx="0" cy="0"/>
          <a:chOff x="0" y="0"/>
          <a:chExt cx="0" cy="0"/>
        </a:xfrm>
      </p:grpSpPr>
      <p:sp>
        <p:nvSpPr>
          <p:cNvPr id="2" name="Text 0"/>
          <p:cNvSpPr/>
          <p:nvPr/>
        </p:nvSpPr>
        <p:spPr>
          <a:xfrm>
            <a:off x="812800" y="19431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BF3EE"/>
                </a:solidFill>
                <a:latin typeface="IBM Plex Mono" pitchFamily="34" charset="0"/>
                <a:ea typeface="IBM Plex Mono" pitchFamily="34" charset="-122"/>
                <a:cs typeface="IBM Plex Mono" pitchFamily="34" charset="-120"/>
              </a:rPr>
              <a:t>WHY THIS MATTERS NOW</a:t>
            </a:r>
            <a:endParaRPr lang="en-US" sz="1200" dirty="0"/>
          </a:p>
        </p:txBody>
      </p:sp>
      <p:sp>
        <p:nvSpPr>
          <p:cNvPr id="3" name="Text 1"/>
          <p:cNvSpPr/>
          <p:nvPr/>
        </p:nvSpPr>
        <p:spPr>
          <a:xfrm>
            <a:off x="812800" y="2461261"/>
            <a:ext cx="9810750" cy="148844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FBF3EE"/>
                </a:solidFill>
                <a:latin typeface="Source Serif 4" pitchFamily="34" charset="0"/>
                <a:ea typeface="Source Serif 4" pitchFamily="34" charset="-122"/>
                <a:cs typeface="Source Serif 4" pitchFamily="34" charset="-120"/>
              </a:rPr>
              <a:t>AI code generation amplifies the problem: it can rapidly turn ambiguous or inconsistent intent into polished implementations.</a:t>
            </a:r>
            <a:endParaRPr lang="en-US" sz="3200" dirty="0"/>
          </a:p>
        </p:txBody>
      </p:sp>
      <p:pic>
        <p:nvPicPr>
          <p:cNvPr id="4" name="Image 0" descr="line">    </p:cNvPr>
          <p:cNvPicPr>
            <a:picLocks noChangeAspect="1"/>
          </p:cNvPicPr>
          <p:nvPr/>
        </p:nvPicPr>
        <p:blipFill>
          <a:blip r:embed="rId1"/>
          <a:srcRect l="0" r="0" t="0" b="0"/>
          <a:stretch/>
        </p:blipFill>
        <p:spPr>
          <a:xfrm>
            <a:off x="812800" y="4229100"/>
            <a:ext cx="1016000" cy="50800"/>
          </a:xfrm>
          <a:prstGeom prst="rect">
            <a:avLst/>
          </a:prstGeom>
        </p:spPr>
      </p:pic>
      <p:sp>
        <p:nvSpPr>
          <p:cNvPr id="5" name="Text 2"/>
          <p:cNvSpPr/>
          <p:nvPr/>
        </p:nvSpPr>
        <p:spPr>
          <a:xfrm>
            <a:off x="812800" y="4584700"/>
            <a:ext cx="91567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BF3EE"/>
                </a:solidFill>
                <a:latin typeface="IBM Plex Sans" pitchFamily="34" charset="0"/>
                <a:ea typeface="IBM Plex Sans" pitchFamily="34" charset="-122"/>
                <a:cs typeface="IBM Plex Sans" pitchFamily="34" charset="-120"/>
              </a:rPr>
              <a:t>The cheapest point to fix ambiguity is before engineering starts.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Proposed solution: interrogate, model, hand off</a:t>
            </a:r>
            <a:endParaRPr lang="en-US" sz="3200" dirty="0"/>
          </a:p>
        </p:txBody>
      </p:sp>
      <p:sp>
        <p:nvSpPr>
          <p:cNvPr id="4" name="Text 2"/>
          <p:cNvSpPr/>
          <p:nvPr/>
        </p:nvSpPr>
        <p:spPr>
          <a:xfrm>
            <a:off x="812800" y="187960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E4A5C"/>
                </a:solidFill>
                <a:latin typeface="IBM Plex Sans" pitchFamily="34" charset="0"/>
                <a:ea typeface="IBM Plex Sans" pitchFamily="34" charset="-122"/>
                <a:cs typeface="IBM Plex Sans" pitchFamily="34" charset="-120"/>
              </a:rPr>
              <a:t>The Intent Discovery Service uses an LLM as an AI-augmented BSA interviewer. It asks one closed question at a time until a requirement is decidable, then turns confirmed answers into validated domain models.</a:t>
            </a:r>
            <a:endParaRPr lang="en-US" sz="1500" dirty="0"/>
          </a:p>
        </p:txBody>
      </p:sp>
      <p:sp>
        <p:nvSpPr>
          <p:cNvPr id="5" name="Shape 3"/>
          <p:cNvSpPr/>
          <p:nvPr/>
        </p:nvSpPr>
        <p:spPr>
          <a:xfrm>
            <a:off x="815975" y="2581275"/>
            <a:ext cx="3177064" cy="1720850"/>
          </a:xfrm>
          <a:prstGeom prst="roundRect">
            <a:avLst>
              <a:gd name="adj" fmla="val 4244"/>
            </a:avLst>
          </a:prstGeom>
          <a:solidFill>
            <a:srgbClr val="FDFCF9"/>
          </a:solidFill>
          <a:ln w="6350">
            <a:solidFill>
              <a:srgbClr val="DDD7CB"/>
            </a:solidFill>
            <a:prstDash val="solid"/>
          </a:ln>
        </p:spPr>
      </p:sp>
      <p:pic>
        <p:nvPicPr>
          <p:cNvPr id="6" name="Image 0" descr="Chat">    </p:cNvPr>
          <p:cNvPicPr>
            <a:picLocks noChangeAspect="1"/>
          </p:cNvPicPr>
          <p:nvPr/>
        </p:nvPicPr>
        <p:blipFill>
          <a:blip r:embed="rId1"/>
          <a:srcRect l="0" r="0" t="0" b="0"/>
          <a:stretch/>
        </p:blipFill>
        <p:spPr>
          <a:xfrm>
            <a:off x="1046480" y="2824482"/>
            <a:ext cx="279400" cy="279400"/>
          </a:xfrm>
          <a:prstGeom prst="rect">
            <a:avLst/>
          </a:prstGeom>
        </p:spPr>
      </p:pic>
      <p:sp>
        <p:nvSpPr>
          <p:cNvPr id="7" name="Text 4"/>
          <p:cNvSpPr/>
          <p:nvPr/>
        </p:nvSpPr>
        <p:spPr>
          <a:xfrm>
            <a:off x="1427480" y="2811782"/>
            <a:ext cx="1442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Interrogate</a:t>
            </a:r>
            <a:endParaRPr lang="en-US" sz="2000" dirty="0"/>
          </a:p>
        </p:txBody>
      </p:sp>
      <p:sp>
        <p:nvSpPr>
          <p:cNvPr id="8" name="Text 5"/>
          <p:cNvSpPr/>
          <p:nvPr/>
        </p:nvSpPr>
        <p:spPr>
          <a:xfrm>
            <a:off x="1046480" y="3218182"/>
            <a:ext cx="2797535"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12-rung question ladder. The AI proposes an answer with consequences; the user answers, defers, contests or flags.</a:t>
            </a:r>
            <a:endParaRPr lang="en-US" sz="1200" dirty="0"/>
          </a:p>
        </p:txBody>
      </p:sp>
      <p:pic>
        <p:nvPicPr>
          <p:cNvPr id="9" name="Image 1" descr="arrow-right">    </p:cNvPr>
          <p:cNvPicPr>
            <a:picLocks noChangeAspect="1"/>
          </p:cNvPicPr>
          <p:nvPr/>
        </p:nvPicPr>
        <p:blipFill>
          <a:blip r:embed="rId2"/>
          <a:srcRect l="0" r="0" t="0" b="0"/>
          <a:stretch/>
        </p:blipFill>
        <p:spPr>
          <a:xfrm>
            <a:off x="4097814" y="3365500"/>
            <a:ext cx="304800" cy="152400"/>
          </a:xfrm>
          <a:prstGeom prst="rect">
            <a:avLst/>
          </a:prstGeom>
        </p:spPr>
      </p:pic>
      <p:sp>
        <p:nvSpPr>
          <p:cNvPr id="10" name="Shape 6"/>
          <p:cNvSpPr/>
          <p:nvPr/>
        </p:nvSpPr>
        <p:spPr>
          <a:xfrm>
            <a:off x="4507389" y="2581275"/>
            <a:ext cx="3177143" cy="1720850"/>
          </a:xfrm>
          <a:prstGeom prst="roundRect">
            <a:avLst>
              <a:gd name="adj" fmla="val 4244"/>
            </a:avLst>
          </a:prstGeom>
          <a:solidFill>
            <a:srgbClr val="FDFCF9"/>
          </a:solidFill>
          <a:ln w="6350">
            <a:solidFill>
              <a:srgbClr val="DDD7CB"/>
            </a:solidFill>
            <a:prstDash val="solid"/>
          </a:ln>
        </p:spPr>
      </p:sp>
      <p:pic>
        <p:nvPicPr>
          <p:cNvPr id="11" name="Image 2" descr="Database">    </p:cNvPr>
          <p:cNvPicPr>
            <a:picLocks noChangeAspect="1"/>
          </p:cNvPicPr>
          <p:nvPr/>
        </p:nvPicPr>
        <p:blipFill>
          <a:blip r:embed="rId3"/>
          <a:srcRect l="0" r="0" t="0" b="0"/>
          <a:stretch/>
        </p:blipFill>
        <p:spPr>
          <a:xfrm>
            <a:off x="4737894" y="2824482"/>
            <a:ext cx="279400" cy="279400"/>
          </a:xfrm>
          <a:prstGeom prst="rect">
            <a:avLst/>
          </a:prstGeom>
        </p:spPr>
      </p:pic>
      <p:sp>
        <p:nvSpPr>
          <p:cNvPr id="12" name="Text 7"/>
          <p:cNvSpPr/>
          <p:nvPr/>
        </p:nvSpPr>
        <p:spPr>
          <a:xfrm>
            <a:off x="5118894" y="2811782"/>
            <a:ext cx="8105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Model</a:t>
            </a:r>
            <a:endParaRPr lang="en-US" sz="2000" dirty="0"/>
          </a:p>
        </p:txBody>
      </p:sp>
      <p:sp>
        <p:nvSpPr>
          <p:cNvPr id="13" name="Text 8"/>
          <p:cNvSpPr/>
          <p:nvPr/>
        </p:nvSpPr>
        <p:spPr>
          <a:xfrm>
            <a:off x="4737894" y="3218182"/>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Event Storming → DDD domain model → Intent Registry, each stage schema-validated before the next can run.</a:t>
            </a:r>
            <a:endParaRPr lang="en-US" sz="1200" dirty="0"/>
          </a:p>
        </p:txBody>
      </p:sp>
      <p:pic>
        <p:nvPicPr>
          <p:cNvPr id="14" name="Image 3" descr="arrow-right">    </p:cNvPr>
          <p:cNvPicPr>
            <a:picLocks noChangeAspect="1"/>
          </p:cNvPicPr>
          <p:nvPr/>
        </p:nvPicPr>
        <p:blipFill>
          <a:blip r:embed="rId4"/>
          <a:srcRect l="0" r="0" t="0" b="0"/>
          <a:stretch/>
        </p:blipFill>
        <p:spPr>
          <a:xfrm>
            <a:off x="7789307" y="3365500"/>
            <a:ext cx="304800" cy="152400"/>
          </a:xfrm>
          <a:prstGeom prst="rect">
            <a:avLst/>
          </a:prstGeom>
        </p:spPr>
      </p:pic>
      <p:sp>
        <p:nvSpPr>
          <p:cNvPr id="15" name="Shape 9"/>
          <p:cNvSpPr/>
          <p:nvPr/>
        </p:nvSpPr>
        <p:spPr>
          <a:xfrm>
            <a:off x="8198882" y="2581275"/>
            <a:ext cx="3177143" cy="1720850"/>
          </a:xfrm>
          <a:prstGeom prst="roundRect">
            <a:avLst>
              <a:gd name="adj" fmla="val 4244"/>
            </a:avLst>
          </a:prstGeom>
          <a:solidFill>
            <a:srgbClr val="FDFCF9"/>
          </a:solidFill>
          <a:ln w="6350">
            <a:solidFill>
              <a:srgbClr val="DDD7CB"/>
            </a:solidFill>
            <a:prstDash val="solid"/>
          </a:ln>
        </p:spPr>
      </p:sp>
      <p:pic>
        <p:nvPicPr>
          <p:cNvPr id="16" name="Image 4" descr="PaperPlane">    </p:cNvPr>
          <p:cNvPicPr>
            <a:picLocks noChangeAspect="1"/>
          </p:cNvPicPr>
          <p:nvPr/>
        </p:nvPicPr>
        <p:blipFill>
          <a:blip r:embed="rId5"/>
          <a:srcRect l="0" r="0" t="0" b="0"/>
          <a:stretch/>
        </p:blipFill>
        <p:spPr>
          <a:xfrm>
            <a:off x="8429387" y="2824482"/>
            <a:ext cx="279400" cy="279400"/>
          </a:xfrm>
          <a:prstGeom prst="rect">
            <a:avLst/>
          </a:prstGeom>
        </p:spPr>
      </p:pic>
      <p:sp>
        <p:nvSpPr>
          <p:cNvPr id="17" name="Text 10"/>
          <p:cNvSpPr/>
          <p:nvPr/>
        </p:nvSpPr>
        <p:spPr>
          <a:xfrm>
            <a:off x="8810387" y="2811782"/>
            <a:ext cx="110355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Hand off</a:t>
            </a:r>
            <a:endParaRPr lang="en-US" sz="2000" dirty="0"/>
          </a:p>
        </p:txBody>
      </p:sp>
      <p:sp>
        <p:nvSpPr>
          <p:cNvPr id="18" name="Text 11"/>
          <p:cNvSpPr/>
          <p:nvPr/>
        </p:nvSpPr>
        <p:spPr>
          <a:xfrm>
            <a:off x="8429387" y="3218182"/>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Specifications, tasks, acceptance criteria and an evaluation rubric for engineers. No source code.</a:t>
            </a:r>
            <a:endParaRPr lang="en-US" sz="1200" dirty="0"/>
          </a:p>
        </p:txBody>
      </p:sp>
      <p:sp>
        <p:nvSpPr>
          <p:cNvPr id="19" name="Shape 12"/>
          <p:cNvSpPr/>
          <p:nvPr/>
        </p:nvSpPr>
        <p:spPr>
          <a:xfrm>
            <a:off x="812800" y="4508500"/>
            <a:ext cx="10566400" cy="558800"/>
          </a:xfrm>
          <a:prstGeom prst="roundRect">
            <a:avLst>
              <a:gd name="adj" fmla="val 13636"/>
            </a:avLst>
          </a:prstGeom>
          <a:solidFill>
            <a:srgbClr val="13233A"/>
          </a:solidFill>
          <a:ln/>
        </p:spPr>
      </p:sp>
      <p:pic>
        <p:nvPicPr>
          <p:cNvPr id="20" name="Image 5" descr="Users">    </p:cNvPr>
          <p:cNvPicPr>
            <a:picLocks noChangeAspect="1"/>
          </p:cNvPicPr>
          <p:nvPr/>
        </p:nvPicPr>
        <p:blipFill>
          <a:blip r:embed="rId6"/>
          <a:srcRect l="0" r="0" t="0" b="0"/>
          <a:stretch/>
        </p:blipFill>
        <p:spPr>
          <a:xfrm>
            <a:off x="1016000" y="4660900"/>
            <a:ext cx="254000" cy="254000"/>
          </a:xfrm>
          <a:prstGeom prst="rect">
            <a:avLst/>
          </a:prstGeom>
        </p:spPr>
      </p:pic>
      <p:sp>
        <p:nvSpPr>
          <p:cNvPr id="21" name="Text 13"/>
          <p:cNvSpPr/>
          <p:nvPr/>
        </p:nvSpPr>
        <p:spPr>
          <a:xfrm>
            <a:off x="1397000" y="4681221"/>
            <a:ext cx="76214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Humans confirm the interrogation, resolve Red Team findings and approve every artifact before it is finalized.</a:t>
            </a:r>
            <a:endParaRPr lang="en-US" sz="1200" dirty="0"/>
          </a:p>
        </p:txBody>
      </p:sp>
      <p:sp>
        <p:nvSpPr>
          <p:cNvPr id="22" name="Text 14"/>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3"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05 / 20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ALTERNATIVES CONSIDERED</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Why GenAI, and why alternatives fall short</a:t>
            </a:r>
            <a:endParaRPr lang="en-US" sz="3200" dirty="0"/>
          </a:p>
        </p:txBody>
      </p:sp>
      <p:sp>
        <p:nvSpPr>
          <p:cNvPr id="4" name="Text 2"/>
          <p:cNvSpPr/>
          <p:nvPr/>
        </p:nvSpPr>
        <p:spPr>
          <a:xfrm>
            <a:off x="812800" y="187960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E4A5C"/>
                </a:solidFill>
                <a:latin typeface="IBM Plex Sans" pitchFamily="34" charset="0"/>
                <a:ea typeface="IBM Plex Sans" pitchFamily="34" charset="-122"/>
                <a:cs typeface="IBM Plex Sans" pitchFamily="34" charset="-120"/>
              </a:rPr>
              <a:t>The core task is contextual reasoning over ambiguous business language. Non-generative methods stay in the design for deterministic validation, but cannot establish business meaning alone.</a:t>
            </a:r>
            <a:endParaRPr lang="en-US" sz="1500" dirty="0"/>
          </a:p>
        </p:txBody>
      </p:sp>
      <p:sp>
        <p:nvSpPr>
          <p:cNvPr id="5" name="Shape 3"/>
          <p:cNvSpPr/>
          <p:nvPr/>
        </p:nvSpPr>
        <p:spPr>
          <a:xfrm>
            <a:off x="11376025" y="2578100"/>
            <a:ext cx="0" cy="3002280"/>
          </a:xfrm>
          <a:prstGeom prst="line">
            <a:avLst/>
          </a:prstGeom>
          <a:noFill/>
          <a:ln w="6350">
            <a:solidFill>
              <a:srgbClr val="DDD7CB"/>
            </a:solidFill>
            <a:prstDash val="solid"/>
          </a:ln>
        </p:spPr>
      </p:sp>
      <p:sp>
        <p:nvSpPr>
          <p:cNvPr id="6" name="Shape 4"/>
          <p:cNvSpPr/>
          <p:nvPr/>
        </p:nvSpPr>
        <p:spPr>
          <a:xfrm>
            <a:off x="812800" y="5577205"/>
            <a:ext cx="10566400" cy="0"/>
          </a:xfrm>
          <a:prstGeom prst="line">
            <a:avLst/>
          </a:prstGeom>
          <a:noFill/>
          <a:ln w="6350">
            <a:solidFill>
              <a:srgbClr val="DDD7C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588260"/>
          <a:ext cx="10551160" cy="2987040"/>
        </p:xfrm>
        <a:graphic>
          <a:graphicData uri="http://schemas.openxmlformats.org/drawingml/2006/table">
            <a:tbl>
              <a:tblPr/>
              <a:tblGrid>
                <a:gridCol w="2532278"/>
                <a:gridCol w="3165348"/>
                <a:gridCol w="4853534"/>
              </a:tblGrid>
              <a:tr h="4267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Alternative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What it can do</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Why it is not sufficient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Static template or checklist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Enforce a consistent format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adapt questions to the feature’s context or reconcile conflicting terminology</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Rule-based requirements linter</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Validate required fields and known structural rules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determine whether the captured business meaning is correct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Manual peer review (current process)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Remains essential for approval</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Has not consistently surfaced gaps early and does not scale across projects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Keyword or static document analysis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Locate terms and patterns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run context-aware interrogation or synthesize an end-to-end domain model</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8" name="Text 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9" name="Text 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06 / 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BENEFITS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Anticipated benefits</a:t>
            </a:r>
            <a:endParaRPr lang="en-US" sz="3200" dirty="0"/>
          </a:p>
        </p:txBody>
      </p:sp>
      <p:sp>
        <p:nvSpPr>
          <p:cNvPr id="4" name="Shape 2"/>
          <p:cNvSpPr/>
          <p:nvPr/>
        </p:nvSpPr>
        <p:spPr>
          <a:xfrm>
            <a:off x="815975" y="1882775"/>
            <a:ext cx="3414157" cy="3285490"/>
          </a:xfrm>
          <a:prstGeom prst="roundRect">
            <a:avLst>
              <a:gd name="adj" fmla="val 2223"/>
            </a:avLst>
          </a:prstGeom>
          <a:solidFill>
            <a:srgbClr val="FDFCF9"/>
          </a:solidFill>
          <a:ln w="6350">
            <a:solidFill>
              <a:srgbClr val="DDD7CB"/>
            </a:solidFill>
            <a:prstDash val="solid"/>
          </a:ln>
        </p:spPr>
      </p:sp>
      <p:pic>
        <p:nvPicPr>
          <p:cNvPr id="5" name="Image 0" descr="Search">    </p:cNvPr>
          <p:cNvPicPr>
            <a:picLocks noChangeAspect="1"/>
          </p:cNvPicPr>
          <p:nvPr/>
        </p:nvPicPr>
        <p:blipFill>
          <a:blip r:embed="rId1"/>
          <a:srcRect l="0" r="0" t="0" b="0"/>
          <a:stretch/>
        </p:blipFill>
        <p:spPr>
          <a:xfrm>
            <a:off x="1021080" y="2087882"/>
            <a:ext cx="304800" cy="304800"/>
          </a:xfrm>
          <a:prstGeom prst="rect">
            <a:avLst/>
          </a:prstGeom>
        </p:spPr>
      </p:pic>
      <p:sp>
        <p:nvSpPr>
          <p:cNvPr id="6" name="Text 3"/>
          <p:cNvSpPr/>
          <p:nvPr/>
        </p:nvSpPr>
        <p:spPr>
          <a:xfrm>
            <a:off x="1021080"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Catch gaps early</a:t>
            </a:r>
            <a:endParaRPr lang="en-US" sz="2000" dirty="0"/>
          </a:p>
        </p:txBody>
      </p:sp>
      <p:pic>
        <p:nvPicPr>
          <p:cNvPr id="7" name="Image 1" descr="Check">    </p:cNvPr>
          <p:cNvPicPr>
            <a:picLocks noChangeAspect="1"/>
          </p:cNvPicPr>
          <p:nvPr/>
        </p:nvPicPr>
        <p:blipFill>
          <a:blip r:embed="rId2"/>
          <a:srcRect l="-1202" r="-1202" t="0" b="0"/>
          <a:stretch/>
        </p:blipFill>
        <p:spPr>
          <a:xfrm>
            <a:off x="1021080" y="2951482"/>
            <a:ext cx="84534" cy="203200"/>
          </a:xfrm>
          <a:prstGeom prst="rect">
            <a:avLst/>
          </a:prstGeom>
        </p:spPr>
      </p:pic>
      <p:sp>
        <p:nvSpPr>
          <p:cNvPr id="8" name="Text 4"/>
          <p:cNvSpPr/>
          <p:nvPr/>
        </p:nvSpPr>
        <p:spPr>
          <a:xfrm>
            <a:off x="1194514" y="2951482"/>
            <a:ext cx="291542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Missing or ambiguous requirements caught before engineering starts, the cheapest point to fix them</a:t>
            </a:r>
            <a:endParaRPr lang="en-US" sz="1200" dirty="0"/>
          </a:p>
        </p:txBody>
      </p:sp>
      <p:pic>
        <p:nvPicPr>
          <p:cNvPr id="9" name="Image 2" descr="Check">    </p:cNvPr>
          <p:cNvPicPr>
            <a:picLocks noChangeAspect="1"/>
          </p:cNvPicPr>
          <p:nvPr/>
        </p:nvPicPr>
        <p:blipFill>
          <a:blip r:embed="rId3"/>
          <a:srcRect l="0" r="0" t="-1398" b="-1398"/>
          <a:stretch/>
        </p:blipFill>
        <p:spPr>
          <a:xfrm>
            <a:off x="1021080" y="3693161"/>
            <a:ext cx="105013" cy="203200"/>
          </a:xfrm>
          <a:prstGeom prst="rect">
            <a:avLst/>
          </a:prstGeom>
        </p:spPr>
      </p:pic>
      <p:sp>
        <p:nvSpPr>
          <p:cNvPr id="10" name="Text 5"/>
          <p:cNvSpPr/>
          <p:nvPr/>
        </p:nvSpPr>
        <p:spPr>
          <a:xfrm>
            <a:off x="1214993" y="3693161"/>
            <a:ext cx="289433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Vague acceptance criteria turned into explicit, testable states, triggers and rules</a:t>
            </a:r>
            <a:endParaRPr lang="en-US" sz="1200" dirty="0"/>
          </a:p>
        </p:txBody>
      </p:sp>
      <p:sp>
        <p:nvSpPr>
          <p:cNvPr id="11" name="Shape 6"/>
          <p:cNvSpPr/>
          <p:nvPr/>
        </p:nvSpPr>
        <p:spPr>
          <a:xfrm>
            <a:off x="4388882" y="1882775"/>
            <a:ext cx="3414157" cy="3285490"/>
          </a:xfrm>
          <a:prstGeom prst="roundRect">
            <a:avLst>
              <a:gd name="adj" fmla="val 2223"/>
            </a:avLst>
          </a:prstGeom>
          <a:solidFill>
            <a:srgbClr val="FDFCF9"/>
          </a:solidFill>
          <a:ln w="6350">
            <a:solidFill>
              <a:srgbClr val="DDD7CB"/>
            </a:solidFill>
            <a:prstDash val="solid"/>
          </a:ln>
        </p:spPr>
      </p:sp>
      <p:pic>
        <p:nvPicPr>
          <p:cNvPr id="12" name="Image 3" descr="Users">    </p:cNvPr>
          <p:cNvPicPr>
            <a:picLocks noChangeAspect="1"/>
          </p:cNvPicPr>
          <p:nvPr/>
        </p:nvPicPr>
        <p:blipFill>
          <a:blip r:embed="rId4"/>
          <a:srcRect l="0" r="0" t="0" b="0"/>
          <a:stretch/>
        </p:blipFill>
        <p:spPr>
          <a:xfrm>
            <a:off x="4593987" y="2087882"/>
            <a:ext cx="304800" cy="304800"/>
          </a:xfrm>
          <a:prstGeom prst="rect">
            <a:avLst/>
          </a:prstGeom>
        </p:spPr>
      </p:pic>
      <p:sp>
        <p:nvSpPr>
          <p:cNvPr id="13" name="Text 7"/>
          <p:cNvSpPr/>
          <p:nvPr/>
        </p:nvSpPr>
        <p:spPr>
          <a:xfrm>
            <a:off x="4593987"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One shared model</a:t>
            </a:r>
            <a:endParaRPr lang="en-US" sz="2000" dirty="0"/>
          </a:p>
        </p:txBody>
      </p:sp>
      <p:pic>
        <p:nvPicPr>
          <p:cNvPr id="14" name="Image 4" descr="Check">    </p:cNvPr>
          <p:cNvPicPr>
            <a:picLocks noChangeAspect="1"/>
          </p:cNvPicPr>
          <p:nvPr/>
        </p:nvPicPr>
        <p:blipFill>
          <a:blip r:embed="rId5"/>
          <a:srcRect l="-478" r="-478" t="0" b="0"/>
          <a:stretch/>
        </p:blipFill>
        <p:spPr>
          <a:xfrm>
            <a:off x="4593987" y="2951482"/>
            <a:ext cx="108982" cy="203200"/>
          </a:xfrm>
          <a:prstGeom prst="rect">
            <a:avLst/>
          </a:prstGeom>
        </p:spPr>
      </p:pic>
      <p:sp>
        <p:nvSpPr>
          <p:cNvPr id="15" name="Text 8"/>
          <p:cNvSpPr/>
          <p:nvPr/>
        </p:nvSpPr>
        <p:spPr>
          <a:xfrm>
            <a:off x="4791869" y="2951482"/>
            <a:ext cx="28902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shared Ubiquitous Language across business, architecture and engineering</a:t>
            </a:r>
            <a:endParaRPr lang="en-US" sz="1200" dirty="0"/>
          </a:p>
        </p:txBody>
      </p:sp>
      <p:pic>
        <p:nvPicPr>
          <p:cNvPr id="16" name="Image 5" descr="Check">    </p:cNvPr>
          <p:cNvPicPr>
            <a:picLocks noChangeAspect="1"/>
          </p:cNvPicPr>
          <p:nvPr/>
        </p:nvPicPr>
        <p:blipFill>
          <a:blip r:embed="rId6"/>
          <a:srcRect l="0" r="0" t="-450" b="-450"/>
          <a:stretch/>
        </p:blipFill>
        <p:spPr>
          <a:xfrm>
            <a:off x="4593987" y="3479800"/>
            <a:ext cx="88106" cy="203200"/>
          </a:xfrm>
          <a:prstGeom prst="rect">
            <a:avLst/>
          </a:prstGeom>
        </p:spPr>
      </p:pic>
      <p:sp>
        <p:nvSpPr>
          <p:cNvPr id="17" name="Text 9"/>
          <p:cNvSpPr/>
          <p:nvPr/>
        </p:nvSpPr>
        <p:spPr>
          <a:xfrm>
            <a:off x="4770993" y="3479800"/>
            <a:ext cx="291174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Bounded Context ownership and Context Map relationships explicit before integration decisions</a:t>
            </a:r>
            <a:endParaRPr lang="en-US" sz="1200" dirty="0"/>
          </a:p>
        </p:txBody>
      </p:sp>
      <p:pic>
        <p:nvPicPr>
          <p:cNvPr id="18" name="Image 6" descr="Check">    </p:cNvPr>
          <p:cNvPicPr>
            <a:picLocks noChangeAspect="1"/>
          </p:cNvPicPr>
          <p:nvPr/>
        </p:nvPicPr>
        <p:blipFill>
          <a:blip r:embed="rId7"/>
          <a:srcRect l="0" r="0" t="-697" b="-697"/>
          <a:stretch/>
        </p:blipFill>
        <p:spPr>
          <a:xfrm>
            <a:off x="4593987" y="4221482"/>
            <a:ext cx="125254" cy="203200"/>
          </a:xfrm>
          <a:prstGeom prst="rect">
            <a:avLst/>
          </a:prstGeom>
        </p:spPr>
      </p:pic>
      <p:sp>
        <p:nvSpPr>
          <p:cNvPr id="19" name="Text 10"/>
          <p:cNvSpPr/>
          <p:nvPr/>
        </p:nvSpPr>
        <p:spPr>
          <a:xfrm>
            <a:off x="4808141" y="4221482"/>
            <a:ext cx="287348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Aggregates identified that protect each business rule and invariant</a:t>
            </a:r>
            <a:endParaRPr lang="en-US" sz="1200" dirty="0"/>
          </a:p>
        </p:txBody>
      </p:sp>
      <p:sp>
        <p:nvSpPr>
          <p:cNvPr id="20" name="Shape 11"/>
          <p:cNvSpPr/>
          <p:nvPr/>
        </p:nvSpPr>
        <p:spPr>
          <a:xfrm>
            <a:off x="7961789" y="1882775"/>
            <a:ext cx="3414157" cy="3285490"/>
          </a:xfrm>
          <a:prstGeom prst="roundRect">
            <a:avLst>
              <a:gd name="adj" fmla="val 2223"/>
            </a:avLst>
          </a:prstGeom>
          <a:solidFill>
            <a:srgbClr val="FDFCF9"/>
          </a:solidFill>
          <a:ln w="6350">
            <a:solidFill>
              <a:srgbClr val="DDD7CB"/>
            </a:solidFill>
            <a:prstDash val="solid"/>
          </a:ln>
        </p:spPr>
      </p:sp>
      <p:pic>
        <p:nvPicPr>
          <p:cNvPr id="21" name="Image 7" descr="Verified">    </p:cNvPr>
          <p:cNvPicPr>
            <a:picLocks noChangeAspect="1"/>
          </p:cNvPicPr>
          <p:nvPr/>
        </p:nvPicPr>
        <p:blipFill>
          <a:blip r:embed="rId8"/>
          <a:srcRect l="0" r="0" t="0" b="0"/>
          <a:stretch/>
        </p:blipFill>
        <p:spPr>
          <a:xfrm>
            <a:off x="8166894" y="2087882"/>
            <a:ext cx="304800" cy="304800"/>
          </a:xfrm>
          <a:prstGeom prst="rect">
            <a:avLst/>
          </a:prstGeom>
        </p:spPr>
      </p:pic>
      <p:sp>
        <p:nvSpPr>
          <p:cNvPr id="22" name="Text 12"/>
          <p:cNvSpPr/>
          <p:nvPr/>
        </p:nvSpPr>
        <p:spPr>
          <a:xfrm>
            <a:off x="8166894"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Verifiable specs</a:t>
            </a:r>
            <a:endParaRPr lang="en-US" sz="2000" dirty="0"/>
          </a:p>
        </p:txBody>
      </p:sp>
      <p:pic>
        <p:nvPicPr>
          <p:cNvPr id="23" name="Image 8" descr="Check">    </p:cNvPr>
          <p:cNvPicPr>
            <a:picLocks noChangeAspect="1"/>
          </p:cNvPicPr>
          <p:nvPr/>
        </p:nvPicPr>
        <p:blipFill>
          <a:blip r:embed="rId9"/>
          <a:srcRect l="0" r="0" t="0" b="0"/>
          <a:stretch/>
        </p:blipFill>
        <p:spPr>
          <a:xfrm>
            <a:off x="8166894" y="2951482"/>
            <a:ext cx="114300" cy="203200"/>
          </a:xfrm>
          <a:prstGeom prst="rect">
            <a:avLst/>
          </a:prstGeom>
        </p:spPr>
      </p:pic>
      <p:sp>
        <p:nvSpPr>
          <p:cNvPr id="24" name="Text 13"/>
          <p:cNvSpPr/>
          <p:nvPr/>
        </p:nvSpPr>
        <p:spPr>
          <a:xfrm>
            <a:off x="8370094" y="2951482"/>
            <a:ext cx="288476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Decision-table coverage checked across every defined input combination</a:t>
            </a:r>
            <a:endParaRPr lang="en-US" sz="1200" dirty="0"/>
          </a:p>
        </p:txBody>
      </p:sp>
      <p:pic>
        <p:nvPicPr>
          <p:cNvPr id="25" name="Image 9" descr="Check">    </p:cNvPr>
          <p:cNvPicPr>
            <a:picLocks noChangeAspect="1"/>
          </p:cNvPicPr>
          <p:nvPr/>
        </p:nvPicPr>
        <p:blipFill>
          <a:blip r:embed="rId10"/>
          <a:srcRect l="-268" r="-268" t="0" b="0"/>
          <a:stretch/>
        </p:blipFill>
        <p:spPr>
          <a:xfrm>
            <a:off x="8166894" y="3479800"/>
            <a:ext cx="134064" cy="203200"/>
          </a:xfrm>
          <a:prstGeom prst="rect">
            <a:avLst/>
          </a:prstGeom>
        </p:spPr>
      </p:pic>
      <p:sp>
        <p:nvSpPr>
          <p:cNvPr id="26" name="Text 14"/>
          <p:cNvSpPr/>
          <p:nvPr/>
        </p:nvSpPr>
        <p:spPr>
          <a:xfrm>
            <a:off x="8389858" y="3479800"/>
            <a:ext cx="28644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Every rule names where it is enforced and which test proves it</a:t>
            </a:r>
            <a:endParaRPr lang="en-US" sz="1200" dirty="0"/>
          </a:p>
        </p:txBody>
      </p:sp>
      <p:pic>
        <p:nvPicPr>
          <p:cNvPr id="27" name="Image 10" descr="Check">    </p:cNvPr>
          <p:cNvPicPr>
            <a:picLocks noChangeAspect="1"/>
          </p:cNvPicPr>
          <p:nvPr/>
        </p:nvPicPr>
        <p:blipFill>
          <a:blip r:embed="rId11"/>
          <a:srcRect l="-900" r="-900" t="0" b="0"/>
          <a:stretch/>
        </p:blipFill>
        <p:spPr>
          <a:xfrm>
            <a:off x="8166894" y="4008121"/>
            <a:ext cx="161608" cy="203200"/>
          </a:xfrm>
          <a:prstGeom prst="rect">
            <a:avLst/>
          </a:prstGeom>
        </p:spPr>
      </p:pic>
      <p:sp>
        <p:nvSpPr>
          <p:cNvPr id="28" name="Text 15"/>
          <p:cNvSpPr/>
          <p:nvPr/>
        </p:nvSpPr>
        <p:spPr>
          <a:xfrm>
            <a:off x="8417402" y="4008121"/>
            <a:ext cx="28360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Corrections and feedback retained across sessions</a:t>
            </a:r>
            <a:endParaRPr lang="en-US" sz="1200" dirty="0"/>
          </a:p>
        </p:txBody>
      </p:sp>
      <p:pic>
        <p:nvPicPr>
          <p:cNvPr id="29" name="Image 11" descr="Check">    </p:cNvPr>
          <p:cNvPicPr>
            <a:picLocks noChangeAspect="1"/>
          </p:cNvPicPr>
          <p:nvPr/>
        </p:nvPicPr>
        <p:blipFill>
          <a:blip r:embed="rId12"/>
          <a:srcRect l="-625" r="-625" t="0" b="0"/>
          <a:stretch/>
        </p:blipFill>
        <p:spPr>
          <a:xfrm>
            <a:off x="8166894" y="4536439"/>
            <a:ext cx="141446" cy="203200"/>
          </a:xfrm>
          <a:prstGeom prst="rect">
            <a:avLst/>
          </a:prstGeom>
        </p:spPr>
      </p:pic>
      <p:sp>
        <p:nvSpPr>
          <p:cNvPr id="30" name="Text 16"/>
          <p:cNvSpPr/>
          <p:nvPr/>
        </p:nvSpPr>
        <p:spPr>
          <a:xfrm>
            <a:off x="8397240" y="4536439"/>
            <a:ext cx="285680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versionable spec that makes implementation reviewable</a:t>
            </a:r>
            <a:endParaRPr lang="en-US" sz="1200" dirty="0"/>
          </a:p>
        </p:txBody>
      </p:sp>
      <p:sp>
        <p:nvSpPr>
          <p:cNvPr id="31" name="Text 1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2"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07 / 20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USERS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Users and impact</a:t>
            </a:r>
            <a:endParaRPr lang="en-US" sz="3200" dirty="0"/>
          </a:p>
        </p:txBody>
      </p:sp>
      <p:sp>
        <p:nvSpPr>
          <p:cNvPr id="4" name="Shape 2"/>
          <p:cNvSpPr/>
          <p:nvPr/>
        </p:nvSpPr>
        <p:spPr>
          <a:xfrm>
            <a:off x="11376025" y="1879600"/>
            <a:ext cx="0" cy="2423160"/>
          </a:xfrm>
          <a:prstGeom prst="line">
            <a:avLst/>
          </a:prstGeom>
          <a:noFill/>
          <a:ln w="6350">
            <a:solidFill>
              <a:srgbClr val="DDD7CB"/>
            </a:solidFill>
            <a:prstDash val="solid"/>
          </a:ln>
        </p:spPr>
      </p:sp>
      <p:sp>
        <p:nvSpPr>
          <p:cNvPr id="5" name="Shape 3"/>
          <p:cNvSpPr/>
          <p:nvPr/>
        </p:nvSpPr>
        <p:spPr>
          <a:xfrm>
            <a:off x="812800" y="4299585"/>
            <a:ext cx="10566400" cy="0"/>
          </a:xfrm>
          <a:prstGeom prst="line">
            <a:avLst/>
          </a:prstGeom>
          <a:noFill/>
          <a:ln w="6350">
            <a:solidFill>
              <a:srgbClr val="DDD7C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1160" cy="2407920"/>
        </p:xfrm>
        <a:graphic>
          <a:graphicData uri="http://schemas.openxmlformats.org/drawingml/2006/table">
            <a:tbl>
              <a:tblPr/>
              <a:tblGrid>
                <a:gridCol w="2637790"/>
                <a:gridCol w="2321255"/>
                <a:gridCol w="1371651"/>
                <a:gridCol w="4220464"/>
              </a:tblGrid>
              <a:tr h="4013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Team</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Est. count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Impact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CX Engineering</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Engineers, Tech Leads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~15–25</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Less time interpreting ambiguous requirements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Business Systems Analysts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Requirement authors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~5–10</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Gaps surface before hand-off to engineering</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IR Authors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Specification approvers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BSA subset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Review and correct AI-proposed artifacts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Domain Architects, SMEs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Correctness reviewers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Attest models reflect business intent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Eng. Managers, Tech Leads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Spec review, priorities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Faster, higher-confidence definition of done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bl>
          </a:graphicData>
        </a:graphic>
      </p:graphicFrame>
      <p:sp>
        <p:nvSpPr>
          <p:cNvPr id="7" name="Shape 4"/>
          <p:cNvSpPr/>
          <p:nvPr/>
        </p:nvSpPr>
        <p:spPr>
          <a:xfrm>
            <a:off x="815975" y="4509139"/>
            <a:ext cx="5200650" cy="1297940"/>
          </a:xfrm>
          <a:prstGeom prst="roundRect">
            <a:avLst>
              <a:gd name="adj" fmla="val 5626"/>
            </a:avLst>
          </a:prstGeom>
          <a:solidFill>
            <a:srgbClr val="E1ECF1"/>
          </a:solidFill>
          <a:ln w="6350">
            <a:solidFill>
              <a:srgbClr val="BCD3DE"/>
            </a:solidFill>
            <a:prstDash val="solid"/>
          </a:ln>
        </p:spPr>
      </p:sp>
      <p:sp>
        <p:nvSpPr>
          <p:cNvPr id="8" name="Text 5"/>
          <p:cNvSpPr/>
          <p:nvPr/>
        </p:nvSpPr>
        <p:spPr>
          <a:xfrm>
            <a:off x="1021080" y="468884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Anticipated positive impact</a:t>
            </a:r>
            <a:endParaRPr lang="en-US" sz="1500" dirty="0"/>
          </a:p>
        </p:txBody>
      </p:sp>
      <p:sp>
        <p:nvSpPr>
          <p:cNvPr id="9" name="Text 6"/>
          <p:cNvSpPr/>
          <p:nvPr/>
        </p:nvSpPr>
        <p:spPr>
          <a:xfrm>
            <a:off x="1021080" y="4987292"/>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Fewer rework cycles, more testable acceptance criteria, and consistent rigor regardless of individual BSA experience.</a:t>
            </a:r>
            <a:endParaRPr lang="en-US" sz="1200" dirty="0"/>
          </a:p>
        </p:txBody>
      </p:sp>
      <p:sp>
        <p:nvSpPr>
          <p:cNvPr id="10" name="Shape 7"/>
          <p:cNvSpPr/>
          <p:nvPr/>
        </p:nvSpPr>
        <p:spPr>
          <a:xfrm>
            <a:off x="6175375" y="4509139"/>
            <a:ext cx="5200650" cy="1297940"/>
          </a:xfrm>
          <a:prstGeom prst="roundRect">
            <a:avLst>
              <a:gd name="adj" fmla="val 5626"/>
            </a:avLst>
          </a:prstGeom>
          <a:solidFill>
            <a:srgbClr val="F4E4DE"/>
          </a:solidFill>
          <a:ln w="6350">
            <a:solidFill>
              <a:srgbClr val="E3C2B6"/>
            </a:solidFill>
            <a:prstDash val="solid"/>
          </a:ln>
        </p:spPr>
      </p:sp>
      <p:sp>
        <p:nvSpPr>
          <p:cNvPr id="11" name="Text 8"/>
          <p:cNvSpPr/>
          <p:nvPr/>
        </p:nvSpPr>
        <p:spPr>
          <a:xfrm>
            <a:off x="6380480" y="468884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Adoption trade-off</a:t>
            </a:r>
            <a:endParaRPr lang="en-US" sz="1500" dirty="0"/>
          </a:p>
        </p:txBody>
      </p:sp>
      <p:sp>
        <p:nvSpPr>
          <p:cNvPr id="12" name="Text 9"/>
          <p:cNvSpPr/>
          <p:nvPr/>
        </p:nvSpPr>
        <p:spPr>
          <a:xfrm>
            <a:off x="6380480" y="498729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Users work through a structured, question-driven process and review AI-proposed models. The PoC stays opt-in, CX Engineering only, in development.</a:t>
            </a:r>
            <a:endParaRPr lang="en-US" sz="1200" dirty="0"/>
          </a:p>
        </p:txBody>
      </p:sp>
      <p:sp>
        <p:nvSpPr>
          <p:cNvPr id="13"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14"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08 / 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INTERROGATION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 12-rung interrogation ladder</a:t>
            </a:r>
            <a:endParaRPr lang="en-US" sz="3200" dirty="0"/>
          </a:p>
        </p:txBody>
      </p:sp>
      <p:sp>
        <p:nvSpPr>
          <p:cNvPr id="4" name="Text 2"/>
          <p:cNvSpPr/>
          <p:nvPr/>
        </p:nvSpPr>
        <p:spPr>
          <a:xfrm>
            <a:off x="812800" y="1879600"/>
            <a:ext cx="614807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ONE CLOSED QUESTION AT A TIME</a:t>
            </a:r>
            <a:endParaRPr lang="en-US" sz="1200" dirty="0"/>
          </a:p>
        </p:txBody>
      </p:sp>
      <p:sp>
        <p:nvSpPr>
          <p:cNvPr id="5" name="Shape 3"/>
          <p:cNvSpPr/>
          <p:nvPr/>
        </p:nvSpPr>
        <p:spPr>
          <a:xfrm>
            <a:off x="815975" y="2197739"/>
            <a:ext cx="2940050" cy="378460"/>
          </a:xfrm>
          <a:prstGeom prst="roundRect">
            <a:avLst>
              <a:gd name="adj" fmla="val 15940"/>
            </a:avLst>
          </a:prstGeom>
          <a:solidFill>
            <a:srgbClr val="FDFCF9"/>
          </a:solidFill>
          <a:ln w="6350">
            <a:solidFill>
              <a:srgbClr val="DDD7CB"/>
            </a:solidFill>
            <a:prstDash val="solid"/>
          </a:ln>
        </p:spPr>
      </p:sp>
      <p:sp>
        <p:nvSpPr>
          <p:cNvPr id="6" name="Text 4"/>
          <p:cNvSpPr/>
          <p:nvPr/>
        </p:nvSpPr>
        <p:spPr>
          <a:xfrm>
            <a:off x="919480" y="228028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01</a:t>
            </a:r>
            <a:endParaRPr lang="en-US" sz="1200" dirty="0"/>
          </a:p>
        </p:txBody>
      </p:sp>
      <p:sp>
        <p:nvSpPr>
          <p:cNvPr id="7" name="Text 5"/>
          <p:cNvSpPr/>
          <p:nvPr/>
        </p:nvSpPr>
        <p:spPr>
          <a:xfrm>
            <a:off x="1300480" y="2263142"/>
            <a:ext cx="97377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Ownership</a:t>
            </a:r>
            <a:endParaRPr lang="en-US" sz="1500" dirty="0"/>
          </a:p>
        </p:txBody>
      </p:sp>
      <p:sp>
        <p:nvSpPr>
          <p:cNvPr id="8" name="Shape 6"/>
          <p:cNvSpPr/>
          <p:nvPr/>
        </p:nvSpPr>
        <p:spPr>
          <a:xfrm>
            <a:off x="815975" y="2658746"/>
            <a:ext cx="2940050" cy="378460"/>
          </a:xfrm>
          <a:prstGeom prst="roundRect">
            <a:avLst>
              <a:gd name="adj" fmla="val 15940"/>
            </a:avLst>
          </a:prstGeom>
          <a:solidFill>
            <a:srgbClr val="FDFCF9"/>
          </a:solidFill>
          <a:ln w="6350">
            <a:solidFill>
              <a:srgbClr val="DDD7CB"/>
            </a:solidFill>
            <a:prstDash val="solid"/>
          </a:ln>
        </p:spPr>
      </p:sp>
      <p:sp>
        <p:nvSpPr>
          <p:cNvPr id="9" name="Text 7"/>
          <p:cNvSpPr/>
          <p:nvPr/>
        </p:nvSpPr>
        <p:spPr>
          <a:xfrm>
            <a:off x="919480" y="2741296"/>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02</a:t>
            </a:r>
            <a:endParaRPr lang="en-US" sz="1200" dirty="0"/>
          </a:p>
        </p:txBody>
      </p:sp>
      <p:sp>
        <p:nvSpPr>
          <p:cNvPr id="10" name="Text 8"/>
          <p:cNvSpPr/>
          <p:nvPr/>
        </p:nvSpPr>
        <p:spPr>
          <a:xfrm>
            <a:off x="1300480" y="2724150"/>
            <a:ext cx="176127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Scope &amp; boundaries</a:t>
            </a:r>
            <a:endParaRPr lang="en-US" sz="1500" dirty="0"/>
          </a:p>
        </p:txBody>
      </p:sp>
      <p:sp>
        <p:nvSpPr>
          <p:cNvPr id="11" name="Shape 9"/>
          <p:cNvSpPr/>
          <p:nvPr/>
        </p:nvSpPr>
        <p:spPr>
          <a:xfrm>
            <a:off x="815975" y="3119754"/>
            <a:ext cx="2940050" cy="378460"/>
          </a:xfrm>
          <a:prstGeom prst="roundRect">
            <a:avLst>
              <a:gd name="adj" fmla="val 15940"/>
            </a:avLst>
          </a:prstGeom>
          <a:solidFill>
            <a:srgbClr val="FDFCF9"/>
          </a:solidFill>
          <a:ln w="6350">
            <a:solidFill>
              <a:srgbClr val="DDD7CB"/>
            </a:solidFill>
            <a:prstDash val="solid"/>
          </a:ln>
        </p:spPr>
      </p:sp>
      <p:sp>
        <p:nvSpPr>
          <p:cNvPr id="12" name="Text 10"/>
          <p:cNvSpPr/>
          <p:nvPr/>
        </p:nvSpPr>
        <p:spPr>
          <a:xfrm>
            <a:off x="919480" y="3202304"/>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03</a:t>
            </a:r>
            <a:endParaRPr lang="en-US" sz="1200" dirty="0"/>
          </a:p>
        </p:txBody>
      </p:sp>
      <p:sp>
        <p:nvSpPr>
          <p:cNvPr id="13" name="Text 11"/>
          <p:cNvSpPr/>
          <p:nvPr/>
        </p:nvSpPr>
        <p:spPr>
          <a:xfrm>
            <a:off x="1300480" y="3185164"/>
            <a:ext cx="148304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Process &amp; timing</a:t>
            </a:r>
            <a:endParaRPr lang="en-US" sz="1500" dirty="0"/>
          </a:p>
        </p:txBody>
      </p:sp>
      <p:sp>
        <p:nvSpPr>
          <p:cNvPr id="14" name="Shape 12"/>
          <p:cNvSpPr/>
          <p:nvPr/>
        </p:nvSpPr>
        <p:spPr>
          <a:xfrm>
            <a:off x="815975" y="3580767"/>
            <a:ext cx="2940050" cy="378460"/>
          </a:xfrm>
          <a:prstGeom prst="roundRect">
            <a:avLst>
              <a:gd name="adj" fmla="val 15940"/>
            </a:avLst>
          </a:prstGeom>
          <a:solidFill>
            <a:srgbClr val="FDFCF9"/>
          </a:solidFill>
          <a:ln w="6350">
            <a:solidFill>
              <a:srgbClr val="DDD7CB"/>
            </a:solidFill>
            <a:prstDash val="solid"/>
          </a:ln>
        </p:spPr>
      </p:sp>
      <p:sp>
        <p:nvSpPr>
          <p:cNvPr id="15" name="Text 13"/>
          <p:cNvSpPr/>
          <p:nvPr/>
        </p:nvSpPr>
        <p:spPr>
          <a:xfrm>
            <a:off x="919480" y="3663317"/>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04</a:t>
            </a:r>
            <a:endParaRPr lang="en-US" sz="1200" dirty="0"/>
          </a:p>
        </p:txBody>
      </p:sp>
      <p:sp>
        <p:nvSpPr>
          <p:cNvPr id="16" name="Text 14"/>
          <p:cNvSpPr/>
          <p:nvPr/>
        </p:nvSpPr>
        <p:spPr>
          <a:xfrm>
            <a:off x="1300480" y="3646171"/>
            <a:ext cx="1293257"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Business rules</a:t>
            </a:r>
            <a:endParaRPr lang="en-US" sz="1500" dirty="0"/>
          </a:p>
        </p:txBody>
      </p:sp>
      <p:sp>
        <p:nvSpPr>
          <p:cNvPr id="17" name="Shape 15"/>
          <p:cNvSpPr/>
          <p:nvPr/>
        </p:nvSpPr>
        <p:spPr>
          <a:xfrm>
            <a:off x="815975" y="4041775"/>
            <a:ext cx="2940050" cy="378460"/>
          </a:xfrm>
          <a:prstGeom prst="roundRect">
            <a:avLst>
              <a:gd name="adj" fmla="val 15940"/>
            </a:avLst>
          </a:prstGeom>
          <a:solidFill>
            <a:srgbClr val="FDFCF9"/>
          </a:solidFill>
          <a:ln w="6350">
            <a:solidFill>
              <a:srgbClr val="DDD7CB"/>
            </a:solidFill>
            <a:prstDash val="solid"/>
          </a:ln>
        </p:spPr>
      </p:sp>
      <p:sp>
        <p:nvSpPr>
          <p:cNvPr id="18" name="Text 16"/>
          <p:cNvSpPr/>
          <p:nvPr/>
        </p:nvSpPr>
        <p:spPr>
          <a:xfrm>
            <a:off x="919480" y="4124325"/>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05</a:t>
            </a:r>
            <a:endParaRPr lang="en-US" sz="1200" dirty="0"/>
          </a:p>
        </p:txBody>
      </p:sp>
      <p:sp>
        <p:nvSpPr>
          <p:cNvPr id="19" name="Text 17"/>
          <p:cNvSpPr/>
          <p:nvPr/>
        </p:nvSpPr>
        <p:spPr>
          <a:xfrm>
            <a:off x="1300480" y="4107179"/>
            <a:ext cx="134127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Error scenarios</a:t>
            </a:r>
            <a:endParaRPr lang="en-US" sz="1500" dirty="0"/>
          </a:p>
        </p:txBody>
      </p:sp>
      <p:sp>
        <p:nvSpPr>
          <p:cNvPr id="20" name="Shape 18"/>
          <p:cNvSpPr/>
          <p:nvPr/>
        </p:nvSpPr>
        <p:spPr>
          <a:xfrm>
            <a:off x="815975" y="4502789"/>
            <a:ext cx="2940050" cy="378460"/>
          </a:xfrm>
          <a:prstGeom prst="roundRect">
            <a:avLst>
              <a:gd name="adj" fmla="val 15940"/>
            </a:avLst>
          </a:prstGeom>
          <a:solidFill>
            <a:srgbClr val="FDFCF9"/>
          </a:solidFill>
          <a:ln w="6350">
            <a:solidFill>
              <a:srgbClr val="DDD7CB"/>
            </a:solidFill>
            <a:prstDash val="solid"/>
          </a:ln>
        </p:spPr>
      </p:sp>
      <p:sp>
        <p:nvSpPr>
          <p:cNvPr id="21" name="Text 19"/>
          <p:cNvSpPr/>
          <p:nvPr/>
        </p:nvSpPr>
        <p:spPr>
          <a:xfrm>
            <a:off x="919480" y="458533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06</a:t>
            </a:r>
            <a:endParaRPr lang="en-US" sz="1200" dirty="0"/>
          </a:p>
        </p:txBody>
      </p:sp>
      <p:sp>
        <p:nvSpPr>
          <p:cNvPr id="22" name="Text 20"/>
          <p:cNvSpPr/>
          <p:nvPr/>
        </p:nvSpPr>
        <p:spPr>
          <a:xfrm>
            <a:off x="1300480" y="4568192"/>
            <a:ext cx="172172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Recorded decisions</a:t>
            </a:r>
            <a:endParaRPr lang="en-US" sz="1500" dirty="0"/>
          </a:p>
        </p:txBody>
      </p:sp>
      <p:sp>
        <p:nvSpPr>
          <p:cNvPr id="23" name="Shape 21"/>
          <p:cNvSpPr/>
          <p:nvPr/>
        </p:nvSpPr>
        <p:spPr>
          <a:xfrm>
            <a:off x="3838575" y="2197739"/>
            <a:ext cx="2940050" cy="378460"/>
          </a:xfrm>
          <a:prstGeom prst="roundRect">
            <a:avLst>
              <a:gd name="adj" fmla="val 15940"/>
            </a:avLst>
          </a:prstGeom>
          <a:solidFill>
            <a:srgbClr val="FDFCF9"/>
          </a:solidFill>
          <a:ln w="6350">
            <a:solidFill>
              <a:srgbClr val="DDD7CB"/>
            </a:solidFill>
            <a:prstDash val="solid"/>
          </a:ln>
        </p:spPr>
      </p:sp>
      <p:sp>
        <p:nvSpPr>
          <p:cNvPr id="24" name="Text 22"/>
          <p:cNvSpPr/>
          <p:nvPr/>
        </p:nvSpPr>
        <p:spPr>
          <a:xfrm>
            <a:off x="3942080" y="228028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07</a:t>
            </a:r>
            <a:endParaRPr lang="en-US" sz="1200" dirty="0"/>
          </a:p>
        </p:txBody>
      </p:sp>
      <p:sp>
        <p:nvSpPr>
          <p:cNvPr id="25" name="Text 23"/>
          <p:cNvSpPr/>
          <p:nvPr/>
        </p:nvSpPr>
        <p:spPr>
          <a:xfrm>
            <a:off x="4323080" y="2263142"/>
            <a:ext cx="135516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Decision tables</a:t>
            </a:r>
            <a:endParaRPr lang="en-US" sz="1500" dirty="0"/>
          </a:p>
        </p:txBody>
      </p:sp>
      <p:sp>
        <p:nvSpPr>
          <p:cNvPr id="26" name="Shape 24"/>
          <p:cNvSpPr/>
          <p:nvPr/>
        </p:nvSpPr>
        <p:spPr>
          <a:xfrm>
            <a:off x="3838575" y="2658746"/>
            <a:ext cx="2940050" cy="378460"/>
          </a:xfrm>
          <a:prstGeom prst="roundRect">
            <a:avLst>
              <a:gd name="adj" fmla="val 15940"/>
            </a:avLst>
          </a:prstGeom>
          <a:solidFill>
            <a:srgbClr val="FDFCF9"/>
          </a:solidFill>
          <a:ln w="6350">
            <a:solidFill>
              <a:srgbClr val="DDD7CB"/>
            </a:solidFill>
            <a:prstDash val="solid"/>
          </a:ln>
        </p:spPr>
      </p:sp>
      <p:sp>
        <p:nvSpPr>
          <p:cNvPr id="27" name="Text 25"/>
          <p:cNvSpPr/>
          <p:nvPr/>
        </p:nvSpPr>
        <p:spPr>
          <a:xfrm>
            <a:off x="3942080" y="2741296"/>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08</a:t>
            </a:r>
            <a:endParaRPr lang="en-US" sz="1200" dirty="0"/>
          </a:p>
        </p:txBody>
      </p:sp>
      <p:sp>
        <p:nvSpPr>
          <p:cNvPr id="28" name="Text 26"/>
          <p:cNvSpPr/>
          <p:nvPr/>
        </p:nvSpPr>
        <p:spPr>
          <a:xfrm>
            <a:off x="4323080" y="2724150"/>
            <a:ext cx="17346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Recovery &amp; fallback</a:t>
            </a:r>
            <a:endParaRPr lang="en-US" sz="1500" dirty="0"/>
          </a:p>
        </p:txBody>
      </p:sp>
      <p:sp>
        <p:nvSpPr>
          <p:cNvPr id="29" name="Shape 27"/>
          <p:cNvSpPr/>
          <p:nvPr/>
        </p:nvSpPr>
        <p:spPr>
          <a:xfrm>
            <a:off x="3838575" y="3119754"/>
            <a:ext cx="2940050" cy="378460"/>
          </a:xfrm>
          <a:prstGeom prst="roundRect">
            <a:avLst>
              <a:gd name="adj" fmla="val 15940"/>
            </a:avLst>
          </a:prstGeom>
          <a:solidFill>
            <a:srgbClr val="FDFCF9"/>
          </a:solidFill>
          <a:ln w="6350">
            <a:solidFill>
              <a:srgbClr val="DDD7CB"/>
            </a:solidFill>
            <a:prstDash val="solid"/>
          </a:ln>
        </p:spPr>
      </p:sp>
      <p:sp>
        <p:nvSpPr>
          <p:cNvPr id="30" name="Text 28"/>
          <p:cNvSpPr/>
          <p:nvPr/>
        </p:nvSpPr>
        <p:spPr>
          <a:xfrm>
            <a:off x="3942080" y="3202304"/>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09</a:t>
            </a:r>
            <a:endParaRPr lang="en-US" sz="1200" dirty="0"/>
          </a:p>
        </p:txBody>
      </p:sp>
      <p:sp>
        <p:nvSpPr>
          <p:cNvPr id="31" name="Text 29"/>
          <p:cNvSpPr/>
          <p:nvPr/>
        </p:nvSpPr>
        <p:spPr>
          <a:xfrm>
            <a:off x="4323080" y="3185164"/>
            <a:ext cx="181090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Reporting &amp; visibility</a:t>
            </a:r>
            <a:endParaRPr lang="en-US" sz="1500" dirty="0"/>
          </a:p>
        </p:txBody>
      </p:sp>
      <p:sp>
        <p:nvSpPr>
          <p:cNvPr id="32" name="Shape 30"/>
          <p:cNvSpPr/>
          <p:nvPr/>
        </p:nvSpPr>
        <p:spPr>
          <a:xfrm>
            <a:off x="3838575" y="3580767"/>
            <a:ext cx="2940050" cy="378460"/>
          </a:xfrm>
          <a:prstGeom prst="roundRect">
            <a:avLst>
              <a:gd name="adj" fmla="val 15940"/>
            </a:avLst>
          </a:prstGeom>
          <a:solidFill>
            <a:srgbClr val="FDFCF9"/>
          </a:solidFill>
          <a:ln w="6350">
            <a:solidFill>
              <a:srgbClr val="DDD7CB"/>
            </a:solidFill>
            <a:prstDash val="solid"/>
          </a:ln>
        </p:spPr>
      </p:sp>
      <p:sp>
        <p:nvSpPr>
          <p:cNvPr id="33" name="Text 31"/>
          <p:cNvSpPr/>
          <p:nvPr/>
        </p:nvSpPr>
        <p:spPr>
          <a:xfrm>
            <a:off x="3942080" y="3663317"/>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10</a:t>
            </a:r>
            <a:endParaRPr lang="en-US" sz="1200" dirty="0"/>
          </a:p>
        </p:txBody>
      </p:sp>
      <p:sp>
        <p:nvSpPr>
          <p:cNvPr id="34" name="Text 32"/>
          <p:cNvSpPr/>
          <p:nvPr/>
        </p:nvSpPr>
        <p:spPr>
          <a:xfrm>
            <a:off x="4323080" y="3646171"/>
            <a:ext cx="97567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Regulatory</a:t>
            </a:r>
            <a:endParaRPr lang="en-US" sz="1500" dirty="0"/>
          </a:p>
        </p:txBody>
      </p:sp>
      <p:sp>
        <p:nvSpPr>
          <p:cNvPr id="35" name="Shape 33"/>
          <p:cNvSpPr/>
          <p:nvPr/>
        </p:nvSpPr>
        <p:spPr>
          <a:xfrm>
            <a:off x="3838575" y="4041775"/>
            <a:ext cx="2940050" cy="378460"/>
          </a:xfrm>
          <a:prstGeom prst="roundRect">
            <a:avLst>
              <a:gd name="adj" fmla="val 15940"/>
            </a:avLst>
          </a:prstGeom>
          <a:solidFill>
            <a:srgbClr val="FDFCF9"/>
          </a:solidFill>
          <a:ln w="6350">
            <a:solidFill>
              <a:srgbClr val="DDD7CB"/>
            </a:solidFill>
            <a:prstDash val="solid"/>
          </a:ln>
        </p:spPr>
      </p:sp>
      <p:sp>
        <p:nvSpPr>
          <p:cNvPr id="36" name="Text 34"/>
          <p:cNvSpPr/>
          <p:nvPr/>
        </p:nvSpPr>
        <p:spPr>
          <a:xfrm>
            <a:off x="3942080" y="4124325"/>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11</a:t>
            </a:r>
            <a:endParaRPr lang="en-US" sz="1200" dirty="0"/>
          </a:p>
        </p:txBody>
      </p:sp>
      <p:sp>
        <p:nvSpPr>
          <p:cNvPr id="37" name="Text 35"/>
          <p:cNvSpPr/>
          <p:nvPr/>
        </p:nvSpPr>
        <p:spPr>
          <a:xfrm>
            <a:off x="4323080" y="4107179"/>
            <a:ext cx="74747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Risk tier</a:t>
            </a:r>
            <a:endParaRPr lang="en-US" sz="1500" dirty="0"/>
          </a:p>
        </p:txBody>
      </p:sp>
      <p:sp>
        <p:nvSpPr>
          <p:cNvPr id="38" name="Shape 36"/>
          <p:cNvSpPr/>
          <p:nvPr/>
        </p:nvSpPr>
        <p:spPr>
          <a:xfrm>
            <a:off x="3838575" y="4502789"/>
            <a:ext cx="2940050" cy="378460"/>
          </a:xfrm>
          <a:prstGeom prst="roundRect">
            <a:avLst>
              <a:gd name="adj" fmla="val 15940"/>
            </a:avLst>
          </a:prstGeom>
          <a:solidFill>
            <a:srgbClr val="FDFCF9"/>
          </a:solidFill>
          <a:ln w="6350">
            <a:solidFill>
              <a:srgbClr val="DDD7CB"/>
            </a:solidFill>
            <a:prstDash val="solid"/>
          </a:ln>
        </p:spPr>
      </p:sp>
      <p:sp>
        <p:nvSpPr>
          <p:cNvPr id="39" name="Text 37"/>
          <p:cNvSpPr/>
          <p:nvPr/>
        </p:nvSpPr>
        <p:spPr>
          <a:xfrm>
            <a:off x="3942080" y="458533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12</a:t>
            </a:r>
            <a:endParaRPr lang="en-US" sz="1200" dirty="0"/>
          </a:p>
        </p:txBody>
      </p:sp>
      <p:sp>
        <p:nvSpPr>
          <p:cNvPr id="40" name="Text 38"/>
          <p:cNvSpPr/>
          <p:nvPr/>
        </p:nvSpPr>
        <p:spPr>
          <a:xfrm>
            <a:off x="4323080" y="4568192"/>
            <a:ext cx="92884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Non-goals</a:t>
            </a:r>
            <a:endParaRPr lang="en-US" sz="1500" dirty="0"/>
          </a:p>
        </p:txBody>
      </p:sp>
      <p:sp>
        <p:nvSpPr>
          <p:cNvPr id="41" name="Text 39"/>
          <p:cNvSpPr/>
          <p:nvPr/>
        </p:nvSpPr>
        <p:spPr>
          <a:xfrm>
            <a:off x="812800" y="4986021"/>
            <a:ext cx="614807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As answers land, the tool auto-drafts the spec: business brief, decision rules, domain model, decision tables, process flow, verification requirements and open gaps.</a:t>
            </a:r>
            <a:endParaRPr lang="en-US" sz="1200" dirty="0"/>
          </a:p>
        </p:txBody>
      </p:sp>
      <p:sp>
        <p:nvSpPr>
          <p:cNvPr id="42" name="Text 40"/>
          <p:cNvSpPr/>
          <p:nvPr/>
        </p:nvSpPr>
        <p:spPr>
          <a:xfrm>
            <a:off x="7188200" y="1879600"/>
            <a:ext cx="431673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THE AI PROPOSES; THE USER DECIDES</a:t>
            </a:r>
            <a:endParaRPr lang="en-US" sz="1200" dirty="0"/>
          </a:p>
        </p:txBody>
      </p:sp>
      <p:sp>
        <p:nvSpPr>
          <p:cNvPr id="43" name="Shape 41"/>
          <p:cNvSpPr/>
          <p:nvPr/>
        </p:nvSpPr>
        <p:spPr>
          <a:xfrm>
            <a:off x="7191375" y="2172339"/>
            <a:ext cx="4184650" cy="684530"/>
          </a:xfrm>
          <a:prstGeom prst="roundRect">
            <a:avLst>
              <a:gd name="adj" fmla="val 8813"/>
            </a:avLst>
          </a:prstGeom>
          <a:solidFill>
            <a:srgbClr val="FDFCF9"/>
          </a:solidFill>
          <a:ln w="6350">
            <a:solidFill>
              <a:srgbClr val="DDD7CB"/>
            </a:solidFill>
            <a:prstDash val="solid"/>
          </a:ln>
        </p:spPr>
      </p:sp>
      <p:sp>
        <p:nvSpPr>
          <p:cNvPr id="44" name="Text 42"/>
          <p:cNvSpPr/>
          <p:nvPr/>
        </p:nvSpPr>
        <p:spPr>
          <a:xfrm>
            <a:off x="7345680" y="2301242"/>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Answer</a:t>
            </a:r>
            <a:endParaRPr lang="en-US" sz="1500" dirty="0"/>
          </a:p>
        </p:txBody>
      </p:sp>
      <p:sp>
        <p:nvSpPr>
          <p:cNvPr id="45" name="Text 43"/>
          <p:cNvSpPr/>
          <p:nvPr/>
        </p:nvSpPr>
        <p:spPr>
          <a:xfrm>
            <a:off x="8361680" y="2301242"/>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Confirm or refine the proposed answer; the ladder moves forward.</a:t>
            </a:r>
            <a:endParaRPr lang="en-US" sz="1200" dirty="0"/>
          </a:p>
        </p:txBody>
      </p:sp>
      <p:sp>
        <p:nvSpPr>
          <p:cNvPr id="46" name="Shape 44"/>
          <p:cNvSpPr/>
          <p:nvPr/>
        </p:nvSpPr>
        <p:spPr>
          <a:xfrm>
            <a:off x="7191375" y="2939417"/>
            <a:ext cx="4184650" cy="684530"/>
          </a:xfrm>
          <a:prstGeom prst="roundRect">
            <a:avLst>
              <a:gd name="adj" fmla="val 8813"/>
            </a:avLst>
          </a:prstGeom>
          <a:solidFill>
            <a:srgbClr val="FDFCF9"/>
          </a:solidFill>
          <a:ln w="6350">
            <a:solidFill>
              <a:srgbClr val="DDD7CB"/>
            </a:solidFill>
            <a:prstDash val="solid"/>
          </a:ln>
        </p:spPr>
      </p:sp>
      <p:sp>
        <p:nvSpPr>
          <p:cNvPr id="47" name="Text 45"/>
          <p:cNvSpPr/>
          <p:nvPr/>
        </p:nvSpPr>
        <p:spPr>
          <a:xfrm>
            <a:off x="7345680" y="3068321"/>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Defer</a:t>
            </a:r>
            <a:endParaRPr lang="en-US" sz="1500" dirty="0"/>
          </a:p>
        </p:txBody>
      </p:sp>
      <p:sp>
        <p:nvSpPr>
          <p:cNvPr id="48" name="Text 46"/>
          <p:cNvSpPr/>
          <p:nvPr/>
        </p:nvSpPr>
        <p:spPr>
          <a:xfrm>
            <a:off x="8361680" y="3068321"/>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Skip a hard question now and resume it later.</a:t>
            </a:r>
            <a:endParaRPr lang="en-US" sz="1200" dirty="0"/>
          </a:p>
        </p:txBody>
      </p:sp>
      <p:sp>
        <p:nvSpPr>
          <p:cNvPr id="49" name="Shape 47"/>
          <p:cNvSpPr/>
          <p:nvPr/>
        </p:nvSpPr>
        <p:spPr>
          <a:xfrm>
            <a:off x="7191375" y="3706496"/>
            <a:ext cx="4184650" cy="684530"/>
          </a:xfrm>
          <a:prstGeom prst="roundRect">
            <a:avLst>
              <a:gd name="adj" fmla="val 8813"/>
            </a:avLst>
          </a:prstGeom>
          <a:solidFill>
            <a:srgbClr val="FDFCF9"/>
          </a:solidFill>
          <a:ln w="6350">
            <a:solidFill>
              <a:srgbClr val="DDD7CB"/>
            </a:solidFill>
            <a:prstDash val="solid"/>
          </a:ln>
        </p:spPr>
      </p:sp>
      <p:sp>
        <p:nvSpPr>
          <p:cNvPr id="50" name="Text 48"/>
          <p:cNvSpPr/>
          <p:nvPr/>
        </p:nvSpPr>
        <p:spPr>
          <a:xfrm>
            <a:off x="7345680" y="3835400"/>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Contest</a:t>
            </a:r>
            <a:endParaRPr lang="en-US" sz="1500" dirty="0"/>
          </a:p>
        </p:txBody>
      </p:sp>
      <p:sp>
        <p:nvSpPr>
          <p:cNvPr id="51" name="Text 49"/>
          <p:cNvSpPr/>
          <p:nvPr/>
        </p:nvSpPr>
        <p:spPr>
          <a:xfrm>
            <a:off x="8361680" y="3835400"/>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Reject it and supply the right answer; saved as a correction.</a:t>
            </a:r>
            <a:endParaRPr lang="en-US" sz="1200" dirty="0"/>
          </a:p>
        </p:txBody>
      </p:sp>
      <p:sp>
        <p:nvSpPr>
          <p:cNvPr id="52" name="Shape 50"/>
          <p:cNvSpPr/>
          <p:nvPr/>
        </p:nvSpPr>
        <p:spPr>
          <a:xfrm>
            <a:off x="7191375" y="4473575"/>
            <a:ext cx="4184650" cy="684530"/>
          </a:xfrm>
          <a:prstGeom prst="roundRect">
            <a:avLst>
              <a:gd name="adj" fmla="val 8813"/>
            </a:avLst>
          </a:prstGeom>
          <a:solidFill>
            <a:srgbClr val="FDFCF9"/>
          </a:solidFill>
          <a:ln w="6350">
            <a:solidFill>
              <a:srgbClr val="DDD7CB"/>
            </a:solidFill>
            <a:prstDash val="solid"/>
          </a:ln>
        </p:spPr>
      </p:sp>
      <p:sp>
        <p:nvSpPr>
          <p:cNvPr id="53" name="Text 51"/>
          <p:cNvSpPr/>
          <p:nvPr/>
        </p:nvSpPr>
        <p:spPr>
          <a:xfrm>
            <a:off x="7345680" y="4602479"/>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Flag</a:t>
            </a:r>
            <a:endParaRPr lang="en-US" sz="1500" dirty="0"/>
          </a:p>
        </p:txBody>
      </p:sp>
      <p:sp>
        <p:nvSpPr>
          <p:cNvPr id="54" name="Text 52"/>
          <p:cNvSpPr/>
          <p:nvPr/>
        </p:nvSpPr>
        <p:spPr>
          <a:xfrm>
            <a:off x="8361680" y="4602479"/>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Flag a flawed question; kept as a cross-session learning.</a:t>
            </a:r>
            <a:endParaRPr lang="en-US" sz="1200" dirty="0"/>
          </a:p>
        </p:txBody>
      </p:sp>
      <p:sp>
        <p:nvSpPr>
          <p:cNvPr id="55" name="Text 5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56" name="Text 5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09 / 20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END-TO-END FLOW</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From conversation to approved specification</a:t>
            </a:r>
            <a:endParaRPr lang="en-US" sz="3200" dirty="0"/>
          </a:p>
        </p:txBody>
      </p:sp>
      <p:sp>
        <p:nvSpPr>
          <p:cNvPr id="4" name="Shape 2"/>
          <p:cNvSpPr/>
          <p:nvPr/>
        </p:nvSpPr>
        <p:spPr>
          <a:xfrm>
            <a:off x="815975" y="1882775"/>
            <a:ext cx="5175250" cy="655320"/>
          </a:xfrm>
          <a:prstGeom prst="roundRect">
            <a:avLst>
              <a:gd name="adj" fmla="val 11143"/>
            </a:avLst>
          </a:prstGeom>
          <a:solidFill>
            <a:srgbClr val="F7ECE8"/>
          </a:solidFill>
          <a:ln w="6350">
            <a:solidFill>
              <a:srgbClr val="E3C2B6"/>
            </a:solidFill>
            <a:prstDash val="solid"/>
          </a:ln>
        </p:spPr>
      </p:sp>
      <p:sp>
        <p:nvSpPr>
          <p:cNvPr id="5" name="Text 3"/>
          <p:cNvSpPr/>
          <p:nvPr/>
        </p:nvSpPr>
        <p:spPr>
          <a:xfrm>
            <a:off x="944880" y="205803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1</a:t>
            </a:r>
            <a:endParaRPr lang="en-US" sz="1200" dirty="0"/>
          </a:p>
        </p:txBody>
      </p:sp>
      <p:sp>
        <p:nvSpPr>
          <p:cNvPr id="6" name="Text 4"/>
          <p:cNvSpPr/>
          <p:nvPr/>
        </p:nvSpPr>
        <p:spPr>
          <a:xfrm>
            <a:off x="1376680" y="1973579"/>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Create a session</a:t>
            </a:r>
            <a:endParaRPr lang="en-US" sz="1500" dirty="0"/>
          </a:p>
        </p:txBody>
      </p:sp>
      <p:sp>
        <p:nvSpPr>
          <p:cNvPr id="7" name="Text 5"/>
          <p:cNvSpPr/>
          <p:nvPr/>
        </p:nvSpPr>
        <p:spPr>
          <a:xfrm>
            <a:off x="1376680" y="2233929"/>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BSA or engineer opens one feature</a:t>
            </a:r>
            <a:endParaRPr lang="en-US" sz="1200" dirty="0"/>
          </a:p>
        </p:txBody>
      </p:sp>
      <p:sp>
        <p:nvSpPr>
          <p:cNvPr id="8" name="Text 6"/>
          <p:cNvSpPr/>
          <p:nvPr/>
        </p:nvSpPr>
        <p:spPr>
          <a:xfrm>
            <a:off x="5124371" y="2078354"/>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9" name="Shape 7"/>
          <p:cNvSpPr/>
          <p:nvPr/>
        </p:nvSpPr>
        <p:spPr>
          <a:xfrm>
            <a:off x="815975" y="2633346"/>
            <a:ext cx="5175250" cy="655320"/>
          </a:xfrm>
          <a:prstGeom prst="roundRect">
            <a:avLst>
              <a:gd name="adj" fmla="val 11143"/>
            </a:avLst>
          </a:prstGeom>
          <a:solidFill>
            <a:srgbClr val="FDFCF9"/>
          </a:solidFill>
          <a:ln w="6350">
            <a:solidFill>
              <a:srgbClr val="DDD7CB"/>
            </a:solidFill>
            <a:prstDash val="solid"/>
          </a:ln>
        </p:spPr>
      </p:sp>
      <p:sp>
        <p:nvSpPr>
          <p:cNvPr id="10" name="Text 8"/>
          <p:cNvSpPr/>
          <p:nvPr/>
        </p:nvSpPr>
        <p:spPr>
          <a:xfrm>
            <a:off x="944880" y="2808604"/>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2</a:t>
            </a:r>
            <a:endParaRPr lang="en-US" sz="1200" dirty="0"/>
          </a:p>
        </p:txBody>
      </p:sp>
      <p:sp>
        <p:nvSpPr>
          <p:cNvPr id="11" name="Text 9"/>
          <p:cNvSpPr/>
          <p:nvPr/>
        </p:nvSpPr>
        <p:spPr>
          <a:xfrm>
            <a:off x="1376680" y="2724150"/>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Interrogate</a:t>
            </a:r>
            <a:endParaRPr lang="en-US" sz="1500" dirty="0"/>
          </a:p>
        </p:txBody>
      </p:sp>
      <p:sp>
        <p:nvSpPr>
          <p:cNvPr id="12" name="Text 10"/>
          <p:cNvSpPr/>
          <p:nvPr/>
        </p:nvSpPr>
        <p:spPr>
          <a:xfrm>
            <a:off x="1376680" y="2984500"/>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One closed question at a time, 12 rungs</a:t>
            </a:r>
            <a:endParaRPr lang="en-US" sz="1200" dirty="0"/>
          </a:p>
        </p:txBody>
      </p:sp>
      <p:sp>
        <p:nvSpPr>
          <p:cNvPr id="13" name="Text 11"/>
          <p:cNvSpPr/>
          <p:nvPr/>
        </p:nvSpPr>
        <p:spPr>
          <a:xfrm>
            <a:off x="5466795" y="2828925"/>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14" name="Shape 12"/>
          <p:cNvSpPr/>
          <p:nvPr/>
        </p:nvSpPr>
        <p:spPr>
          <a:xfrm>
            <a:off x="815975" y="3383917"/>
            <a:ext cx="5175250" cy="655320"/>
          </a:xfrm>
          <a:prstGeom prst="roundRect">
            <a:avLst>
              <a:gd name="adj" fmla="val 11143"/>
            </a:avLst>
          </a:prstGeom>
          <a:solidFill>
            <a:srgbClr val="F7ECE8"/>
          </a:solidFill>
          <a:ln w="6350">
            <a:solidFill>
              <a:srgbClr val="E3C2B6"/>
            </a:solidFill>
            <a:prstDash val="solid"/>
          </a:ln>
        </p:spPr>
      </p:sp>
      <p:sp>
        <p:nvSpPr>
          <p:cNvPr id="15" name="Text 13"/>
          <p:cNvSpPr/>
          <p:nvPr/>
        </p:nvSpPr>
        <p:spPr>
          <a:xfrm>
            <a:off x="944880" y="35591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3</a:t>
            </a:r>
            <a:endParaRPr lang="en-US" sz="1200" dirty="0"/>
          </a:p>
        </p:txBody>
      </p:sp>
      <p:sp>
        <p:nvSpPr>
          <p:cNvPr id="16" name="Text 14"/>
          <p:cNvSpPr/>
          <p:nvPr/>
        </p:nvSpPr>
        <p:spPr>
          <a:xfrm>
            <a:off x="1376680" y="3474721"/>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Respond</a:t>
            </a:r>
            <a:endParaRPr lang="en-US" sz="1500" dirty="0"/>
          </a:p>
        </p:txBody>
      </p:sp>
      <p:sp>
        <p:nvSpPr>
          <p:cNvPr id="17" name="Text 15"/>
          <p:cNvSpPr/>
          <p:nvPr/>
        </p:nvSpPr>
        <p:spPr>
          <a:xfrm>
            <a:off x="1376680" y="3735071"/>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Answer, defer, contest or flag</a:t>
            </a:r>
            <a:endParaRPr lang="en-US" sz="1200" dirty="0"/>
          </a:p>
        </p:txBody>
      </p:sp>
      <p:sp>
        <p:nvSpPr>
          <p:cNvPr id="18" name="Text 16"/>
          <p:cNvSpPr/>
          <p:nvPr/>
        </p:nvSpPr>
        <p:spPr>
          <a:xfrm>
            <a:off x="5124371" y="3579496"/>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19" name="Shape 17"/>
          <p:cNvSpPr/>
          <p:nvPr/>
        </p:nvSpPr>
        <p:spPr>
          <a:xfrm>
            <a:off x="815975" y="4134489"/>
            <a:ext cx="5175250" cy="655320"/>
          </a:xfrm>
          <a:prstGeom prst="roundRect">
            <a:avLst>
              <a:gd name="adj" fmla="val 11143"/>
            </a:avLst>
          </a:prstGeom>
          <a:solidFill>
            <a:srgbClr val="FDFCF9"/>
          </a:solidFill>
          <a:ln w="6350">
            <a:solidFill>
              <a:srgbClr val="DDD7CB"/>
            </a:solidFill>
            <a:prstDash val="solid"/>
          </a:ln>
        </p:spPr>
      </p:sp>
      <p:sp>
        <p:nvSpPr>
          <p:cNvPr id="20" name="Text 18"/>
          <p:cNvSpPr/>
          <p:nvPr/>
        </p:nvSpPr>
        <p:spPr>
          <a:xfrm>
            <a:off x="944880" y="430974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4</a:t>
            </a:r>
            <a:endParaRPr lang="en-US" sz="1200" dirty="0"/>
          </a:p>
        </p:txBody>
      </p:sp>
      <p:sp>
        <p:nvSpPr>
          <p:cNvPr id="21" name="Text 19"/>
          <p:cNvSpPr/>
          <p:nvPr/>
        </p:nvSpPr>
        <p:spPr>
          <a:xfrm>
            <a:off x="1376680" y="4225292"/>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Auto-draft</a:t>
            </a:r>
            <a:endParaRPr lang="en-US" sz="1500" dirty="0"/>
          </a:p>
        </p:txBody>
      </p:sp>
      <p:sp>
        <p:nvSpPr>
          <p:cNvPr id="22" name="Text 20"/>
          <p:cNvSpPr/>
          <p:nvPr/>
        </p:nvSpPr>
        <p:spPr>
          <a:xfrm>
            <a:off x="1376680" y="4485642"/>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Spec sections draft as answers land</a:t>
            </a:r>
            <a:endParaRPr lang="en-US" sz="1200" dirty="0"/>
          </a:p>
        </p:txBody>
      </p:sp>
      <p:sp>
        <p:nvSpPr>
          <p:cNvPr id="23" name="Text 21"/>
          <p:cNvSpPr/>
          <p:nvPr/>
        </p:nvSpPr>
        <p:spPr>
          <a:xfrm>
            <a:off x="5466795" y="4330067"/>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24" name="Shape 22"/>
          <p:cNvSpPr/>
          <p:nvPr/>
        </p:nvSpPr>
        <p:spPr>
          <a:xfrm>
            <a:off x="815975" y="4885054"/>
            <a:ext cx="5175250" cy="655320"/>
          </a:xfrm>
          <a:prstGeom prst="roundRect">
            <a:avLst>
              <a:gd name="adj" fmla="val 11143"/>
            </a:avLst>
          </a:prstGeom>
          <a:solidFill>
            <a:srgbClr val="F7ECE8"/>
          </a:solidFill>
          <a:ln w="6350">
            <a:solidFill>
              <a:srgbClr val="E3C2B6"/>
            </a:solidFill>
            <a:prstDash val="solid"/>
          </a:ln>
        </p:spPr>
      </p:sp>
      <p:sp>
        <p:nvSpPr>
          <p:cNvPr id="25" name="Text 23"/>
          <p:cNvSpPr/>
          <p:nvPr/>
        </p:nvSpPr>
        <p:spPr>
          <a:xfrm>
            <a:off x="944880" y="5060317"/>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5</a:t>
            </a:r>
            <a:endParaRPr lang="en-US" sz="1200" dirty="0"/>
          </a:p>
        </p:txBody>
      </p:sp>
      <p:sp>
        <p:nvSpPr>
          <p:cNvPr id="26" name="Text 24"/>
          <p:cNvSpPr/>
          <p:nvPr/>
        </p:nvSpPr>
        <p:spPr>
          <a:xfrm>
            <a:off x="1376680" y="4975864"/>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Confirm the draft</a:t>
            </a:r>
            <a:endParaRPr lang="en-US" sz="1500" dirty="0"/>
          </a:p>
        </p:txBody>
      </p:sp>
      <p:sp>
        <p:nvSpPr>
          <p:cNvPr id="27" name="Text 25"/>
          <p:cNvSpPr/>
          <p:nvPr/>
        </p:nvSpPr>
        <p:spPr>
          <a:xfrm>
            <a:off x="1376680" y="5236214"/>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Human review before modeling begins</a:t>
            </a:r>
            <a:endParaRPr lang="en-US" sz="1200" dirty="0"/>
          </a:p>
        </p:txBody>
      </p:sp>
      <p:sp>
        <p:nvSpPr>
          <p:cNvPr id="28" name="Text 26"/>
          <p:cNvSpPr/>
          <p:nvPr/>
        </p:nvSpPr>
        <p:spPr>
          <a:xfrm>
            <a:off x="5124371" y="5080639"/>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29" name="Shape 27"/>
          <p:cNvSpPr/>
          <p:nvPr/>
        </p:nvSpPr>
        <p:spPr>
          <a:xfrm>
            <a:off x="6200775" y="1882775"/>
            <a:ext cx="5175250" cy="655320"/>
          </a:xfrm>
          <a:prstGeom prst="roundRect">
            <a:avLst>
              <a:gd name="adj" fmla="val 11143"/>
            </a:avLst>
          </a:prstGeom>
          <a:solidFill>
            <a:srgbClr val="FDFCF9"/>
          </a:solidFill>
          <a:ln w="6350">
            <a:solidFill>
              <a:srgbClr val="DDD7CB"/>
            </a:solidFill>
            <a:prstDash val="solid"/>
          </a:ln>
        </p:spPr>
      </p:sp>
      <p:sp>
        <p:nvSpPr>
          <p:cNvPr id="30" name="Text 28"/>
          <p:cNvSpPr/>
          <p:nvPr/>
        </p:nvSpPr>
        <p:spPr>
          <a:xfrm>
            <a:off x="6329680" y="205803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6</a:t>
            </a:r>
            <a:endParaRPr lang="en-US" sz="1200" dirty="0"/>
          </a:p>
        </p:txBody>
      </p:sp>
      <p:sp>
        <p:nvSpPr>
          <p:cNvPr id="31" name="Text 29"/>
          <p:cNvSpPr/>
          <p:nvPr/>
        </p:nvSpPr>
        <p:spPr>
          <a:xfrm>
            <a:off x="6761480" y="1973579"/>
            <a:ext cx="356391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Model and validate</a:t>
            </a:r>
            <a:endParaRPr lang="en-US" sz="1500" dirty="0"/>
          </a:p>
        </p:txBody>
      </p:sp>
      <p:sp>
        <p:nvSpPr>
          <p:cNvPr id="32" name="Text 30"/>
          <p:cNvSpPr/>
          <p:nvPr/>
        </p:nvSpPr>
        <p:spPr>
          <a:xfrm>
            <a:off x="6761480" y="2233929"/>
            <a:ext cx="35639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ESML → DMML → Intent Registry, gated</a:t>
            </a:r>
            <a:endParaRPr lang="en-US" sz="1200" dirty="0"/>
          </a:p>
        </p:txBody>
      </p:sp>
      <p:sp>
        <p:nvSpPr>
          <p:cNvPr id="33" name="Text 31"/>
          <p:cNvSpPr/>
          <p:nvPr/>
        </p:nvSpPr>
        <p:spPr>
          <a:xfrm>
            <a:off x="10348595" y="2078354"/>
            <a:ext cx="898525" cy="264160"/>
          </a:xfrm>
          <a:custGeom>
            <a:avLst/>
            <a:gdLst/>
            <a:ahLst/>
            <a:cxnLst/>
            <a:rect l="l" t="t" r="r" b="b"/>
            <a:pathLst>
              <a:path w="898525" h="264160">
                <a:moveTo>
                  <a:pt x="132080" y="0"/>
                </a:moveTo>
                <a:lnTo>
                  <a:pt x="766445" y="0"/>
                </a:lnTo>
                <a:arcTo hR="132080" wR="132080" stAng="16200000" swAng="5400000"/>
                <a:lnTo>
                  <a:pt x="898525"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 + code</a:t>
            </a:r>
            <a:endParaRPr lang="en-US" sz="1200" dirty="0"/>
          </a:p>
        </p:txBody>
      </p:sp>
      <p:sp>
        <p:nvSpPr>
          <p:cNvPr id="34" name="Shape 32"/>
          <p:cNvSpPr/>
          <p:nvPr/>
        </p:nvSpPr>
        <p:spPr>
          <a:xfrm>
            <a:off x="6200775" y="2633346"/>
            <a:ext cx="5175250" cy="655320"/>
          </a:xfrm>
          <a:prstGeom prst="roundRect">
            <a:avLst>
              <a:gd name="adj" fmla="val 11143"/>
            </a:avLst>
          </a:prstGeom>
          <a:solidFill>
            <a:srgbClr val="FDFCF9"/>
          </a:solidFill>
          <a:ln w="6350">
            <a:solidFill>
              <a:srgbClr val="DDD7CB"/>
            </a:solidFill>
            <a:prstDash val="solid"/>
          </a:ln>
        </p:spPr>
      </p:sp>
      <p:sp>
        <p:nvSpPr>
          <p:cNvPr id="35" name="Text 33"/>
          <p:cNvSpPr/>
          <p:nvPr/>
        </p:nvSpPr>
        <p:spPr>
          <a:xfrm>
            <a:off x="6329680" y="2808604"/>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7</a:t>
            </a:r>
            <a:endParaRPr lang="en-US" sz="1200" dirty="0"/>
          </a:p>
        </p:txBody>
      </p:sp>
      <p:sp>
        <p:nvSpPr>
          <p:cNvPr id="36" name="Text 34"/>
          <p:cNvSpPr/>
          <p:nvPr/>
        </p:nvSpPr>
        <p:spPr>
          <a:xfrm>
            <a:off x="6761480" y="2724150"/>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Red Team challenge</a:t>
            </a:r>
            <a:endParaRPr lang="en-US" sz="1500" dirty="0"/>
          </a:p>
        </p:txBody>
      </p:sp>
      <p:sp>
        <p:nvSpPr>
          <p:cNvPr id="37" name="Text 35"/>
          <p:cNvSpPr/>
          <p:nvPr/>
        </p:nvSpPr>
        <p:spPr>
          <a:xfrm>
            <a:off x="6761480" y="2984500"/>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Separate LLM pass raises findings</a:t>
            </a:r>
            <a:endParaRPr lang="en-US" sz="1200" dirty="0"/>
          </a:p>
        </p:txBody>
      </p:sp>
      <p:sp>
        <p:nvSpPr>
          <p:cNvPr id="38" name="Text 36"/>
          <p:cNvSpPr/>
          <p:nvPr/>
        </p:nvSpPr>
        <p:spPr>
          <a:xfrm>
            <a:off x="10851594" y="2828925"/>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39" name="Shape 37"/>
          <p:cNvSpPr/>
          <p:nvPr/>
        </p:nvSpPr>
        <p:spPr>
          <a:xfrm>
            <a:off x="6200775" y="3383917"/>
            <a:ext cx="5175250" cy="655320"/>
          </a:xfrm>
          <a:prstGeom prst="roundRect">
            <a:avLst>
              <a:gd name="adj" fmla="val 11143"/>
            </a:avLst>
          </a:prstGeom>
          <a:solidFill>
            <a:srgbClr val="F7ECE8"/>
          </a:solidFill>
          <a:ln w="6350">
            <a:solidFill>
              <a:srgbClr val="E3C2B6"/>
            </a:solidFill>
            <a:prstDash val="solid"/>
          </a:ln>
        </p:spPr>
      </p:sp>
      <p:sp>
        <p:nvSpPr>
          <p:cNvPr id="40" name="Text 38"/>
          <p:cNvSpPr/>
          <p:nvPr/>
        </p:nvSpPr>
        <p:spPr>
          <a:xfrm>
            <a:off x="6329680" y="35591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8</a:t>
            </a:r>
            <a:endParaRPr lang="en-US" sz="1200" dirty="0"/>
          </a:p>
        </p:txBody>
      </p:sp>
      <p:sp>
        <p:nvSpPr>
          <p:cNvPr id="41" name="Text 39"/>
          <p:cNvSpPr/>
          <p:nvPr/>
        </p:nvSpPr>
        <p:spPr>
          <a:xfrm>
            <a:off x="6761480" y="3474721"/>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Attest</a:t>
            </a:r>
            <a:endParaRPr lang="en-US" sz="1500" dirty="0"/>
          </a:p>
        </p:txBody>
      </p:sp>
      <p:sp>
        <p:nvSpPr>
          <p:cNvPr id="42" name="Text 40"/>
          <p:cNvSpPr/>
          <p:nvPr/>
        </p:nvSpPr>
        <p:spPr>
          <a:xfrm>
            <a:off x="6761480" y="3735071"/>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IR Author and domain SME approve</a:t>
            </a:r>
            <a:endParaRPr lang="en-US" sz="1200" dirty="0"/>
          </a:p>
        </p:txBody>
      </p:sp>
      <p:sp>
        <p:nvSpPr>
          <p:cNvPr id="43" name="Text 41"/>
          <p:cNvSpPr/>
          <p:nvPr/>
        </p:nvSpPr>
        <p:spPr>
          <a:xfrm>
            <a:off x="10509171" y="3579496"/>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44" name="Shape 42"/>
          <p:cNvSpPr/>
          <p:nvPr/>
        </p:nvSpPr>
        <p:spPr>
          <a:xfrm>
            <a:off x="6200775" y="4134489"/>
            <a:ext cx="5175250" cy="655320"/>
          </a:xfrm>
          <a:prstGeom prst="roundRect">
            <a:avLst>
              <a:gd name="adj" fmla="val 11143"/>
            </a:avLst>
          </a:prstGeom>
          <a:solidFill>
            <a:srgbClr val="FDFCF9"/>
          </a:solidFill>
          <a:ln w="6350">
            <a:solidFill>
              <a:srgbClr val="DDD7CB"/>
            </a:solidFill>
            <a:prstDash val="solid"/>
          </a:ln>
        </p:spPr>
      </p:sp>
      <p:sp>
        <p:nvSpPr>
          <p:cNvPr id="45" name="Text 43"/>
          <p:cNvSpPr/>
          <p:nvPr/>
        </p:nvSpPr>
        <p:spPr>
          <a:xfrm>
            <a:off x="6329680" y="430974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9</a:t>
            </a:r>
            <a:endParaRPr lang="en-US" sz="1200" dirty="0"/>
          </a:p>
        </p:txBody>
      </p:sp>
      <p:sp>
        <p:nvSpPr>
          <p:cNvPr id="46" name="Text 44"/>
          <p:cNvSpPr/>
          <p:nvPr/>
        </p:nvSpPr>
        <p:spPr>
          <a:xfrm>
            <a:off x="6761480" y="4225292"/>
            <a:ext cx="388301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Generate the handoff</a:t>
            </a:r>
            <a:endParaRPr lang="en-US" sz="1500" dirty="0"/>
          </a:p>
        </p:txBody>
      </p:sp>
      <p:sp>
        <p:nvSpPr>
          <p:cNvPr id="47" name="Text 45"/>
          <p:cNvSpPr/>
          <p:nvPr/>
        </p:nvSpPr>
        <p:spPr>
          <a:xfrm>
            <a:off x="6761480" y="4485642"/>
            <a:ext cx="38830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Diagrams and pack from approved models</a:t>
            </a:r>
            <a:endParaRPr lang="en-US" sz="1200" dirty="0"/>
          </a:p>
        </p:txBody>
      </p:sp>
      <p:sp>
        <p:nvSpPr>
          <p:cNvPr id="48" name="Text 46"/>
          <p:cNvSpPr/>
          <p:nvPr/>
        </p:nvSpPr>
        <p:spPr>
          <a:xfrm>
            <a:off x="10658396" y="4330067"/>
            <a:ext cx="588724" cy="264160"/>
          </a:xfrm>
          <a:custGeom>
            <a:avLst/>
            <a:gdLst/>
            <a:ahLst/>
            <a:cxnLst/>
            <a:rect l="l" t="t" r="r" b="b"/>
            <a:pathLst>
              <a:path w="588724" h="264160">
                <a:moveTo>
                  <a:pt x="132080" y="0"/>
                </a:moveTo>
                <a:lnTo>
                  <a:pt x="456644" y="0"/>
                </a:lnTo>
                <a:arcTo hR="132080" wR="132080" stAng="16200000" swAng="5400000"/>
                <a:lnTo>
                  <a:pt x="588724" y="132080"/>
                </a:lnTo>
                <a:arcTo hR="132080" wR="132080" stAng="0" swAng="5400000"/>
                <a:lnTo>
                  <a:pt x="132080" y="264160"/>
                </a:lnTo>
                <a:arcTo hR="132080" wR="132080" stAng="5400000" swAng="5400000"/>
                <a:lnTo>
                  <a:pt x="0" y="132080"/>
                </a:lnTo>
                <a:arcTo hR="132080" wR="132080" stAng="10800000" swAng="5400000"/>
                <a:close/>
              </a:path>
            </a:pathLst>
          </a:custGeom>
          <a:solidFill>
            <a:srgbClr val="13233A"/>
          </a:solidFill>
          <a:ln/>
        </p:spPr>
        <p:txBody>
          <a:bodyPr wrap="none" lIns="0" tIns="0" rIns="0" bIns="0" rtlCol="0" anchor="ctr">
            <a:normAutofit/>
          </a:bodyPr>
          <a:lstStyle/>
          <a:p>
            <a:pPr algn="ct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Code</a:t>
            </a:r>
            <a:endParaRPr lang="en-US" sz="1200" dirty="0"/>
          </a:p>
        </p:txBody>
      </p:sp>
      <p:sp>
        <p:nvSpPr>
          <p:cNvPr id="49" name="Shape 47"/>
          <p:cNvSpPr/>
          <p:nvPr/>
        </p:nvSpPr>
        <p:spPr>
          <a:xfrm>
            <a:off x="6197600" y="4881879"/>
            <a:ext cx="5181600" cy="928370"/>
          </a:xfrm>
          <a:prstGeom prst="roundRect">
            <a:avLst>
              <a:gd name="adj" fmla="val 8208"/>
            </a:avLst>
          </a:prstGeom>
          <a:solidFill>
            <a:srgbClr val="13233A"/>
          </a:solidFill>
          <a:ln/>
        </p:spPr>
      </p:sp>
      <p:sp>
        <p:nvSpPr>
          <p:cNvPr id="50" name="Text 48"/>
          <p:cNvSpPr/>
          <p:nvPr/>
        </p:nvSpPr>
        <p:spPr>
          <a:xfrm>
            <a:off x="6350000" y="4983479"/>
            <a:ext cx="502310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OUTPUT</a:t>
            </a:r>
            <a:endParaRPr lang="en-US" sz="1200" dirty="0"/>
          </a:p>
        </p:txBody>
      </p:sp>
      <p:sp>
        <p:nvSpPr>
          <p:cNvPr id="51" name="Text 49"/>
          <p:cNvSpPr/>
          <p:nvPr/>
        </p:nvSpPr>
        <p:spPr>
          <a:xfrm>
            <a:off x="6350000" y="5222242"/>
            <a:ext cx="502310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Mono" pitchFamily="34" charset="0"/>
                <a:ea typeface="IBM Plex Mono" pitchFamily="34" charset="-122"/>
                <a:cs typeface="IBM Plex Mono" pitchFamily="34" charset="-120"/>
              </a:rPr>
              <a:t>specs/&lt;feature-slug&gt;/</a:t>
            </a:r>
            <a:endParaRPr lang="en-US" sz="1500" dirty="0"/>
          </a:p>
        </p:txBody>
      </p:sp>
      <p:sp>
        <p:nvSpPr>
          <p:cNvPr id="52" name="Text 50"/>
          <p:cNvSpPr/>
          <p:nvPr/>
        </p:nvSpPr>
        <p:spPr>
          <a:xfrm>
            <a:off x="6350000" y="5495292"/>
            <a:ext cx="50231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Versionable Markdown and YAML files</a:t>
            </a:r>
            <a:endParaRPr lang="en-US" sz="1200" dirty="0"/>
          </a:p>
        </p:txBody>
      </p:sp>
      <p:sp>
        <p:nvSpPr>
          <p:cNvPr id="53" name="Text 5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54" name="Text 5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10 / 20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MODELING PIPELINE</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Deterministic gates between every stage</a:t>
            </a:r>
            <a:endParaRPr lang="en-US" sz="3200" dirty="0"/>
          </a:p>
        </p:txBody>
      </p:sp>
      <p:sp>
        <p:nvSpPr>
          <p:cNvPr id="4" name="Shape 2"/>
          <p:cNvSpPr/>
          <p:nvPr/>
        </p:nvSpPr>
        <p:spPr>
          <a:xfrm>
            <a:off x="815975" y="1882775"/>
            <a:ext cx="3075464" cy="1247140"/>
          </a:xfrm>
          <a:prstGeom prst="roundRect">
            <a:avLst>
              <a:gd name="adj" fmla="val 5855"/>
            </a:avLst>
          </a:prstGeom>
          <a:solidFill>
            <a:srgbClr val="FDFCF9"/>
          </a:solidFill>
          <a:ln w="6350">
            <a:solidFill>
              <a:srgbClr val="DDD7CB"/>
            </a:solidFill>
            <a:prstDash val="solid"/>
          </a:ln>
        </p:spPr>
      </p:sp>
      <p:sp>
        <p:nvSpPr>
          <p:cNvPr id="5" name="Text 3"/>
          <p:cNvSpPr/>
          <p:nvPr/>
        </p:nvSpPr>
        <p:spPr>
          <a:xfrm>
            <a:off x="995680" y="2037079"/>
            <a:ext cx="279753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Event Storming (ESML)</a:t>
            </a:r>
            <a:endParaRPr lang="en-US" sz="1500" dirty="0"/>
          </a:p>
        </p:txBody>
      </p:sp>
      <p:sp>
        <p:nvSpPr>
          <p:cNvPr id="6" name="Text 4"/>
          <p:cNvSpPr/>
          <p:nvPr/>
        </p:nvSpPr>
        <p:spPr>
          <a:xfrm>
            <a:off x="995680" y="2335529"/>
            <a:ext cx="279753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Actors, commands, domain events, aggregates, policies, read models, open hotspots</a:t>
            </a:r>
            <a:endParaRPr lang="en-US" sz="1200" dirty="0"/>
          </a:p>
        </p:txBody>
      </p:sp>
      <p:pic>
        <p:nvPicPr>
          <p:cNvPr id="7" name="Image 0" descr="Lock">    </p:cNvPr>
          <p:cNvPicPr>
            <a:picLocks noChangeAspect="1"/>
          </p:cNvPicPr>
          <p:nvPr/>
        </p:nvPicPr>
        <p:blipFill>
          <a:blip r:embed="rId1"/>
          <a:srcRect l="0" r="0" t="0" b="0"/>
          <a:stretch/>
        </p:blipFill>
        <p:spPr>
          <a:xfrm>
            <a:off x="4097814" y="2247267"/>
            <a:ext cx="254000" cy="254000"/>
          </a:xfrm>
          <a:prstGeom prst="rect">
            <a:avLst/>
          </a:prstGeom>
        </p:spPr>
      </p:pic>
      <p:sp>
        <p:nvSpPr>
          <p:cNvPr id="8" name="Text 5"/>
          <p:cNvSpPr/>
          <p:nvPr/>
        </p:nvSpPr>
        <p:spPr>
          <a:xfrm>
            <a:off x="4041934" y="2552067"/>
            <a:ext cx="416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gate</a:t>
            </a:r>
            <a:endParaRPr lang="en-US" sz="1200" dirty="0"/>
          </a:p>
        </p:txBody>
      </p:sp>
      <p:sp>
        <p:nvSpPr>
          <p:cNvPr id="9" name="Shape 6"/>
          <p:cNvSpPr/>
          <p:nvPr/>
        </p:nvSpPr>
        <p:spPr>
          <a:xfrm>
            <a:off x="4558189" y="1882775"/>
            <a:ext cx="3075543" cy="1247140"/>
          </a:xfrm>
          <a:prstGeom prst="roundRect">
            <a:avLst>
              <a:gd name="adj" fmla="val 5855"/>
            </a:avLst>
          </a:prstGeom>
          <a:solidFill>
            <a:srgbClr val="FDFCF9"/>
          </a:solidFill>
          <a:ln w="6350">
            <a:solidFill>
              <a:srgbClr val="DDD7CB"/>
            </a:solidFill>
            <a:prstDash val="solid"/>
          </a:ln>
        </p:spPr>
      </p:sp>
      <p:sp>
        <p:nvSpPr>
          <p:cNvPr id="10" name="Text 7"/>
          <p:cNvSpPr/>
          <p:nvPr/>
        </p:nvSpPr>
        <p:spPr>
          <a:xfrm>
            <a:off x="4737894" y="2037079"/>
            <a:ext cx="279761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Domain model (DMML)</a:t>
            </a:r>
            <a:endParaRPr lang="en-US" sz="1500" dirty="0"/>
          </a:p>
        </p:txBody>
      </p:sp>
      <p:sp>
        <p:nvSpPr>
          <p:cNvPr id="11" name="Text 8"/>
          <p:cNvSpPr/>
          <p:nvPr/>
        </p:nvSpPr>
        <p:spPr>
          <a:xfrm>
            <a:off x="4737894" y="2335529"/>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Ubiquitous Language, Bounded Contexts, Context Map, Aggregates with invariants</a:t>
            </a:r>
            <a:endParaRPr lang="en-US" sz="1200" dirty="0"/>
          </a:p>
        </p:txBody>
      </p:sp>
      <p:pic>
        <p:nvPicPr>
          <p:cNvPr id="12" name="Image 1" descr="Lock">    </p:cNvPr>
          <p:cNvPicPr>
            <a:picLocks noChangeAspect="1"/>
          </p:cNvPicPr>
          <p:nvPr/>
        </p:nvPicPr>
        <p:blipFill>
          <a:blip r:embed="rId2"/>
          <a:srcRect l="0" r="0" t="0" b="0"/>
          <a:stretch/>
        </p:blipFill>
        <p:spPr>
          <a:xfrm>
            <a:off x="7840107" y="2247267"/>
            <a:ext cx="254000" cy="254000"/>
          </a:xfrm>
          <a:prstGeom prst="rect">
            <a:avLst/>
          </a:prstGeom>
        </p:spPr>
      </p:pic>
      <p:sp>
        <p:nvSpPr>
          <p:cNvPr id="13" name="Text 9"/>
          <p:cNvSpPr/>
          <p:nvPr/>
        </p:nvSpPr>
        <p:spPr>
          <a:xfrm>
            <a:off x="7784227" y="2552067"/>
            <a:ext cx="416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gate</a:t>
            </a:r>
            <a:endParaRPr lang="en-US" sz="1200" dirty="0"/>
          </a:p>
        </p:txBody>
      </p:sp>
      <p:sp>
        <p:nvSpPr>
          <p:cNvPr id="14" name="Shape 10"/>
          <p:cNvSpPr/>
          <p:nvPr/>
        </p:nvSpPr>
        <p:spPr>
          <a:xfrm>
            <a:off x="8300482" y="1882775"/>
            <a:ext cx="3075543" cy="1247140"/>
          </a:xfrm>
          <a:prstGeom prst="roundRect">
            <a:avLst>
              <a:gd name="adj" fmla="val 5855"/>
            </a:avLst>
          </a:prstGeom>
          <a:solidFill>
            <a:srgbClr val="FDFCF9"/>
          </a:solidFill>
          <a:ln w="6350">
            <a:solidFill>
              <a:srgbClr val="DDD7CB"/>
            </a:solidFill>
            <a:prstDash val="solid"/>
          </a:ln>
        </p:spPr>
      </p:sp>
      <p:sp>
        <p:nvSpPr>
          <p:cNvPr id="15" name="Text 11"/>
          <p:cNvSpPr/>
          <p:nvPr/>
        </p:nvSpPr>
        <p:spPr>
          <a:xfrm>
            <a:off x="8480187" y="2037079"/>
            <a:ext cx="279761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Intent Registry (IR)</a:t>
            </a:r>
            <a:endParaRPr lang="en-US" sz="1500" dirty="0"/>
          </a:p>
        </p:txBody>
      </p:sp>
      <p:sp>
        <p:nvSpPr>
          <p:cNvPr id="16" name="Text 12"/>
          <p:cNvSpPr/>
          <p:nvPr/>
        </p:nvSpPr>
        <p:spPr>
          <a:xfrm>
            <a:off x="8480187" y="2335529"/>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States, enforced invariants, decision tables, timed flows, test evidence, bounded gaps</a:t>
            </a:r>
            <a:endParaRPr lang="en-US" sz="1200" dirty="0"/>
          </a:p>
        </p:txBody>
      </p:sp>
      <p:sp>
        <p:nvSpPr>
          <p:cNvPr id="17" name="Text 13"/>
          <p:cNvSpPr/>
          <p:nvPr/>
        </p:nvSpPr>
        <p:spPr>
          <a:xfrm>
            <a:off x="812800" y="3336292"/>
            <a:ext cx="693293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CHECKS EVERY STAGE MUST PASS</a:t>
            </a:r>
            <a:endParaRPr lang="en-US" sz="1200" dirty="0"/>
          </a:p>
        </p:txBody>
      </p:sp>
      <p:pic>
        <p:nvPicPr>
          <p:cNvPr id="18" name="Image 2" descr="CheckCircle">    </p:cNvPr>
          <p:cNvPicPr>
            <a:picLocks noChangeAspect="1"/>
          </p:cNvPicPr>
          <p:nvPr/>
        </p:nvPicPr>
        <p:blipFill>
          <a:blip r:embed="rId3"/>
          <a:srcRect l="0" r="0" t="-857" b="-857"/>
          <a:stretch/>
        </p:blipFill>
        <p:spPr>
          <a:xfrm>
            <a:off x="812800" y="3651250"/>
            <a:ext cx="143589" cy="203200"/>
          </a:xfrm>
          <a:prstGeom prst="rect">
            <a:avLst/>
          </a:prstGeom>
        </p:spPr>
      </p:pic>
      <p:sp>
        <p:nvSpPr>
          <p:cNvPr id="19" name="Text 14"/>
          <p:cNvSpPr/>
          <p:nvPr/>
        </p:nvSpPr>
        <p:spPr>
          <a:xfrm>
            <a:off x="1032589" y="3651250"/>
            <a:ext cx="324008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Schema conformance:</a:t>
            </a:r>
            <a:r>
              <a:rPr lang="en-US" sz="1200" dirty="0">
                <a:solidFill>
                  <a:srgbClr val="13233A"/>
                </a:solidFill>
                <a:latin typeface="IBM Plex Sans" pitchFamily="34" charset="0"/>
                <a:ea typeface="IBM Plex Sans" pitchFamily="34" charset="-122"/>
                <a:cs typeface="IBM Plex Sans" pitchFamily="34" charset="-120"/>
              </a:rPr>
              <a:t> malformed or incomplete output rejected</a:t>
            </a:r>
            <a:endParaRPr lang="en-US" sz="1200" dirty="0"/>
          </a:p>
        </p:txBody>
      </p:sp>
      <p:pic>
        <p:nvPicPr>
          <p:cNvPr id="20" name="Image 3" descr="CheckCircle">    </p:cNvPr>
          <p:cNvPicPr>
            <a:picLocks noChangeAspect="1"/>
          </p:cNvPicPr>
          <p:nvPr/>
        </p:nvPicPr>
        <p:blipFill>
          <a:blip r:embed="rId4"/>
          <a:srcRect l="0" r="0" t="-605" b="-605"/>
          <a:stretch/>
        </p:blipFill>
        <p:spPr>
          <a:xfrm>
            <a:off x="4178300" y="3651250"/>
            <a:ext cx="144304" cy="203200"/>
          </a:xfrm>
          <a:prstGeom prst="rect">
            <a:avLst/>
          </a:prstGeom>
        </p:spPr>
      </p:pic>
      <p:sp>
        <p:nvSpPr>
          <p:cNvPr id="21" name="Text 15"/>
          <p:cNvSpPr/>
          <p:nvPr/>
        </p:nvSpPr>
        <p:spPr>
          <a:xfrm>
            <a:off x="4398804" y="3651250"/>
            <a:ext cx="323934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Cross-references:</a:t>
            </a:r>
            <a:r>
              <a:rPr lang="en-US" sz="1200" dirty="0">
                <a:solidFill>
                  <a:srgbClr val="13233A"/>
                </a:solidFill>
                <a:latin typeface="IBM Plex Sans" pitchFamily="34" charset="0"/>
                <a:ea typeface="IBM Plex Sans" pitchFamily="34" charset="-122"/>
                <a:cs typeface="IBM Plex Sans" pitchFamily="34" charset="-120"/>
              </a:rPr>
              <a:t> every reference resolves to a defined element</a:t>
            </a:r>
            <a:endParaRPr lang="en-US" sz="1200" dirty="0"/>
          </a:p>
        </p:txBody>
      </p:sp>
      <p:pic>
        <p:nvPicPr>
          <p:cNvPr id="22" name="Image 4" descr="CheckCircle">    </p:cNvPr>
          <p:cNvPicPr>
            <a:picLocks noChangeAspect="1"/>
          </p:cNvPicPr>
          <p:nvPr/>
        </p:nvPicPr>
        <p:blipFill>
          <a:blip r:embed="rId5"/>
          <a:srcRect l="0" r="0" t="-327" b="-327"/>
          <a:stretch/>
        </p:blipFill>
        <p:spPr>
          <a:xfrm>
            <a:off x="812800" y="4077971"/>
            <a:ext cx="157718" cy="203200"/>
          </a:xfrm>
          <a:prstGeom prst="rect">
            <a:avLst/>
          </a:prstGeom>
        </p:spPr>
      </p:pic>
      <p:sp>
        <p:nvSpPr>
          <p:cNvPr id="23" name="Text 16"/>
          <p:cNvSpPr/>
          <p:nvPr/>
        </p:nvSpPr>
        <p:spPr>
          <a:xfrm>
            <a:off x="1046718" y="4077971"/>
            <a:ext cx="322552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Decision tables:</a:t>
            </a:r>
            <a:r>
              <a:rPr lang="en-US" sz="1200" dirty="0">
                <a:solidFill>
                  <a:srgbClr val="13233A"/>
                </a:solidFill>
                <a:latin typeface="IBM Plex Sans" pitchFamily="34" charset="0"/>
                <a:ea typeface="IBM Plex Sans" pitchFamily="34" charset="-122"/>
                <a:cs typeface="IBM Plex Sans" pitchFamily="34" charset="-120"/>
              </a:rPr>
              <a:t> every input combination provably covered</a:t>
            </a:r>
            <a:endParaRPr lang="en-US" sz="1200" dirty="0"/>
          </a:p>
        </p:txBody>
      </p:sp>
      <p:pic>
        <p:nvPicPr>
          <p:cNvPr id="24" name="Image 5" descr="CheckCircle">    </p:cNvPr>
          <p:cNvPicPr>
            <a:picLocks noChangeAspect="1"/>
          </p:cNvPicPr>
          <p:nvPr/>
        </p:nvPicPr>
        <p:blipFill>
          <a:blip r:embed="rId6"/>
          <a:srcRect l="0" r="0" t="-429" b="-429"/>
          <a:stretch/>
        </p:blipFill>
        <p:spPr>
          <a:xfrm>
            <a:off x="4178300" y="4077971"/>
            <a:ext cx="157401" cy="203200"/>
          </a:xfrm>
          <a:prstGeom prst="rect">
            <a:avLst/>
          </a:prstGeom>
        </p:spPr>
      </p:pic>
      <p:sp>
        <p:nvSpPr>
          <p:cNvPr id="25" name="Text 17"/>
          <p:cNvSpPr/>
          <p:nvPr/>
        </p:nvSpPr>
        <p:spPr>
          <a:xfrm>
            <a:off x="4411901" y="4077971"/>
            <a:ext cx="322585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Enforcement points:</a:t>
            </a:r>
            <a:r>
              <a:rPr lang="en-US" sz="1200" dirty="0">
                <a:solidFill>
                  <a:srgbClr val="13233A"/>
                </a:solidFill>
                <a:latin typeface="IBM Plex Sans" pitchFamily="34" charset="0"/>
                <a:ea typeface="IBM Plex Sans" pitchFamily="34" charset="-122"/>
                <a:cs typeface="IBM Plex Sans" pitchFamily="34" charset="-120"/>
              </a:rPr>
              <a:t> every rule names where it is enforced</a:t>
            </a:r>
            <a:endParaRPr lang="en-US" sz="1200" dirty="0"/>
          </a:p>
        </p:txBody>
      </p:sp>
      <p:pic>
        <p:nvPicPr>
          <p:cNvPr id="26" name="Image 6" descr="CheckCircle">    </p:cNvPr>
          <p:cNvPicPr>
            <a:picLocks noChangeAspect="1"/>
          </p:cNvPicPr>
          <p:nvPr/>
        </p:nvPicPr>
        <p:blipFill>
          <a:blip r:embed="rId7"/>
          <a:srcRect l="0" r="0" t="-405" b="-405"/>
          <a:stretch/>
        </p:blipFill>
        <p:spPr>
          <a:xfrm>
            <a:off x="812800" y="4504692"/>
            <a:ext cx="176371" cy="203200"/>
          </a:xfrm>
          <a:prstGeom prst="rect">
            <a:avLst/>
          </a:prstGeom>
        </p:spPr>
      </p:pic>
      <p:sp>
        <p:nvSpPr>
          <p:cNvPr id="27" name="Text 18"/>
          <p:cNvSpPr/>
          <p:nvPr/>
        </p:nvSpPr>
        <p:spPr>
          <a:xfrm>
            <a:off x="1065371" y="4504692"/>
            <a:ext cx="3206317"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Test evidence:</a:t>
            </a:r>
            <a:r>
              <a:rPr lang="en-US" sz="1200" dirty="0">
                <a:solidFill>
                  <a:srgbClr val="13233A"/>
                </a:solidFill>
                <a:latin typeface="IBM Plex Sans" pitchFamily="34" charset="0"/>
                <a:ea typeface="IBM Plex Sans" pitchFamily="34" charset="-122"/>
                <a:cs typeface="IBM Plex Sans" pitchFamily="34" charset="-120"/>
              </a:rPr>
              <a:t> every rule and action names its proof</a:t>
            </a:r>
            <a:endParaRPr lang="en-US" sz="1200" dirty="0"/>
          </a:p>
        </p:txBody>
      </p:sp>
      <p:pic>
        <p:nvPicPr>
          <p:cNvPr id="28" name="Image 7" descr="CheckCircle">    </p:cNvPr>
          <p:cNvPicPr>
            <a:picLocks noChangeAspect="1"/>
          </p:cNvPicPr>
          <p:nvPr/>
        </p:nvPicPr>
        <p:blipFill>
          <a:blip r:embed="rId8"/>
          <a:srcRect l="-229" r="-229" t="0" b="0"/>
          <a:stretch/>
        </p:blipFill>
        <p:spPr>
          <a:xfrm>
            <a:off x="4178300" y="4504692"/>
            <a:ext cx="191373" cy="203200"/>
          </a:xfrm>
          <a:prstGeom prst="rect">
            <a:avLst/>
          </a:prstGeom>
        </p:spPr>
      </p:pic>
      <p:sp>
        <p:nvSpPr>
          <p:cNvPr id="29" name="Text 19"/>
          <p:cNvSpPr/>
          <p:nvPr/>
        </p:nvSpPr>
        <p:spPr>
          <a:xfrm>
            <a:off x="4445873" y="4504692"/>
            <a:ext cx="319086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Open gaps:</a:t>
            </a:r>
            <a:r>
              <a:rPr lang="en-US" sz="1200" dirty="0">
                <a:solidFill>
                  <a:srgbClr val="13233A"/>
                </a:solidFill>
                <a:latin typeface="IBM Plex Sans" pitchFamily="34" charset="0"/>
                <a:ea typeface="IBM Plex Sans" pitchFamily="34" charset="-122"/>
                <a:cs typeface="IBM Plex Sans" pitchFamily="34" charset="-120"/>
              </a:rPr>
              <a:t> flagged as blocking, never left silent</a:t>
            </a:r>
            <a:endParaRPr lang="en-US" sz="1200" dirty="0"/>
          </a:p>
        </p:txBody>
      </p:sp>
      <p:sp>
        <p:nvSpPr>
          <p:cNvPr id="30" name="Text 20"/>
          <p:cNvSpPr/>
          <p:nvPr/>
        </p:nvSpPr>
        <p:spPr>
          <a:xfrm>
            <a:off x="812800" y="5033014"/>
            <a:ext cx="69329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A5C"/>
                </a:solidFill>
                <a:latin typeface="IBM Plex Sans" pitchFamily="34" charset="0"/>
                <a:ea typeface="IBM Plex Sans" pitchFamily="34" charset="-122"/>
                <a:cs typeface="IBM Plex Sans" pitchFamily="34" charset="-120"/>
              </a:rPr>
              <a:t>These checks prove structural consistency, traceability and coverage, not business correctness. That is for the IR Author and domain SME to approve.</a:t>
            </a:r>
            <a:endParaRPr lang="en-US" sz="1200" dirty="0"/>
          </a:p>
        </p:txBody>
      </p:sp>
      <p:sp>
        <p:nvSpPr>
          <p:cNvPr id="31" name="Shape 21"/>
          <p:cNvSpPr/>
          <p:nvPr/>
        </p:nvSpPr>
        <p:spPr>
          <a:xfrm>
            <a:off x="7696200" y="3336292"/>
            <a:ext cx="3683000" cy="2137410"/>
          </a:xfrm>
          <a:prstGeom prst="roundRect">
            <a:avLst>
              <a:gd name="adj" fmla="val 3565"/>
            </a:avLst>
          </a:prstGeom>
          <a:solidFill>
            <a:srgbClr val="13233A"/>
          </a:solidFill>
          <a:ln/>
        </p:spPr>
      </p:sp>
      <p:sp>
        <p:nvSpPr>
          <p:cNvPr id="32" name="Text 22"/>
          <p:cNvSpPr/>
          <p:nvPr/>
        </p:nvSpPr>
        <p:spPr>
          <a:xfrm>
            <a:off x="7899400" y="3539492"/>
            <a:ext cx="33748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If a stage fails validation</a:t>
            </a:r>
            <a:endParaRPr lang="en-US" sz="1500" dirty="0"/>
          </a:p>
        </p:txBody>
      </p:sp>
      <p:sp>
        <p:nvSpPr>
          <p:cNvPr id="33" name="Text 23"/>
          <p:cNvSpPr/>
          <p:nvPr/>
        </p:nvSpPr>
        <p:spPr>
          <a:xfrm>
            <a:off x="7899400" y="3888742"/>
            <a:ext cx="33748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The specific errors go back to the AI for a bounded number of repair attempts, each one logged.</a:t>
            </a:r>
            <a:endParaRPr lang="en-US" sz="1200" dirty="0"/>
          </a:p>
        </p:txBody>
      </p:sp>
      <p:sp>
        <p:nvSpPr>
          <p:cNvPr id="34" name="Text 24"/>
          <p:cNvSpPr/>
          <p:nvPr/>
        </p:nvSpPr>
        <p:spPr>
          <a:xfrm>
            <a:off x="7899400" y="4630421"/>
            <a:ext cx="33748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Still failing? Errors and the latest output surface for human resolution. The stage cannot be force-finalized.</a:t>
            </a:r>
            <a:endParaRPr lang="en-US" sz="1200" dirty="0"/>
          </a:p>
        </p:txBody>
      </p:sp>
      <p:sp>
        <p:nvSpPr>
          <p:cNvPr id="35" name="Text 2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6" name="Text 2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11 /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2749550" y="1822450"/>
            <a:ext cx="8623300" cy="2743200"/>
          </a:xfrm>
          <a:prstGeom prst="roundRect">
            <a:avLst>
              <a:gd name="adj" fmla="val 3472"/>
            </a:avLst>
          </a:prstGeom>
          <a:noFill/>
          <a:ln w="12700">
            <a:solidFill>
              <a:srgbClr val="8A94A3"/>
            </a:solidFill>
            <a:prstDash val="dash"/>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ARCHITECTURE</a:t>
            </a:r>
            <a:endParaRPr lang="en-US" sz="1200" dirty="0"/>
          </a:p>
        </p:txBody>
      </p:sp>
      <p:sp>
        <p:nvSpPr>
          <p:cNvPr id="4" name="Text 2"/>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Proposed architecture and control boundary</a:t>
            </a:r>
            <a:endParaRPr lang="en-US" sz="3200" dirty="0"/>
          </a:p>
        </p:txBody>
      </p:sp>
      <p:sp>
        <p:nvSpPr>
          <p:cNvPr id="5" name="Text 3"/>
          <p:cNvSpPr/>
          <p:nvPr/>
        </p:nvSpPr>
        <p:spPr>
          <a:xfrm>
            <a:off x="2870200" y="19050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673"/>
                </a:solidFill>
                <a:latin typeface="IBM Plex Mono" pitchFamily="34" charset="0"/>
                <a:ea typeface="IBM Plex Mono" pitchFamily="34" charset="-122"/>
                <a:cs typeface="IBM Plex Mono" pitchFamily="34" charset="-120"/>
              </a:rPr>
              <a:t>DEVELOPMENT ENVIRONMENT · NO PRODUCTION CONNECTION</a:t>
            </a:r>
            <a:endParaRPr lang="en-US" sz="1200" dirty="0"/>
          </a:p>
        </p:txBody>
      </p:sp>
      <p:sp>
        <p:nvSpPr>
          <p:cNvPr id="6" name="Shape 4"/>
          <p:cNvSpPr/>
          <p:nvPr/>
        </p:nvSpPr>
        <p:spPr>
          <a:xfrm>
            <a:off x="819150" y="2228850"/>
            <a:ext cx="1765300" cy="662940"/>
          </a:xfrm>
          <a:prstGeom prst="roundRect">
            <a:avLst>
              <a:gd name="adj" fmla="val 10536"/>
            </a:avLst>
          </a:prstGeom>
          <a:solidFill>
            <a:srgbClr val="F4E4DE"/>
          </a:solidFill>
          <a:ln w="12700">
            <a:solidFill>
              <a:srgbClr val="B0452F"/>
            </a:solidFill>
            <a:prstDash val="solid"/>
          </a:ln>
        </p:spPr>
      </p:sp>
      <p:sp>
        <p:nvSpPr>
          <p:cNvPr id="7" name="Text 5"/>
          <p:cNvSpPr/>
          <p:nvPr/>
        </p:nvSpPr>
        <p:spPr>
          <a:xfrm>
            <a:off x="924560" y="2334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BSA / engineer</a:t>
            </a:r>
            <a:endParaRPr lang="en-US" sz="1200" dirty="0"/>
          </a:p>
        </p:txBody>
      </p:sp>
      <p:sp>
        <p:nvSpPr>
          <p:cNvPr id="8" name="Text 6"/>
          <p:cNvSpPr/>
          <p:nvPr/>
        </p:nvSpPr>
        <p:spPr>
          <a:xfrm>
            <a:off x="924560" y="2573021"/>
            <a:ext cx="16052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React + TypeScript UI</a:t>
            </a:r>
            <a:endParaRPr lang="en-US" sz="1200" dirty="0"/>
          </a:p>
        </p:txBody>
      </p:sp>
      <p:sp>
        <p:nvSpPr>
          <p:cNvPr id="9" name="Shape 7"/>
          <p:cNvSpPr/>
          <p:nvPr/>
        </p:nvSpPr>
        <p:spPr>
          <a:xfrm>
            <a:off x="815975" y="3559175"/>
            <a:ext cx="1771650" cy="872490"/>
          </a:xfrm>
          <a:prstGeom prst="roundRect">
            <a:avLst>
              <a:gd name="adj" fmla="val 8370"/>
            </a:avLst>
          </a:prstGeom>
          <a:solidFill>
            <a:srgbClr val="FDFCF9"/>
          </a:solidFill>
          <a:ln w="6350">
            <a:solidFill>
              <a:srgbClr val="DDD7CB"/>
            </a:solidFill>
            <a:prstDash val="solid"/>
          </a:ln>
        </p:spPr>
      </p:sp>
      <p:sp>
        <p:nvSpPr>
          <p:cNvPr id="10" name="Text 8"/>
          <p:cNvSpPr/>
          <p:nvPr/>
        </p:nvSpPr>
        <p:spPr>
          <a:xfrm>
            <a:off x="919480" y="3662679"/>
            <a:ext cx="16154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Internal inputs</a:t>
            </a:r>
            <a:endParaRPr lang="en-US" sz="1200" dirty="0"/>
          </a:p>
        </p:txBody>
      </p:sp>
      <p:sp>
        <p:nvSpPr>
          <p:cNvPr id="11" name="Text 9"/>
          <p:cNvSpPr/>
          <p:nvPr/>
        </p:nvSpPr>
        <p:spPr>
          <a:xfrm>
            <a:off x="919480" y="3901442"/>
            <a:ext cx="16154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Requirement text and OKF glossary</a:t>
            </a:r>
            <a:endParaRPr lang="en-US" sz="1200" dirty="0"/>
          </a:p>
        </p:txBody>
      </p:sp>
      <p:sp>
        <p:nvSpPr>
          <p:cNvPr id="12" name="Shape 10"/>
          <p:cNvSpPr/>
          <p:nvPr/>
        </p:nvSpPr>
        <p:spPr>
          <a:xfrm>
            <a:off x="2873375" y="2225675"/>
            <a:ext cx="1708150" cy="2247900"/>
          </a:xfrm>
          <a:prstGeom prst="roundRect">
            <a:avLst>
              <a:gd name="adj" fmla="val 4275"/>
            </a:avLst>
          </a:prstGeom>
          <a:solidFill>
            <a:srgbClr val="FDFCF9"/>
          </a:solidFill>
          <a:ln w="6350">
            <a:solidFill>
              <a:srgbClr val="DDD7CB"/>
            </a:solidFill>
            <a:prstDash val="solid"/>
          </a:ln>
        </p:spPr>
      </p:sp>
      <p:sp>
        <p:nvSpPr>
          <p:cNvPr id="13" name="Text 11"/>
          <p:cNvSpPr/>
          <p:nvPr/>
        </p:nvSpPr>
        <p:spPr>
          <a:xfrm>
            <a:off x="2976880" y="2329179"/>
            <a:ext cx="155194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Intent Discovery Service</a:t>
            </a:r>
            <a:endParaRPr lang="en-US" sz="1200" dirty="0"/>
          </a:p>
        </p:txBody>
      </p:sp>
      <p:sp>
        <p:nvSpPr>
          <p:cNvPr id="14" name="Text 12"/>
          <p:cNvSpPr/>
          <p:nvPr/>
        </p:nvSpPr>
        <p:spPr>
          <a:xfrm>
            <a:off x="2976880" y="2806700"/>
            <a:ext cx="155194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Node + Express API · interrogation agent · ladder state machine · IR manager · file storage</a:t>
            </a:r>
            <a:endParaRPr lang="en-US" sz="1200" dirty="0"/>
          </a:p>
        </p:txBody>
      </p:sp>
      <p:sp>
        <p:nvSpPr>
          <p:cNvPr id="15" name="Text 13"/>
          <p:cNvSpPr/>
          <p:nvPr/>
        </p:nvSpPr>
        <p:spPr>
          <a:xfrm>
            <a:off x="4908550" y="2228850"/>
            <a:ext cx="2146300" cy="398780"/>
          </a:xfrm>
          <a:prstGeom prst="roundRect">
            <a:avLst>
              <a:gd name="adj" fmla="val 17516"/>
            </a:avLst>
          </a:prstGeom>
          <a:solidFill>
            <a:srgbClr val="E1ECF1"/>
          </a:solidFill>
          <a:ln w="12700">
            <a:solidFill>
              <a:srgbClr val="2E6E8E"/>
            </a:solidFill>
            <a:prstDash val="solid"/>
          </a:ln>
        </p:spPr>
        <p:txBody>
          <a:bodyPr wrap="square" lIns="84952" tIns="72252" rIns="26887" bIns="46852"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Event Storming (ESML)</a:t>
            </a:r>
            <a:endParaRPr lang="en-US" sz="1200" dirty="0"/>
          </a:p>
        </p:txBody>
      </p:sp>
      <p:sp>
        <p:nvSpPr>
          <p:cNvPr id="16" name="Text 14"/>
          <p:cNvSpPr/>
          <p:nvPr/>
        </p:nvSpPr>
        <p:spPr>
          <a:xfrm>
            <a:off x="5664200" y="26416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3233A"/>
          </a:solidFill>
          <a:ln/>
        </p:spPr>
        <p:txBody>
          <a:bodyPr wrap="square" lIns="0" tIns="0" rIns="0" bIns="0" rtlCol="0" anchor="t">
            <a:normAutofit/>
          </a:bodyPr>
          <a:lstStyle/>
          <a:p>
            <a:pPr algn="ctr" indent="0" marL="0">
              <a:lnSpc>
                <a:spcPts val="2004"/>
              </a:lnSpc>
              <a:buNone/>
            </a:pPr>
            <a:r>
              <a:rPr lang="en-US" sz="1200" dirty="0">
                <a:solidFill>
                  <a:srgbClr val="F6F4EF"/>
                </a:solidFill>
                <a:latin typeface="IBM Plex Mono" pitchFamily="34" charset="0"/>
                <a:ea typeface="IBM Plex Mono" pitchFamily="34" charset="-122"/>
                <a:cs typeface="IBM Plex Mono" pitchFamily="34" charset="-120"/>
              </a:rPr>
              <a:t>gate</a:t>
            </a:r>
            <a:endParaRPr lang="en-US" sz="1200" dirty="0"/>
          </a:p>
        </p:txBody>
      </p:sp>
      <p:sp>
        <p:nvSpPr>
          <p:cNvPr id="17" name="Text 15"/>
          <p:cNvSpPr/>
          <p:nvPr/>
        </p:nvSpPr>
        <p:spPr>
          <a:xfrm>
            <a:off x="4908550" y="2901950"/>
            <a:ext cx="2146300" cy="398780"/>
          </a:xfrm>
          <a:prstGeom prst="roundRect">
            <a:avLst>
              <a:gd name="adj" fmla="val 17516"/>
            </a:avLst>
          </a:prstGeom>
          <a:solidFill>
            <a:srgbClr val="E1ECF1"/>
          </a:solidFill>
          <a:ln w="12700">
            <a:solidFill>
              <a:srgbClr val="2E6E8E"/>
            </a:solidFill>
            <a:prstDash val="solid"/>
          </a:ln>
        </p:spPr>
        <p:txBody>
          <a:bodyPr wrap="square" lIns="84952" tIns="72252" rIns="26887" bIns="46852"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Domain model (DMML)</a:t>
            </a:r>
            <a:endParaRPr lang="en-US" sz="1200" dirty="0"/>
          </a:p>
        </p:txBody>
      </p:sp>
      <p:sp>
        <p:nvSpPr>
          <p:cNvPr id="18" name="Text 16"/>
          <p:cNvSpPr/>
          <p:nvPr/>
        </p:nvSpPr>
        <p:spPr>
          <a:xfrm>
            <a:off x="5664200" y="33147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3233A"/>
          </a:solidFill>
          <a:ln/>
        </p:spPr>
        <p:txBody>
          <a:bodyPr wrap="square" lIns="0" tIns="0" rIns="0" bIns="0" rtlCol="0" anchor="t">
            <a:normAutofit/>
          </a:bodyPr>
          <a:lstStyle/>
          <a:p>
            <a:pPr algn="ctr" indent="0" marL="0">
              <a:lnSpc>
                <a:spcPts val="2004"/>
              </a:lnSpc>
              <a:buNone/>
            </a:pPr>
            <a:r>
              <a:rPr lang="en-US" sz="1200" dirty="0">
                <a:solidFill>
                  <a:srgbClr val="F6F4EF"/>
                </a:solidFill>
                <a:latin typeface="IBM Plex Mono" pitchFamily="34" charset="0"/>
                <a:ea typeface="IBM Plex Mono" pitchFamily="34" charset="-122"/>
                <a:cs typeface="IBM Plex Mono" pitchFamily="34" charset="-120"/>
              </a:rPr>
              <a:t>gate</a:t>
            </a:r>
            <a:endParaRPr lang="en-US" sz="1200" dirty="0"/>
          </a:p>
        </p:txBody>
      </p:sp>
      <p:sp>
        <p:nvSpPr>
          <p:cNvPr id="19" name="Text 17"/>
          <p:cNvSpPr/>
          <p:nvPr/>
        </p:nvSpPr>
        <p:spPr>
          <a:xfrm>
            <a:off x="4908550" y="3575050"/>
            <a:ext cx="2146300" cy="398780"/>
          </a:xfrm>
          <a:prstGeom prst="roundRect">
            <a:avLst>
              <a:gd name="adj" fmla="val 17516"/>
            </a:avLst>
          </a:prstGeom>
          <a:solidFill>
            <a:srgbClr val="E1ECF1"/>
          </a:solidFill>
          <a:ln w="12700">
            <a:solidFill>
              <a:srgbClr val="2E6E8E"/>
            </a:solidFill>
            <a:prstDash val="solid"/>
          </a:ln>
        </p:spPr>
        <p:txBody>
          <a:bodyPr wrap="square" lIns="84952" tIns="72252" rIns="26887" bIns="46852"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Intent Registry (IR)</a:t>
            </a:r>
            <a:endParaRPr lang="en-US" sz="1200" dirty="0"/>
          </a:p>
        </p:txBody>
      </p:sp>
      <p:sp>
        <p:nvSpPr>
          <p:cNvPr id="20" name="Text 18"/>
          <p:cNvSpPr/>
          <p:nvPr/>
        </p:nvSpPr>
        <p:spPr>
          <a:xfrm>
            <a:off x="5664200" y="39878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3233A"/>
          </a:solidFill>
          <a:ln/>
        </p:spPr>
        <p:txBody>
          <a:bodyPr wrap="square" lIns="0" tIns="0" rIns="0" bIns="0" rtlCol="0" anchor="t">
            <a:normAutofit/>
          </a:bodyPr>
          <a:lstStyle/>
          <a:p>
            <a:pPr algn="ctr" indent="0" marL="0">
              <a:lnSpc>
                <a:spcPts val="2004"/>
              </a:lnSpc>
              <a:buNone/>
            </a:pPr>
            <a:r>
              <a:rPr lang="en-US" sz="1200" dirty="0">
                <a:solidFill>
                  <a:srgbClr val="F6F4EF"/>
                </a:solidFill>
                <a:latin typeface="IBM Plex Mono" pitchFamily="34" charset="0"/>
                <a:ea typeface="IBM Plex Mono" pitchFamily="34" charset="-122"/>
                <a:cs typeface="IBM Plex Mono" pitchFamily="34" charset="-120"/>
              </a:rPr>
              <a:t>gate</a:t>
            </a:r>
            <a:endParaRPr lang="en-US" sz="1200" dirty="0"/>
          </a:p>
        </p:txBody>
      </p:sp>
      <p:sp>
        <p:nvSpPr>
          <p:cNvPr id="21" name="Shape 19"/>
          <p:cNvSpPr/>
          <p:nvPr/>
        </p:nvSpPr>
        <p:spPr>
          <a:xfrm>
            <a:off x="7385050" y="2228850"/>
            <a:ext cx="1765300" cy="876300"/>
          </a:xfrm>
          <a:prstGeom prst="roundRect">
            <a:avLst>
              <a:gd name="adj" fmla="val 7971"/>
            </a:avLst>
          </a:prstGeom>
          <a:solidFill>
            <a:srgbClr val="E1ECF1"/>
          </a:solidFill>
          <a:ln w="12700">
            <a:solidFill>
              <a:srgbClr val="2E6E8E"/>
            </a:solidFill>
            <a:prstDash val="solid"/>
          </a:ln>
        </p:spPr>
      </p:sp>
      <p:sp>
        <p:nvSpPr>
          <p:cNvPr id="22" name="Text 20"/>
          <p:cNvSpPr/>
          <p:nvPr/>
        </p:nvSpPr>
        <p:spPr>
          <a:xfrm>
            <a:off x="7490460" y="2334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Red Team review</a:t>
            </a:r>
            <a:endParaRPr lang="en-US" sz="1200" dirty="0"/>
          </a:p>
        </p:txBody>
      </p:sp>
      <p:sp>
        <p:nvSpPr>
          <p:cNvPr id="23" name="Text 21"/>
          <p:cNvSpPr/>
          <p:nvPr/>
        </p:nvSpPr>
        <p:spPr>
          <a:xfrm>
            <a:off x="7490460" y="2573021"/>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Advisory or blocking findings</a:t>
            </a:r>
            <a:endParaRPr lang="en-US" sz="1200" dirty="0"/>
          </a:p>
        </p:txBody>
      </p:sp>
      <p:sp>
        <p:nvSpPr>
          <p:cNvPr id="24" name="Shape 22"/>
          <p:cNvSpPr/>
          <p:nvPr/>
        </p:nvSpPr>
        <p:spPr>
          <a:xfrm>
            <a:off x="7385050" y="3371850"/>
            <a:ext cx="1765300" cy="876300"/>
          </a:xfrm>
          <a:prstGeom prst="roundRect">
            <a:avLst>
              <a:gd name="adj" fmla="val 7971"/>
            </a:avLst>
          </a:prstGeom>
          <a:solidFill>
            <a:srgbClr val="F4E4DE"/>
          </a:solidFill>
          <a:ln w="12700">
            <a:solidFill>
              <a:srgbClr val="B0452F"/>
            </a:solidFill>
            <a:prstDash val="solid"/>
          </a:ln>
        </p:spPr>
      </p:sp>
      <p:sp>
        <p:nvSpPr>
          <p:cNvPr id="25" name="Text 23"/>
          <p:cNvSpPr/>
          <p:nvPr/>
        </p:nvSpPr>
        <p:spPr>
          <a:xfrm>
            <a:off x="7490460" y="3477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Approval gate</a:t>
            </a:r>
            <a:endParaRPr lang="en-US" sz="1200" dirty="0"/>
          </a:p>
        </p:txBody>
      </p:sp>
      <p:sp>
        <p:nvSpPr>
          <p:cNvPr id="26" name="Text 24"/>
          <p:cNvSpPr/>
          <p:nvPr/>
        </p:nvSpPr>
        <p:spPr>
          <a:xfrm>
            <a:off x="7490460" y="3716021"/>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IR Author and domain SME both approve</a:t>
            </a:r>
            <a:endParaRPr lang="en-US" sz="1200" dirty="0"/>
          </a:p>
        </p:txBody>
      </p:sp>
      <p:sp>
        <p:nvSpPr>
          <p:cNvPr id="27" name="Shape 25"/>
          <p:cNvSpPr/>
          <p:nvPr/>
        </p:nvSpPr>
        <p:spPr>
          <a:xfrm>
            <a:off x="9474200" y="2222500"/>
            <a:ext cx="1778000" cy="868680"/>
          </a:xfrm>
          <a:prstGeom prst="roundRect">
            <a:avLst>
              <a:gd name="adj" fmla="val 8772"/>
            </a:avLst>
          </a:prstGeom>
          <a:solidFill>
            <a:srgbClr val="13233A"/>
          </a:solidFill>
          <a:ln/>
        </p:spPr>
      </p:sp>
      <p:sp>
        <p:nvSpPr>
          <p:cNvPr id="28" name="Text 26"/>
          <p:cNvSpPr/>
          <p:nvPr/>
        </p:nvSpPr>
        <p:spPr>
          <a:xfrm>
            <a:off x="9575800" y="2324100"/>
            <a:ext cx="162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Generate</a:t>
            </a:r>
            <a:endParaRPr lang="en-US" sz="1200" dirty="0"/>
          </a:p>
        </p:txBody>
      </p:sp>
      <p:sp>
        <p:nvSpPr>
          <p:cNvPr id="29" name="Text 27"/>
          <p:cNvSpPr/>
          <p:nvPr/>
        </p:nvSpPr>
        <p:spPr>
          <a:xfrm>
            <a:off x="9575800" y="2562864"/>
            <a:ext cx="16256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Diagrams and handoff pack</a:t>
            </a:r>
            <a:endParaRPr lang="en-US" sz="1200" dirty="0"/>
          </a:p>
        </p:txBody>
      </p:sp>
      <p:sp>
        <p:nvSpPr>
          <p:cNvPr id="30" name="Shape 28"/>
          <p:cNvSpPr/>
          <p:nvPr/>
        </p:nvSpPr>
        <p:spPr>
          <a:xfrm>
            <a:off x="9480550" y="3371850"/>
            <a:ext cx="1765300" cy="1089660"/>
          </a:xfrm>
          <a:prstGeom prst="roundRect">
            <a:avLst>
              <a:gd name="adj" fmla="val 6410"/>
            </a:avLst>
          </a:prstGeom>
          <a:solidFill>
            <a:srgbClr val="FDFCF9"/>
          </a:solidFill>
          <a:ln w="12700">
            <a:solidFill>
              <a:srgbClr val="13233A"/>
            </a:solidFill>
            <a:prstDash val="solid"/>
          </a:ln>
        </p:spPr>
      </p:sp>
      <p:sp>
        <p:nvSpPr>
          <p:cNvPr id="31" name="Text 29"/>
          <p:cNvSpPr/>
          <p:nvPr/>
        </p:nvSpPr>
        <p:spPr>
          <a:xfrm>
            <a:off x="9585960" y="3477264"/>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specs/</a:t>
            </a:r>
            <a:endParaRPr lang="en-US" sz="1200" dirty="0"/>
          </a:p>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&lt;feature-slug&gt;/</a:t>
            </a:r>
            <a:endParaRPr lang="en-US" sz="1200" dirty="0"/>
          </a:p>
        </p:txBody>
      </p:sp>
      <p:sp>
        <p:nvSpPr>
          <p:cNvPr id="32" name="Text 30"/>
          <p:cNvSpPr/>
          <p:nvPr/>
        </p:nvSpPr>
        <p:spPr>
          <a:xfrm>
            <a:off x="9585960" y="3929379"/>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Versioned Markdown and YAML</a:t>
            </a:r>
            <a:endParaRPr lang="en-US" sz="1200" dirty="0"/>
          </a:p>
        </p:txBody>
      </p:sp>
      <p:sp>
        <p:nvSpPr>
          <p:cNvPr id="33" name="Shape 31"/>
          <p:cNvSpPr/>
          <p:nvPr/>
        </p:nvSpPr>
        <p:spPr>
          <a:xfrm>
            <a:off x="2876550" y="4730750"/>
            <a:ext cx="6273800" cy="561340"/>
          </a:xfrm>
          <a:prstGeom prst="roundRect">
            <a:avLst>
              <a:gd name="adj" fmla="val 12443"/>
            </a:avLst>
          </a:prstGeom>
          <a:solidFill>
            <a:srgbClr val="E1ECF1"/>
          </a:solidFill>
          <a:ln w="12700">
            <a:solidFill>
              <a:srgbClr val="2E6E8E"/>
            </a:solidFill>
            <a:prstDash val="solid"/>
          </a:ln>
        </p:spPr>
      </p:sp>
      <p:sp>
        <p:nvSpPr>
          <p:cNvPr id="34" name="Text 32"/>
          <p:cNvSpPr/>
          <p:nvPr/>
        </p:nvSpPr>
        <p:spPr>
          <a:xfrm>
            <a:off x="3007360" y="4904742"/>
            <a:ext cx="1148636"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AWS Bedrock Runtime</a:t>
            </a:r>
            <a:endParaRPr lang="en-US" sz="1200" dirty="0"/>
          </a:p>
        </p:txBody>
      </p:sp>
      <p:sp>
        <p:nvSpPr>
          <p:cNvPr id="35" name="Text 33"/>
          <p:cNvSpPr/>
          <p:nvPr/>
        </p:nvSpPr>
        <p:spPr>
          <a:xfrm>
            <a:off x="4257596" y="4798064"/>
            <a:ext cx="49048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TMCC-approved Claude models for interrogation, modeling and Red Team; no public GenAI endpoints</a:t>
            </a:r>
            <a:endParaRPr lang="en-US" sz="1200" dirty="0"/>
          </a:p>
        </p:txBody>
      </p:sp>
      <p:sp>
        <p:nvSpPr>
          <p:cNvPr id="36" name="Shape 34"/>
          <p:cNvSpPr/>
          <p:nvPr/>
        </p:nvSpPr>
        <p:spPr>
          <a:xfrm>
            <a:off x="9480550" y="4752342"/>
            <a:ext cx="127000" cy="127000"/>
          </a:xfrm>
          <a:prstGeom prst="roundRect">
            <a:avLst>
              <a:gd name="adj" fmla="val 15000"/>
            </a:avLst>
          </a:prstGeom>
          <a:solidFill>
            <a:srgbClr val="E1ECF1"/>
          </a:solidFill>
          <a:ln w="12700">
            <a:solidFill>
              <a:srgbClr val="2E6E8E"/>
            </a:solidFill>
            <a:prstDash val="solid"/>
          </a:ln>
        </p:spPr>
      </p:sp>
      <p:sp>
        <p:nvSpPr>
          <p:cNvPr id="37" name="Text 35"/>
          <p:cNvSpPr/>
          <p:nvPr/>
        </p:nvSpPr>
        <p:spPr>
          <a:xfrm>
            <a:off x="9690100" y="4724400"/>
            <a:ext cx="958056"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E4A5C"/>
                </a:solidFill>
                <a:latin typeface="IBM Plex Sans" pitchFamily="34" charset="0"/>
                <a:ea typeface="IBM Plex Sans" pitchFamily="34" charset="-122"/>
                <a:cs typeface="IBM Plex Sans" pitchFamily="34" charset="-120"/>
              </a:rPr>
              <a:t>AI (LLM) step</a:t>
            </a:r>
            <a:endParaRPr lang="en-US" sz="1200" dirty="0"/>
          </a:p>
        </p:txBody>
      </p:sp>
      <p:sp>
        <p:nvSpPr>
          <p:cNvPr id="38" name="Shape 36"/>
          <p:cNvSpPr/>
          <p:nvPr/>
        </p:nvSpPr>
        <p:spPr>
          <a:xfrm>
            <a:off x="9474200" y="4954271"/>
            <a:ext cx="139700" cy="139700"/>
          </a:xfrm>
          <a:prstGeom prst="roundRect">
            <a:avLst>
              <a:gd name="adj" fmla="val 18182"/>
            </a:avLst>
          </a:prstGeom>
          <a:solidFill>
            <a:srgbClr val="13233A"/>
          </a:solidFill>
          <a:ln/>
        </p:spPr>
      </p:sp>
      <p:sp>
        <p:nvSpPr>
          <p:cNvPr id="39" name="Text 37"/>
          <p:cNvSpPr/>
          <p:nvPr/>
        </p:nvSpPr>
        <p:spPr>
          <a:xfrm>
            <a:off x="9690100" y="4932679"/>
            <a:ext cx="1335564"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E4A5C"/>
                </a:solidFill>
                <a:latin typeface="IBM Plex Sans" pitchFamily="34" charset="0"/>
                <a:ea typeface="IBM Plex Sans" pitchFamily="34" charset="-122"/>
                <a:cs typeface="IBM Plex Sans" pitchFamily="34" charset="-120"/>
              </a:rPr>
              <a:t>Deterministic code</a:t>
            </a:r>
            <a:endParaRPr lang="en-US" sz="1200" dirty="0"/>
          </a:p>
        </p:txBody>
      </p:sp>
      <p:sp>
        <p:nvSpPr>
          <p:cNvPr id="40" name="Shape 38"/>
          <p:cNvSpPr/>
          <p:nvPr/>
        </p:nvSpPr>
        <p:spPr>
          <a:xfrm>
            <a:off x="9480550" y="5168900"/>
            <a:ext cx="127000" cy="127000"/>
          </a:xfrm>
          <a:prstGeom prst="roundRect">
            <a:avLst>
              <a:gd name="adj" fmla="val 15000"/>
            </a:avLst>
          </a:prstGeom>
          <a:solidFill>
            <a:srgbClr val="F4E4DE"/>
          </a:solidFill>
          <a:ln w="12700">
            <a:solidFill>
              <a:srgbClr val="B0452F"/>
            </a:solidFill>
            <a:prstDash val="solid"/>
          </a:ln>
        </p:spPr>
      </p:sp>
      <p:sp>
        <p:nvSpPr>
          <p:cNvPr id="41" name="Text 39"/>
          <p:cNvSpPr/>
          <p:nvPr/>
        </p:nvSpPr>
        <p:spPr>
          <a:xfrm>
            <a:off x="9690100" y="5140964"/>
            <a:ext cx="115316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E4A5C"/>
                </a:solidFill>
                <a:latin typeface="IBM Plex Sans" pitchFamily="34" charset="0"/>
                <a:ea typeface="IBM Plex Sans" pitchFamily="34" charset="-122"/>
                <a:cs typeface="IBM Plex Sans" pitchFamily="34" charset="-120"/>
              </a:rPr>
              <a:t>Human decision</a:t>
            </a:r>
            <a:endParaRPr lang="en-US" sz="1200" dirty="0"/>
          </a:p>
        </p:txBody>
      </p:sp>
      <p:sp>
        <p:nvSpPr>
          <p:cNvPr id="42" name="Shape 40"/>
          <p:cNvSpPr/>
          <p:nvPr/>
        </p:nvSpPr>
        <p:spPr>
          <a:xfrm>
            <a:off x="815975" y="5451475"/>
            <a:ext cx="10560050" cy="532130"/>
          </a:xfrm>
          <a:prstGeom prst="roundRect">
            <a:avLst>
              <a:gd name="adj" fmla="val 13723"/>
            </a:avLst>
          </a:prstGeom>
          <a:solidFill>
            <a:srgbClr val="F4E4DE"/>
          </a:solidFill>
          <a:ln w="6350">
            <a:solidFill>
              <a:srgbClr val="E3C2B6"/>
            </a:solidFill>
            <a:prstDash val="solid"/>
          </a:ln>
        </p:spPr>
      </p:sp>
      <p:sp>
        <p:nvSpPr>
          <p:cNvPr id="43" name="Text 41"/>
          <p:cNvSpPr/>
          <p:nvPr/>
        </p:nvSpPr>
        <p:spPr>
          <a:xfrm>
            <a:off x="970280" y="5610864"/>
            <a:ext cx="1360329" cy="23876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OUT OF BOUNDS</a:t>
            </a:r>
            <a:endParaRPr lang="en-US" sz="1200" dirty="0"/>
          </a:p>
        </p:txBody>
      </p:sp>
      <p:sp>
        <p:nvSpPr>
          <p:cNvPr id="44" name="Text 42"/>
          <p:cNvSpPr/>
          <p:nvPr/>
        </p:nvSpPr>
        <p:spPr>
          <a:xfrm>
            <a:off x="2432209" y="5504179"/>
            <a:ext cx="90531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Personal Data · production or customer data · public GenAI endpoints · source-code generation · autonomous approval or publication</a:t>
            </a:r>
            <a:endParaRPr lang="en-US" sz="1200" dirty="0"/>
          </a:p>
        </p:txBody>
      </p:sp>
      <p:pic>
        <p:nvPicPr>
          <p:cNvPr id="45" name="Image 0" descr="connector">    </p:cNvPr>
          <p:cNvPicPr>
            <a:picLocks noChangeAspect="1"/>
          </p:cNvPicPr>
          <p:nvPr/>
        </p:nvPicPr>
        <p:blipFill>
          <a:blip r:embed="rId1"/>
          <a:srcRect l="0" r="0" t="0" b="0"/>
          <a:stretch/>
        </p:blipFill>
        <p:spPr>
          <a:xfrm>
            <a:off x="2540000" y="2616200"/>
            <a:ext cx="381000" cy="101600"/>
          </a:xfrm>
          <a:prstGeom prst="rect">
            <a:avLst/>
          </a:prstGeom>
        </p:spPr>
      </p:pic>
      <p:pic>
        <p:nvPicPr>
          <p:cNvPr id="46" name="Image 1" descr="connector">    </p:cNvPr>
          <p:cNvPicPr>
            <a:picLocks noChangeAspect="1"/>
          </p:cNvPicPr>
          <p:nvPr/>
        </p:nvPicPr>
        <p:blipFill>
          <a:blip r:embed="rId2"/>
          <a:srcRect l="0" r="0" t="0" b="0"/>
          <a:stretch/>
        </p:blipFill>
        <p:spPr>
          <a:xfrm>
            <a:off x="2540000" y="3949700"/>
            <a:ext cx="381000" cy="101600"/>
          </a:xfrm>
          <a:prstGeom prst="rect">
            <a:avLst/>
          </a:prstGeom>
        </p:spPr>
      </p:pic>
      <p:pic>
        <p:nvPicPr>
          <p:cNvPr id="47" name="Image 2" descr="connector">    </p:cNvPr>
          <p:cNvPicPr>
            <a:picLocks noChangeAspect="1"/>
          </p:cNvPicPr>
          <p:nvPr/>
        </p:nvPicPr>
        <p:blipFill>
          <a:blip r:embed="rId3"/>
          <a:srcRect l="0" r="0" t="0" b="0"/>
          <a:stretch/>
        </p:blipFill>
        <p:spPr>
          <a:xfrm>
            <a:off x="4533900" y="2381250"/>
            <a:ext cx="419100" cy="101600"/>
          </a:xfrm>
          <a:prstGeom prst="rect">
            <a:avLst/>
          </a:prstGeom>
        </p:spPr>
      </p:pic>
      <p:pic>
        <p:nvPicPr>
          <p:cNvPr id="48" name="Image 3" descr="connector">    </p:cNvPr>
          <p:cNvPicPr>
            <a:picLocks noChangeAspect="1"/>
          </p:cNvPicPr>
          <p:nvPr/>
        </p:nvPicPr>
        <p:blipFill>
          <a:blip r:embed="rId4"/>
          <a:srcRect l="0" r="0" t="0" b="0"/>
          <a:stretch/>
        </p:blipFill>
        <p:spPr>
          <a:xfrm>
            <a:off x="6248400" y="4064000"/>
            <a:ext cx="1022350" cy="101600"/>
          </a:xfrm>
          <a:prstGeom prst="rect">
            <a:avLst/>
          </a:prstGeom>
        </p:spPr>
      </p:pic>
      <p:pic>
        <p:nvPicPr>
          <p:cNvPr id="49" name="Image 4" descr="connector">    </p:cNvPr>
          <p:cNvPicPr>
            <a:picLocks noChangeAspect="1"/>
          </p:cNvPicPr>
          <p:nvPr/>
        </p:nvPicPr>
        <p:blipFill>
          <a:blip r:embed="rId5"/>
          <a:srcRect l="0" r="0" t="0" b="0"/>
          <a:stretch/>
        </p:blipFill>
        <p:spPr>
          <a:xfrm>
            <a:off x="7169150" y="2616200"/>
            <a:ext cx="260350" cy="1549400"/>
          </a:xfrm>
          <a:prstGeom prst="rect">
            <a:avLst/>
          </a:prstGeom>
        </p:spPr>
      </p:pic>
      <p:pic>
        <p:nvPicPr>
          <p:cNvPr id="50" name="Image 5" descr="connector">    </p:cNvPr>
          <p:cNvPicPr>
            <a:picLocks noChangeAspect="1"/>
          </p:cNvPicPr>
          <p:nvPr/>
        </p:nvPicPr>
        <p:blipFill>
          <a:blip r:embed="rId6"/>
          <a:srcRect l="0" r="0" t="0" b="0"/>
          <a:stretch/>
        </p:blipFill>
        <p:spPr>
          <a:xfrm>
            <a:off x="8216900" y="3067050"/>
            <a:ext cx="101600" cy="349250"/>
          </a:xfrm>
          <a:prstGeom prst="rect">
            <a:avLst/>
          </a:prstGeom>
        </p:spPr>
      </p:pic>
      <p:pic>
        <p:nvPicPr>
          <p:cNvPr id="51" name="Image 6" descr="connector">    </p:cNvPr>
          <p:cNvPicPr>
            <a:picLocks noChangeAspect="1"/>
          </p:cNvPicPr>
          <p:nvPr/>
        </p:nvPicPr>
        <p:blipFill>
          <a:blip r:embed="rId7"/>
          <a:srcRect l="0" r="0" t="0" b="0"/>
          <a:stretch/>
        </p:blipFill>
        <p:spPr>
          <a:xfrm>
            <a:off x="9105900" y="2616200"/>
            <a:ext cx="419100" cy="1352550"/>
          </a:xfrm>
          <a:prstGeom prst="rect">
            <a:avLst/>
          </a:prstGeom>
        </p:spPr>
      </p:pic>
      <p:pic>
        <p:nvPicPr>
          <p:cNvPr id="52" name="Image 7" descr="connector">    </p:cNvPr>
          <p:cNvPicPr>
            <a:picLocks noChangeAspect="1"/>
          </p:cNvPicPr>
          <p:nvPr/>
        </p:nvPicPr>
        <p:blipFill>
          <a:blip r:embed="rId8"/>
          <a:srcRect l="0" r="0" t="0" b="0"/>
          <a:stretch/>
        </p:blipFill>
        <p:spPr>
          <a:xfrm>
            <a:off x="10312400" y="3067050"/>
            <a:ext cx="101600" cy="349250"/>
          </a:xfrm>
          <a:prstGeom prst="rect">
            <a:avLst/>
          </a:prstGeom>
        </p:spPr>
      </p:pic>
      <p:pic>
        <p:nvPicPr>
          <p:cNvPr id="53" name="Image 8" descr="connector">    </p:cNvPr>
          <p:cNvPicPr>
            <a:picLocks noChangeAspect="1"/>
          </p:cNvPicPr>
          <p:nvPr/>
        </p:nvPicPr>
        <p:blipFill>
          <a:blip r:embed="rId9"/>
          <a:srcRect l="0" r="0" t="0" b="0"/>
          <a:stretch/>
        </p:blipFill>
        <p:spPr>
          <a:xfrm>
            <a:off x="3676650" y="4425950"/>
            <a:ext cx="101600" cy="349250"/>
          </a:xfrm>
          <a:prstGeom prst="rect">
            <a:avLst/>
          </a:prstGeom>
        </p:spPr>
      </p:pic>
      <p:pic>
        <p:nvPicPr>
          <p:cNvPr id="54" name="Image 9" descr="connector">    </p:cNvPr>
          <p:cNvPicPr>
            <a:picLocks noChangeAspect="1"/>
          </p:cNvPicPr>
          <p:nvPr/>
        </p:nvPicPr>
        <p:blipFill>
          <a:blip r:embed="rId10"/>
          <a:srcRect l="0" r="0" t="0" b="0"/>
          <a:stretch/>
        </p:blipFill>
        <p:spPr>
          <a:xfrm>
            <a:off x="5029200" y="3937000"/>
            <a:ext cx="101600" cy="838200"/>
          </a:xfrm>
          <a:prstGeom prst="rect">
            <a:avLst/>
          </a:prstGeom>
        </p:spPr>
      </p:pic>
      <p:sp>
        <p:nvSpPr>
          <p:cNvPr id="55" name="Text 4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56" name="Text 4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12 / 20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HUMAN OVERSIGHT</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AI proposes; people approve</a:t>
            </a:r>
            <a:endParaRPr lang="en-US" sz="3200" dirty="0"/>
          </a:p>
        </p:txBody>
      </p:sp>
      <p:sp>
        <p:nvSpPr>
          <p:cNvPr id="4" name="Text 2"/>
          <p:cNvSpPr/>
          <p:nvPr/>
        </p:nvSpPr>
        <p:spPr>
          <a:xfrm>
            <a:off x="812800" y="1879600"/>
            <a:ext cx="674979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AI COMPONENTS AND THEIR LIMITS</a:t>
            </a:r>
            <a:endParaRPr lang="en-US" sz="1200" dirty="0"/>
          </a:p>
        </p:txBody>
      </p:sp>
      <p:sp>
        <p:nvSpPr>
          <p:cNvPr id="5" name="Shape 3"/>
          <p:cNvSpPr/>
          <p:nvPr/>
        </p:nvSpPr>
        <p:spPr>
          <a:xfrm>
            <a:off x="7362825" y="2194564"/>
            <a:ext cx="0" cy="2362200"/>
          </a:xfrm>
          <a:prstGeom prst="line">
            <a:avLst/>
          </a:prstGeom>
          <a:noFill/>
          <a:ln w="6350">
            <a:solidFill>
              <a:srgbClr val="DDD7CB"/>
            </a:solidFill>
            <a:prstDash val="solid"/>
          </a:ln>
        </p:spPr>
      </p:sp>
      <p:sp>
        <p:nvSpPr>
          <p:cNvPr id="6" name="Shape 4"/>
          <p:cNvSpPr/>
          <p:nvPr/>
        </p:nvSpPr>
        <p:spPr>
          <a:xfrm>
            <a:off x="812800" y="4553589"/>
            <a:ext cx="6553200" cy="0"/>
          </a:xfrm>
          <a:prstGeom prst="line">
            <a:avLst/>
          </a:prstGeom>
          <a:noFill/>
          <a:ln w="6350">
            <a:solidFill>
              <a:srgbClr val="DDD7C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204724"/>
          <a:ext cx="6537960" cy="2346960"/>
        </p:xfrm>
        <a:graphic>
          <a:graphicData uri="http://schemas.openxmlformats.org/drawingml/2006/table">
            <a:tbl>
              <a:tblPr/>
              <a:tblGrid>
                <a:gridCol w="1699870"/>
                <a:gridCol w="2419045"/>
                <a:gridCol w="2419045"/>
              </a:tblGrid>
              <a:tr h="426720">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Can</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285A73"/>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Cannot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285A73"/>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Interrogation agent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Ask questions and propose answers with consequences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Approve, finalize or publish any artifact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Modeling pipeline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Draft ESML, DMML and Intent Registry proposals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Skip a validation gate or force-finalize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Red Team agent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Raise advisory or blocking findings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Edit the model; findings are flags only</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bl>
          </a:graphicData>
        </a:graphic>
      </p:graphicFrame>
      <p:pic>
        <p:nvPicPr>
          <p:cNvPr id="8" name="Image 0" descr="Activity">    </p:cNvPr>
          <p:cNvPicPr>
            <a:picLocks noChangeAspect="1"/>
          </p:cNvPicPr>
          <p:nvPr/>
        </p:nvPicPr>
        <p:blipFill>
          <a:blip r:embed="rId1"/>
          <a:srcRect l="-1187" r="-1187" t="0" b="0"/>
          <a:stretch/>
        </p:blipFill>
        <p:spPr>
          <a:xfrm>
            <a:off x="812800" y="4658364"/>
            <a:ext cx="130016" cy="203200"/>
          </a:xfrm>
          <a:prstGeom prst="rect">
            <a:avLst/>
          </a:prstGeom>
        </p:spPr>
      </p:pic>
      <p:sp>
        <p:nvSpPr>
          <p:cNvPr id="9" name="Text 5"/>
          <p:cNvSpPr/>
          <p:nvPr/>
        </p:nvSpPr>
        <p:spPr>
          <a:xfrm>
            <a:off x="1031716" y="4658364"/>
            <a:ext cx="65243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Offline evaluation harness scores models against hand-reviewed references for invented, omitted and misclassified elements per prompt version.</a:t>
            </a:r>
            <a:endParaRPr lang="en-US" sz="1200" dirty="0"/>
          </a:p>
        </p:txBody>
      </p:sp>
      <p:sp>
        <p:nvSpPr>
          <p:cNvPr id="10" name="Shape 6"/>
          <p:cNvSpPr/>
          <p:nvPr/>
        </p:nvSpPr>
        <p:spPr>
          <a:xfrm>
            <a:off x="7569200" y="1879600"/>
            <a:ext cx="3810000" cy="3362960"/>
          </a:xfrm>
          <a:prstGeom prst="roundRect">
            <a:avLst>
              <a:gd name="adj" fmla="val 3021"/>
            </a:avLst>
          </a:prstGeom>
          <a:solidFill>
            <a:srgbClr val="13233A"/>
          </a:solidFill>
          <a:ln/>
        </p:spPr>
      </p:sp>
      <p:sp>
        <p:nvSpPr>
          <p:cNvPr id="11" name="Text 7"/>
          <p:cNvSpPr/>
          <p:nvPr/>
        </p:nvSpPr>
        <p:spPr>
          <a:xfrm>
            <a:off x="7823200" y="2133600"/>
            <a:ext cx="340106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HUMAN DECISION POINTS</a:t>
            </a:r>
            <a:endParaRPr lang="en-US" sz="1200" dirty="0"/>
          </a:p>
        </p:txBody>
      </p:sp>
      <p:pic>
        <p:nvPicPr>
          <p:cNvPr id="12" name="Image 1" descr="Users">    </p:cNvPr>
          <p:cNvPicPr>
            <a:picLocks noChangeAspect="1"/>
          </p:cNvPicPr>
          <p:nvPr/>
        </p:nvPicPr>
        <p:blipFill>
          <a:blip r:embed="rId2"/>
          <a:srcRect l="0" r="0" t="-1037" b="-1037"/>
          <a:stretch/>
        </p:blipFill>
        <p:spPr>
          <a:xfrm>
            <a:off x="7823200" y="2473964"/>
            <a:ext cx="99536" cy="203200"/>
          </a:xfrm>
          <a:prstGeom prst="rect">
            <a:avLst/>
          </a:prstGeom>
        </p:spPr>
      </p:pic>
      <p:sp>
        <p:nvSpPr>
          <p:cNvPr id="13" name="Text 8"/>
          <p:cNvSpPr/>
          <p:nvPr/>
        </p:nvSpPr>
        <p:spPr>
          <a:xfrm>
            <a:off x="8024337" y="2473964"/>
            <a:ext cx="31938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User confirms the interrogation draft and can contest any AI answer; corrections are retained</a:t>
            </a:r>
            <a:endParaRPr lang="en-US" sz="1200" dirty="0"/>
          </a:p>
        </p:txBody>
      </p:sp>
      <p:pic>
        <p:nvPicPr>
          <p:cNvPr id="14" name="Image 2" descr="Verified">    </p:cNvPr>
          <p:cNvPicPr>
            <a:picLocks noChangeAspect="1"/>
          </p:cNvPicPr>
          <p:nvPr/>
        </p:nvPicPr>
        <p:blipFill>
          <a:blip r:embed="rId3"/>
          <a:srcRect l="-781" r="-781" t="0" b="0"/>
          <a:stretch/>
        </p:blipFill>
        <p:spPr>
          <a:xfrm>
            <a:off x="7823200" y="3241042"/>
            <a:ext cx="103188" cy="203200"/>
          </a:xfrm>
          <a:prstGeom prst="rect">
            <a:avLst/>
          </a:prstGeom>
        </p:spPr>
      </p:pic>
      <p:sp>
        <p:nvSpPr>
          <p:cNvPr id="15" name="Text 9"/>
          <p:cNvSpPr/>
          <p:nvPr/>
        </p:nvSpPr>
        <p:spPr>
          <a:xfrm>
            <a:off x="8027988" y="3241042"/>
            <a:ext cx="319012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IR Author and domain SME review, correct and approve, attesting to business correctness</a:t>
            </a:r>
            <a:endParaRPr lang="en-US" sz="1200" dirty="0"/>
          </a:p>
        </p:txBody>
      </p:sp>
      <p:pic>
        <p:nvPicPr>
          <p:cNvPr id="16" name="Image 3" descr="Warning">    </p:cNvPr>
          <p:cNvPicPr>
            <a:picLocks noChangeAspect="1"/>
          </p:cNvPicPr>
          <p:nvPr/>
        </p:nvPicPr>
        <p:blipFill>
          <a:blip r:embed="rId4"/>
          <a:srcRect l="-1151" r="-1151" t="0" b="0"/>
          <a:stretch/>
        </p:blipFill>
        <p:spPr>
          <a:xfrm>
            <a:off x="7823200" y="4008121"/>
            <a:ext cx="123428" cy="203200"/>
          </a:xfrm>
          <a:prstGeom prst="rect">
            <a:avLst/>
          </a:prstGeom>
        </p:spPr>
      </p:pic>
      <p:sp>
        <p:nvSpPr>
          <p:cNvPr id="17" name="Text 10"/>
          <p:cNvSpPr/>
          <p:nvPr/>
        </p:nvSpPr>
        <p:spPr>
          <a:xfrm>
            <a:off x="8048228" y="4008121"/>
            <a:ext cx="31692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Blocking Red Team findings are resolved or approved as documented gaps</a:t>
            </a:r>
            <a:endParaRPr lang="en-US" sz="1200" dirty="0"/>
          </a:p>
        </p:txBody>
      </p:sp>
      <p:pic>
        <p:nvPicPr>
          <p:cNvPr id="18" name="Image 4" descr="Settings">    </p:cNvPr>
          <p:cNvPicPr>
            <a:picLocks noChangeAspect="1"/>
          </p:cNvPicPr>
          <p:nvPr/>
        </p:nvPicPr>
        <p:blipFill>
          <a:blip r:embed="rId5"/>
          <a:srcRect l="-220" r="-220" t="0" b="0"/>
          <a:stretch/>
        </p:blipFill>
        <p:spPr>
          <a:xfrm>
            <a:off x="7823200" y="4561842"/>
            <a:ext cx="108426" cy="203200"/>
          </a:xfrm>
          <a:prstGeom prst="rect">
            <a:avLst/>
          </a:prstGeom>
        </p:spPr>
      </p:pic>
      <p:sp>
        <p:nvSpPr>
          <p:cNvPr id="19" name="Text 11"/>
          <p:cNvSpPr/>
          <p:nvPr/>
        </p:nvSpPr>
        <p:spPr>
          <a:xfrm>
            <a:off x="8033227" y="4561842"/>
            <a:ext cx="31847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PoC owners review evaluation results before any prompt or model change is released</a:t>
            </a:r>
            <a:endParaRPr lang="en-US" sz="1200" dirty="0"/>
          </a:p>
        </p:txBody>
      </p:sp>
      <p:sp>
        <p:nvSpPr>
          <p:cNvPr id="20"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1"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13 / 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28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OUTPUTS</a:t>
            </a:r>
            <a:endParaRPr lang="en-US" sz="1200" dirty="0"/>
          </a:p>
        </p:txBody>
      </p:sp>
      <p:sp>
        <p:nvSpPr>
          <p:cNvPr id="3" name="Text 1"/>
          <p:cNvSpPr/>
          <p:nvPr/>
        </p:nvSpPr>
        <p:spPr>
          <a:xfrm>
            <a:off x="812800" y="1127286"/>
            <a:ext cx="10883392" cy="471488"/>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The handoff: specifications, never source code</a:t>
            </a:r>
            <a:endParaRPr lang="en-US" sz="3200" dirty="0"/>
          </a:p>
        </p:txBody>
      </p:sp>
      <p:sp>
        <p:nvSpPr>
          <p:cNvPr id="4" name="Shape 2"/>
          <p:cNvSpPr/>
          <p:nvPr/>
        </p:nvSpPr>
        <p:spPr>
          <a:xfrm>
            <a:off x="815975" y="1881349"/>
            <a:ext cx="2914650" cy="3516075"/>
          </a:xfrm>
          <a:prstGeom prst="roundRect">
            <a:avLst>
              <a:gd name="adj" fmla="val 2505"/>
            </a:avLst>
          </a:prstGeom>
          <a:solidFill>
            <a:srgbClr val="FDFCF9"/>
          </a:solidFill>
          <a:ln w="6350">
            <a:solidFill>
              <a:srgbClr val="DDD7CB"/>
            </a:solidFill>
            <a:prstDash val="solid"/>
          </a:ln>
        </p:spPr>
      </p:sp>
      <p:sp>
        <p:nvSpPr>
          <p:cNvPr id="5" name="Text 3"/>
          <p:cNvSpPr/>
          <p:nvPr/>
        </p:nvSpPr>
        <p:spPr>
          <a:xfrm>
            <a:off x="1021080" y="2086452"/>
            <a:ext cx="257957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VALIDATED MODELS</a:t>
            </a:r>
            <a:endParaRPr lang="en-US" sz="1200" dirty="0"/>
          </a:p>
        </p:txBody>
      </p:sp>
      <p:sp>
        <p:nvSpPr>
          <p:cNvPr id="6" name="Text 4"/>
          <p:cNvSpPr/>
          <p:nvPr/>
        </p:nvSpPr>
        <p:spPr>
          <a:xfrm>
            <a:off x="1119886" y="2401410"/>
            <a:ext cx="2473147" cy="1732280"/>
          </a:xfrm>
          <a:prstGeom prst="rect">
            <a:avLst/>
          </a:prstGeom>
          <a:noFill/>
          <a:ln/>
        </p:spPr>
        <p:txBody>
          <a:bodyPr wrap="square" lIns="0" tIns="0" rIns="0" bIns="0" rtlCol="0" anchor="t">
            <a:normAutofit/>
          </a:bodyPr>
          <a:lstStyle/>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ESML Event Storming model</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DMML domain model and Context Map</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Intent Registry</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Event Storming, state-machine and sequence diagrams</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Red Team findings</a:t>
            </a:r>
            <a:endParaRPr lang="en-US" sz="1200" dirty="0"/>
          </a:p>
        </p:txBody>
      </p:sp>
      <p:sp>
        <p:nvSpPr>
          <p:cNvPr id="7" name="Shape 5"/>
          <p:cNvSpPr/>
          <p:nvPr/>
        </p:nvSpPr>
        <p:spPr>
          <a:xfrm>
            <a:off x="3889375" y="1881349"/>
            <a:ext cx="4540250" cy="3516075"/>
          </a:xfrm>
          <a:prstGeom prst="roundRect">
            <a:avLst>
              <a:gd name="adj" fmla="val 2077"/>
            </a:avLst>
          </a:prstGeom>
          <a:solidFill>
            <a:srgbClr val="FDFCF9"/>
          </a:solidFill>
          <a:ln w="6350">
            <a:solidFill>
              <a:srgbClr val="DDD7CB"/>
            </a:solidFill>
            <a:prstDash val="solid"/>
          </a:ln>
        </p:spPr>
      </p:sp>
      <p:sp>
        <p:nvSpPr>
          <p:cNvPr id="8" name="Text 6"/>
          <p:cNvSpPr/>
          <p:nvPr/>
        </p:nvSpPr>
        <p:spPr>
          <a:xfrm>
            <a:off x="4094480" y="2086452"/>
            <a:ext cx="425394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IMPLEMENTATION HANDOFF PACK</a:t>
            </a:r>
            <a:endParaRPr lang="en-US" sz="1200" dirty="0"/>
          </a:p>
        </p:txBody>
      </p:sp>
      <p:sp>
        <p:nvSpPr>
          <p:cNvPr id="9" name="Text 7"/>
          <p:cNvSpPr/>
          <p:nvPr/>
        </p:nvSpPr>
        <p:spPr>
          <a:xfrm>
            <a:off x="4094480" y="2401410"/>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AGENTS.md</a:t>
            </a:r>
            <a:endParaRPr lang="en-US" sz="1200" dirty="0"/>
          </a:p>
        </p:txBody>
      </p:sp>
      <p:sp>
        <p:nvSpPr>
          <p:cNvPr id="10" name="Text 8"/>
          <p:cNvSpPr/>
          <p:nvPr/>
        </p:nvSpPr>
        <p:spPr>
          <a:xfrm>
            <a:off x="4094480" y="2640174"/>
            <a:ext cx="42539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Ubiquitous language, context boundaries, rules and enforcement points, failure vocabulary, non-goals</a:t>
            </a:r>
            <a:endParaRPr lang="en-US" sz="1200" dirty="0"/>
          </a:p>
        </p:txBody>
      </p:sp>
      <p:sp>
        <p:nvSpPr>
          <p:cNvPr id="11" name="Text 9"/>
          <p:cNvSpPr/>
          <p:nvPr/>
        </p:nvSpPr>
        <p:spPr>
          <a:xfrm>
            <a:off x="4094480" y="3168495"/>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tasks.md</a:t>
            </a:r>
            <a:endParaRPr lang="en-US" sz="1200" dirty="0"/>
          </a:p>
        </p:txBody>
      </p:sp>
      <p:sp>
        <p:nvSpPr>
          <p:cNvPr id="12" name="Text 10"/>
          <p:cNvSpPr/>
          <p:nvPr/>
        </p:nvSpPr>
        <p:spPr>
          <a:xfrm>
            <a:off x="4094480" y="3407252"/>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Ordered implementation task breakdown</a:t>
            </a:r>
            <a:endParaRPr lang="en-US" sz="1200" dirty="0"/>
          </a:p>
        </p:txBody>
      </p:sp>
      <p:sp>
        <p:nvSpPr>
          <p:cNvPr id="13" name="Text 11"/>
          <p:cNvSpPr/>
          <p:nvPr/>
        </p:nvSpPr>
        <p:spPr>
          <a:xfrm>
            <a:off x="4094480" y="3722210"/>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acceptance-criteria.md</a:t>
            </a:r>
            <a:endParaRPr lang="en-US" sz="1200" dirty="0"/>
          </a:p>
        </p:txBody>
      </p:sp>
      <p:sp>
        <p:nvSpPr>
          <p:cNvPr id="14" name="Text 12"/>
          <p:cNvSpPr/>
          <p:nvPr/>
        </p:nvSpPr>
        <p:spPr>
          <a:xfrm>
            <a:off x="4094480" y="3960974"/>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Every rule mapped to its required test evidence</a:t>
            </a:r>
            <a:endParaRPr lang="en-US" sz="1200" dirty="0"/>
          </a:p>
        </p:txBody>
      </p:sp>
      <p:sp>
        <p:nvSpPr>
          <p:cNvPr id="15" name="Text 13"/>
          <p:cNvSpPr/>
          <p:nvPr/>
        </p:nvSpPr>
        <p:spPr>
          <a:xfrm>
            <a:off x="4094480" y="4275931"/>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eval-rubric.md</a:t>
            </a:r>
            <a:endParaRPr lang="en-US" sz="1200" dirty="0"/>
          </a:p>
        </p:txBody>
      </p:sp>
      <p:sp>
        <p:nvSpPr>
          <p:cNvPr id="16" name="Text 14"/>
          <p:cNvSpPr/>
          <p:nvPr/>
        </p:nvSpPr>
        <p:spPr>
          <a:xfrm>
            <a:off x="4094480" y="4514695"/>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How to judge an implementation against the spec</a:t>
            </a:r>
            <a:endParaRPr lang="en-US" sz="1200" dirty="0"/>
          </a:p>
        </p:txBody>
      </p:sp>
      <p:sp>
        <p:nvSpPr>
          <p:cNvPr id="17" name="Shape 15"/>
          <p:cNvSpPr/>
          <p:nvPr/>
        </p:nvSpPr>
        <p:spPr>
          <a:xfrm>
            <a:off x="8588375" y="1881349"/>
            <a:ext cx="2787650" cy="3516075"/>
          </a:xfrm>
          <a:prstGeom prst="roundRect">
            <a:avLst>
              <a:gd name="adj" fmla="val 2620"/>
            </a:avLst>
          </a:prstGeom>
          <a:solidFill>
            <a:srgbClr val="F4E4DE"/>
          </a:solidFill>
          <a:ln w="6350">
            <a:solidFill>
              <a:srgbClr val="E3C2B6"/>
            </a:solidFill>
            <a:prstDash val="solid"/>
          </a:ln>
        </p:spPr>
      </p:sp>
      <p:sp>
        <p:nvSpPr>
          <p:cNvPr id="18" name="Text 16"/>
          <p:cNvSpPr/>
          <p:nvPr/>
        </p:nvSpPr>
        <p:spPr>
          <a:xfrm>
            <a:off x="8793480" y="2086452"/>
            <a:ext cx="2448763" cy="23812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DELIBERATELY EXCLUDED</a:t>
            </a:r>
            <a:endParaRPr lang="en-US" sz="1200" dirty="0"/>
          </a:p>
        </p:txBody>
      </p:sp>
      <p:sp>
        <p:nvSpPr>
          <p:cNvPr id="19" name="Shape 17"/>
          <p:cNvSpPr/>
          <p:nvPr/>
        </p:nvSpPr>
        <p:spPr>
          <a:xfrm>
            <a:off x="8793480" y="2725739"/>
            <a:ext cx="2377440" cy="0"/>
          </a:xfrm>
          <a:prstGeom prst="line">
            <a:avLst/>
          </a:prstGeom>
          <a:noFill/>
          <a:ln w="6350">
            <a:solidFill>
              <a:srgbClr val="E3C2B6"/>
            </a:solidFill>
            <a:prstDash val="solid"/>
          </a:ln>
        </p:spPr>
      </p:sp>
      <p:sp>
        <p:nvSpPr>
          <p:cNvPr id="20" name="Text 18"/>
          <p:cNvSpPr/>
          <p:nvPr/>
        </p:nvSpPr>
        <p:spPr>
          <a:xfrm>
            <a:off x="8793480" y="2426177"/>
            <a:ext cx="2448763" cy="27225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source code</a:t>
            </a:r>
            <a:endParaRPr lang="en-US" sz="1500" dirty="0"/>
          </a:p>
        </p:txBody>
      </p:sp>
      <p:sp>
        <p:nvSpPr>
          <p:cNvPr id="21" name="Shape 19"/>
          <p:cNvSpPr/>
          <p:nvPr/>
        </p:nvSpPr>
        <p:spPr>
          <a:xfrm>
            <a:off x="8793480" y="3155553"/>
            <a:ext cx="2377440" cy="0"/>
          </a:xfrm>
          <a:prstGeom prst="line">
            <a:avLst/>
          </a:prstGeom>
          <a:noFill/>
          <a:ln w="6350">
            <a:solidFill>
              <a:srgbClr val="E3C2B6"/>
            </a:solidFill>
            <a:prstDash val="solid"/>
          </a:ln>
        </p:spPr>
      </p:sp>
      <p:sp>
        <p:nvSpPr>
          <p:cNvPr id="22" name="Text 20"/>
          <p:cNvSpPr/>
          <p:nvPr/>
        </p:nvSpPr>
        <p:spPr>
          <a:xfrm>
            <a:off x="8793480" y="2855913"/>
            <a:ext cx="2448763" cy="27233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code generator</a:t>
            </a:r>
            <a:endParaRPr lang="en-US" sz="1500" dirty="0"/>
          </a:p>
        </p:txBody>
      </p:sp>
      <p:sp>
        <p:nvSpPr>
          <p:cNvPr id="23" name="Shape 21"/>
          <p:cNvSpPr/>
          <p:nvPr/>
        </p:nvSpPr>
        <p:spPr>
          <a:xfrm>
            <a:off x="8793480" y="3832225"/>
            <a:ext cx="2377440" cy="0"/>
          </a:xfrm>
          <a:prstGeom prst="line">
            <a:avLst/>
          </a:prstGeom>
          <a:noFill/>
          <a:ln w="6350">
            <a:solidFill>
              <a:srgbClr val="E3C2B6"/>
            </a:solidFill>
            <a:prstDash val="solid"/>
          </a:ln>
        </p:spPr>
      </p:sp>
      <p:sp>
        <p:nvSpPr>
          <p:cNvPr id="24" name="Text 22"/>
          <p:cNvSpPr/>
          <p:nvPr/>
        </p:nvSpPr>
        <p:spPr>
          <a:xfrm>
            <a:off x="8793480" y="3285728"/>
            <a:ext cx="2448763" cy="519192"/>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implementation templates</a:t>
            </a:r>
            <a:endParaRPr lang="en-US" sz="1500" dirty="0"/>
          </a:p>
        </p:txBody>
      </p:sp>
      <p:sp>
        <p:nvSpPr>
          <p:cNvPr id="25" name="Shape 23"/>
          <p:cNvSpPr/>
          <p:nvPr/>
        </p:nvSpPr>
        <p:spPr>
          <a:xfrm>
            <a:off x="8793480" y="4262041"/>
            <a:ext cx="2377440" cy="0"/>
          </a:xfrm>
          <a:prstGeom prst="line">
            <a:avLst/>
          </a:prstGeom>
          <a:noFill/>
          <a:ln w="6350">
            <a:solidFill>
              <a:srgbClr val="E3C2B6"/>
            </a:solidFill>
            <a:prstDash val="solid"/>
          </a:ln>
        </p:spPr>
      </p:sp>
      <p:sp>
        <p:nvSpPr>
          <p:cNvPr id="26" name="Text 24"/>
          <p:cNvSpPr/>
          <p:nvPr/>
        </p:nvSpPr>
        <p:spPr>
          <a:xfrm>
            <a:off x="8793480" y="3962400"/>
            <a:ext cx="2448763" cy="27233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scaffolding</a:t>
            </a:r>
            <a:endParaRPr lang="en-US" sz="1500" dirty="0"/>
          </a:p>
        </p:txBody>
      </p:sp>
      <p:sp>
        <p:nvSpPr>
          <p:cNvPr id="27" name="Text 25"/>
          <p:cNvSpPr/>
          <p:nvPr/>
        </p:nvSpPr>
        <p:spPr>
          <a:xfrm>
            <a:off x="8793480" y="4341416"/>
            <a:ext cx="2448763" cy="876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Engineers, or a general-purpose coding assistant, implement separately from the approved pack.</a:t>
            </a:r>
            <a:endParaRPr lang="en-US" sz="1200" dirty="0"/>
          </a:p>
        </p:txBody>
      </p:sp>
      <p:pic>
        <p:nvPicPr>
          <p:cNvPr id="28" name="Image 0" descr="Book">    </p:cNvPr>
          <p:cNvPicPr>
            <a:picLocks noChangeAspect="1"/>
          </p:cNvPicPr>
          <p:nvPr/>
        </p:nvPicPr>
        <p:blipFill>
          <a:blip r:embed="rId1"/>
          <a:srcRect l="0" r="0" t="0" b="0"/>
          <a:stretch/>
        </p:blipFill>
        <p:spPr>
          <a:xfrm>
            <a:off x="812800" y="5583157"/>
            <a:ext cx="228600" cy="228600"/>
          </a:xfrm>
          <a:prstGeom prst="rect">
            <a:avLst/>
          </a:prstGeom>
        </p:spPr>
      </p:pic>
      <p:sp>
        <p:nvSpPr>
          <p:cNvPr id="29" name="Text 26"/>
          <p:cNvSpPr/>
          <p:nvPr/>
        </p:nvSpPr>
        <p:spPr>
          <a:xfrm>
            <a:off x="1168400" y="5590778"/>
            <a:ext cx="5055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Finalized artifacts are written as versionable Markdown and YAML under</a:t>
            </a:r>
            <a:endParaRPr lang="en-US" sz="1200" dirty="0"/>
          </a:p>
        </p:txBody>
      </p:sp>
      <p:sp>
        <p:nvSpPr>
          <p:cNvPr id="30" name="Text 27"/>
          <p:cNvSpPr/>
          <p:nvPr/>
        </p:nvSpPr>
        <p:spPr>
          <a:xfrm>
            <a:off x="6203315" y="5552759"/>
            <a:ext cx="2123440" cy="289560"/>
          </a:xfrm>
          <a:prstGeom prst="roundRect">
            <a:avLst>
              <a:gd name="adj" fmla="val 17544"/>
            </a:avLst>
          </a:prstGeom>
          <a:solidFill>
            <a:srgbClr val="13233A"/>
          </a:solidFill>
          <a:ln/>
        </p:spPr>
        <p:txBody>
          <a:bodyPr wrap="none" lIns="0" tIns="0" rIns="0" bIns="0" rtlCol="0" anchor="ctr">
            <a:normAutofit/>
          </a:bodyPr>
          <a:lstStyle/>
          <a:p>
            <a:pPr algn="ctr" indent="0" marL="0">
              <a:lnSpc>
                <a:spcPts val="1680"/>
              </a:lnSpc>
              <a:buNone/>
            </a:pPr>
            <a:r>
              <a:rPr lang="en-US" sz="1200" dirty="0">
                <a:solidFill>
                  <a:srgbClr val="F6F4EF"/>
                </a:solidFill>
                <a:latin typeface="IBM Plex Mono" pitchFamily="34" charset="0"/>
                <a:ea typeface="IBM Plex Mono" pitchFamily="34" charset="-122"/>
                <a:cs typeface="IBM Plex Mono" pitchFamily="34" charset="-120"/>
              </a:rPr>
              <a:t>specs/&lt;feature-slug&gt;/</a:t>
            </a:r>
            <a:endParaRPr lang="en-US" sz="1200" dirty="0"/>
          </a:p>
        </p:txBody>
      </p:sp>
      <p:sp>
        <p:nvSpPr>
          <p:cNvPr id="31" name="Text 2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2" name="Text 2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14 / 20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DATA</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Data scope: internal, non-personal text only</a:t>
            </a:r>
            <a:endParaRPr lang="en-US" sz="3200" dirty="0"/>
          </a:p>
        </p:txBody>
      </p:sp>
      <p:sp>
        <p:nvSpPr>
          <p:cNvPr id="4" name="Shape 2"/>
          <p:cNvSpPr/>
          <p:nvPr/>
        </p:nvSpPr>
        <p:spPr>
          <a:xfrm>
            <a:off x="815975" y="1882775"/>
            <a:ext cx="3793490" cy="3204210"/>
          </a:xfrm>
          <a:prstGeom prst="roundRect">
            <a:avLst>
              <a:gd name="adj" fmla="val 2279"/>
            </a:avLst>
          </a:prstGeom>
          <a:solidFill>
            <a:srgbClr val="FDFCF9"/>
          </a:solidFill>
          <a:ln w="6350">
            <a:solidFill>
              <a:srgbClr val="DDD7CB"/>
            </a:solidFill>
            <a:prstDash val="solid"/>
          </a:ln>
        </p:spPr>
      </p:sp>
      <p:sp>
        <p:nvSpPr>
          <p:cNvPr id="5" name="Text 3"/>
          <p:cNvSpPr/>
          <p:nvPr/>
        </p:nvSpPr>
        <p:spPr>
          <a:xfrm>
            <a:off x="1021080" y="2087879"/>
            <a:ext cx="348477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WHAT IT WOULD USE</a:t>
            </a:r>
            <a:endParaRPr lang="en-US" sz="1200" dirty="0"/>
          </a:p>
        </p:txBody>
      </p:sp>
      <p:sp>
        <p:nvSpPr>
          <p:cNvPr id="6" name="Text 4"/>
          <p:cNvSpPr/>
          <p:nvPr/>
        </p:nvSpPr>
        <p:spPr>
          <a:xfrm>
            <a:off x="1021080" y="2352042"/>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All classified Internal; none personal</a:t>
            </a:r>
            <a:endParaRPr lang="en-US" sz="1200" dirty="0"/>
          </a:p>
        </p:txBody>
      </p:sp>
      <p:sp>
        <p:nvSpPr>
          <p:cNvPr id="7" name="Text 5"/>
          <p:cNvSpPr/>
          <p:nvPr/>
        </p:nvSpPr>
        <p:spPr>
          <a:xfrm>
            <a:off x="1021080" y="2692400"/>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Feature requirement text</a:t>
            </a:r>
            <a:endParaRPr lang="en-US" sz="1200" dirty="0"/>
          </a:p>
        </p:txBody>
      </p:sp>
      <p:sp>
        <p:nvSpPr>
          <p:cNvPr id="8" name="Text 6"/>
          <p:cNvSpPr/>
          <p:nvPr/>
        </p:nvSpPr>
        <p:spPr>
          <a:xfrm>
            <a:off x="1021080" y="2931164"/>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Free-text descriptions of desired behavior</a:t>
            </a:r>
            <a:endParaRPr lang="en-US" sz="1200" dirty="0"/>
          </a:p>
        </p:txBody>
      </p:sp>
      <p:sp>
        <p:nvSpPr>
          <p:cNvPr id="9" name="Text 7"/>
          <p:cNvSpPr/>
          <p:nvPr/>
        </p:nvSpPr>
        <p:spPr>
          <a:xfrm>
            <a:off x="1021080" y="3271521"/>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Business rules and decision logic</a:t>
            </a:r>
            <a:endParaRPr lang="en-US" sz="1200" dirty="0"/>
          </a:p>
        </p:txBody>
      </p:sp>
      <p:sp>
        <p:nvSpPr>
          <p:cNvPr id="10" name="Text 8"/>
          <p:cNvSpPr/>
          <p:nvPr/>
        </p:nvSpPr>
        <p:spPr>
          <a:xfrm>
            <a:off x="1021080" y="3510279"/>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Routing rules, states, invariants</a:t>
            </a:r>
            <a:endParaRPr lang="en-US" sz="1200" dirty="0"/>
          </a:p>
        </p:txBody>
      </p:sp>
      <p:sp>
        <p:nvSpPr>
          <p:cNvPr id="11" name="Text 9"/>
          <p:cNvSpPr/>
          <p:nvPr/>
        </p:nvSpPr>
        <p:spPr>
          <a:xfrm>
            <a:off x="1021080" y="3850642"/>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Glossary and architecture references</a:t>
            </a:r>
            <a:endParaRPr lang="en-US" sz="1200" dirty="0"/>
          </a:p>
        </p:txBody>
      </p:sp>
      <p:sp>
        <p:nvSpPr>
          <p:cNvPr id="12" name="Text 10"/>
          <p:cNvSpPr/>
          <p:nvPr/>
        </p:nvSpPr>
        <p:spPr>
          <a:xfrm>
            <a:off x="1021080" y="4089400"/>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Internal OKF knowledge base material</a:t>
            </a:r>
            <a:endParaRPr lang="en-US" sz="1200" dirty="0"/>
          </a:p>
        </p:txBody>
      </p:sp>
      <p:sp>
        <p:nvSpPr>
          <p:cNvPr id="13" name="Text 11"/>
          <p:cNvSpPr/>
          <p:nvPr/>
        </p:nvSpPr>
        <p:spPr>
          <a:xfrm>
            <a:off x="1021080" y="4429764"/>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Generated specification artifacts</a:t>
            </a:r>
            <a:endParaRPr lang="en-US" sz="1200" dirty="0"/>
          </a:p>
        </p:txBody>
      </p:sp>
      <p:sp>
        <p:nvSpPr>
          <p:cNvPr id="14" name="Text 12"/>
          <p:cNvSpPr/>
          <p:nvPr/>
        </p:nvSpPr>
        <p:spPr>
          <a:xfrm>
            <a:off x="1021080" y="4668521"/>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Models, diagrams, findings, handoff docs</a:t>
            </a:r>
            <a:endParaRPr lang="en-US" sz="1200" dirty="0"/>
          </a:p>
        </p:txBody>
      </p:sp>
      <p:sp>
        <p:nvSpPr>
          <p:cNvPr id="15" name="Shape 13"/>
          <p:cNvSpPr/>
          <p:nvPr/>
        </p:nvSpPr>
        <p:spPr>
          <a:xfrm>
            <a:off x="4768215" y="1882775"/>
            <a:ext cx="3229610" cy="3204210"/>
          </a:xfrm>
          <a:prstGeom prst="roundRect">
            <a:avLst>
              <a:gd name="adj" fmla="val 2279"/>
            </a:avLst>
          </a:prstGeom>
          <a:solidFill>
            <a:srgbClr val="F4E4DE"/>
          </a:solidFill>
          <a:ln w="6350">
            <a:solidFill>
              <a:srgbClr val="E3C2B6"/>
            </a:solidFill>
            <a:prstDash val="solid"/>
          </a:ln>
        </p:spPr>
      </p:sp>
      <p:sp>
        <p:nvSpPr>
          <p:cNvPr id="16" name="Text 14"/>
          <p:cNvSpPr/>
          <p:nvPr/>
        </p:nvSpPr>
        <p:spPr>
          <a:xfrm>
            <a:off x="4973320" y="2087879"/>
            <a:ext cx="290398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NOT PERMITTED</a:t>
            </a:r>
            <a:endParaRPr lang="en-US" sz="1200" dirty="0"/>
          </a:p>
        </p:txBody>
      </p:sp>
      <p:sp>
        <p:nvSpPr>
          <p:cNvPr id="17" name="Shape 15"/>
          <p:cNvSpPr/>
          <p:nvPr/>
        </p:nvSpPr>
        <p:spPr>
          <a:xfrm>
            <a:off x="4973320" y="2707007"/>
            <a:ext cx="2819400" cy="0"/>
          </a:xfrm>
          <a:prstGeom prst="line">
            <a:avLst/>
          </a:prstGeom>
          <a:noFill/>
          <a:ln w="6350">
            <a:solidFill>
              <a:srgbClr val="E3C2B6"/>
            </a:solidFill>
            <a:prstDash val="solid"/>
          </a:ln>
        </p:spPr>
      </p:sp>
      <p:sp>
        <p:nvSpPr>
          <p:cNvPr id="18" name="Text 16"/>
          <p:cNvSpPr/>
          <p:nvPr/>
        </p:nvSpPr>
        <p:spPr>
          <a:xfrm>
            <a:off x="4973320" y="2440942"/>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Personal Data</a:t>
            </a:r>
            <a:endParaRPr lang="en-US" sz="1200" dirty="0"/>
          </a:p>
        </p:txBody>
      </p:sp>
      <p:sp>
        <p:nvSpPr>
          <p:cNvPr id="19" name="Shape 17"/>
          <p:cNvSpPr/>
          <p:nvPr/>
        </p:nvSpPr>
        <p:spPr>
          <a:xfrm>
            <a:off x="4973320" y="3115944"/>
            <a:ext cx="2819400" cy="0"/>
          </a:xfrm>
          <a:prstGeom prst="line">
            <a:avLst/>
          </a:prstGeom>
          <a:noFill/>
          <a:ln w="6350">
            <a:solidFill>
              <a:srgbClr val="E3C2B6"/>
            </a:solidFill>
            <a:prstDash val="solid"/>
          </a:ln>
        </p:spPr>
      </p:sp>
      <p:sp>
        <p:nvSpPr>
          <p:cNvPr id="20" name="Text 18"/>
          <p:cNvSpPr/>
          <p:nvPr/>
        </p:nvSpPr>
        <p:spPr>
          <a:xfrm>
            <a:off x="4973320" y="2849879"/>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Customer records</a:t>
            </a:r>
            <a:endParaRPr lang="en-US" sz="1200" dirty="0"/>
          </a:p>
        </p:txBody>
      </p:sp>
      <p:sp>
        <p:nvSpPr>
          <p:cNvPr id="21" name="Shape 19"/>
          <p:cNvSpPr/>
          <p:nvPr/>
        </p:nvSpPr>
        <p:spPr>
          <a:xfrm>
            <a:off x="4973320" y="3524886"/>
            <a:ext cx="2819400" cy="0"/>
          </a:xfrm>
          <a:prstGeom prst="line">
            <a:avLst/>
          </a:prstGeom>
          <a:noFill/>
          <a:ln w="6350">
            <a:solidFill>
              <a:srgbClr val="E3C2B6"/>
            </a:solidFill>
            <a:prstDash val="solid"/>
          </a:ln>
        </p:spPr>
      </p:sp>
      <p:sp>
        <p:nvSpPr>
          <p:cNvPr id="22" name="Text 20"/>
          <p:cNvSpPr/>
          <p:nvPr/>
        </p:nvSpPr>
        <p:spPr>
          <a:xfrm>
            <a:off x="4973320" y="3258821"/>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Production data</a:t>
            </a:r>
            <a:endParaRPr lang="en-US" sz="1200" dirty="0"/>
          </a:p>
        </p:txBody>
      </p:sp>
      <p:sp>
        <p:nvSpPr>
          <p:cNvPr id="23" name="Shape 21"/>
          <p:cNvSpPr/>
          <p:nvPr/>
        </p:nvSpPr>
        <p:spPr>
          <a:xfrm>
            <a:off x="4973320" y="3933829"/>
            <a:ext cx="2819400" cy="0"/>
          </a:xfrm>
          <a:prstGeom prst="line">
            <a:avLst/>
          </a:prstGeom>
          <a:noFill/>
          <a:ln w="6350">
            <a:solidFill>
              <a:srgbClr val="E3C2B6"/>
            </a:solidFill>
            <a:prstDash val="solid"/>
          </a:ln>
        </p:spPr>
      </p:sp>
      <p:sp>
        <p:nvSpPr>
          <p:cNvPr id="24" name="Text 22"/>
          <p:cNvSpPr/>
          <p:nvPr/>
        </p:nvSpPr>
        <p:spPr>
          <a:xfrm>
            <a:off x="4973320" y="3667764"/>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Account numbers or SSNs</a:t>
            </a:r>
            <a:endParaRPr lang="en-US" sz="1200" dirty="0"/>
          </a:p>
        </p:txBody>
      </p:sp>
      <p:sp>
        <p:nvSpPr>
          <p:cNvPr id="25" name="Shape 23"/>
          <p:cNvSpPr/>
          <p:nvPr/>
        </p:nvSpPr>
        <p:spPr>
          <a:xfrm>
            <a:off x="4973320" y="4342765"/>
            <a:ext cx="2819400" cy="0"/>
          </a:xfrm>
          <a:prstGeom prst="line">
            <a:avLst/>
          </a:prstGeom>
          <a:noFill/>
          <a:ln w="6350">
            <a:solidFill>
              <a:srgbClr val="E3C2B6"/>
            </a:solidFill>
            <a:prstDash val="solid"/>
          </a:ln>
        </p:spPr>
      </p:sp>
      <p:sp>
        <p:nvSpPr>
          <p:cNvPr id="26" name="Text 24"/>
          <p:cNvSpPr/>
          <p:nvPr/>
        </p:nvSpPr>
        <p:spPr>
          <a:xfrm>
            <a:off x="4973320" y="4076700"/>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Credit or financial data</a:t>
            </a:r>
            <a:endParaRPr lang="en-US" sz="1200" dirty="0"/>
          </a:p>
        </p:txBody>
      </p:sp>
      <p:sp>
        <p:nvSpPr>
          <p:cNvPr id="27" name="Text 25"/>
          <p:cNvSpPr/>
          <p:nvPr/>
        </p:nvSpPr>
        <p:spPr>
          <a:xfrm>
            <a:off x="4973320" y="4434842"/>
            <a:ext cx="2903982"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A5C"/>
                </a:solidFill>
                <a:latin typeface="IBM Plex Sans" pitchFamily="34" charset="0"/>
                <a:ea typeface="IBM Plex Sans" pitchFamily="34" charset="-122"/>
                <a:cs typeface="IBM Plex Sans" pitchFamily="34" charset="-120"/>
              </a:rPr>
              <a:t>Inputs describe what software should do, never data about customers.</a:t>
            </a:r>
            <a:endParaRPr lang="en-US" sz="1200" dirty="0"/>
          </a:p>
        </p:txBody>
      </p:sp>
      <p:sp>
        <p:nvSpPr>
          <p:cNvPr id="28" name="Shape 26"/>
          <p:cNvSpPr/>
          <p:nvPr/>
        </p:nvSpPr>
        <p:spPr>
          <a:xfrm>
            <a:off x="8153400" y="1879600"/>
            <a:ext cx="3225800" cy="3210560"/>
          </a:xfrm>
          <a:prstGeom prst="roundRect">
            <a:avLst>
              <a:gd name="adj" fmla="val 2373"/>
            </a:avLst>
          </a:prstGeom>
          <a:solidFill>
            <a:srgbClr val="13233A"/>
          </a:solidFill>
          <a:ln/>
        </p:spPr>
      </p:sp>
      <p:sp>
        <p:nvSpPr>
          <p:cNvPr id="29" name="Text 27"/>
          <p:cNvSpPr/>
          <p:nvPr/>
        </p:nvSpPr>
        <p:spPr>
          <a:xfrm>
            <a:off x="8356600" y="2082800"/>
            <a:ext cx="290398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SAFEGUARDS</a:t>
            </a:r>
            <a:endParaRPr lang="en-US" sz="1200" dirty="0"/>
          </a:p>
        </p:txBody>
      </p:sp>
      <p:pic>
        <p:nvPicPr>
          <p:cNvPr id="30" name="Image 0" descr="CheckCircle">    </p:cNvPr>
          <p:cNvPicPr>
            <a:picLocks noChangeAspect="1"/>
          </p:cNvPicPr>
          <p:nvPr/>
        </p:nvPicPr>
        <p:blipFill>
          <a:blip r:embed="rId1"/>
          <a:srcRect l="0" r="0" t="-733" b="-733"/>
          <a:stretch/>
        </p:blipFill>
        <p:spPr>
          <a:xfrm>
            <a:off x="8356600" y="2423164"/>
            <a:ext cx="200263" cy="203200"/>
          </a:xfrm>
          <a:prstGeom prst="rect">
            <a:avLst/>
          </a:prstGeom>
        </p:spPr>
      </p:pic>
      <p:sp>
        <p:nvSpPr>
          <p:cNvPr id="31" name="Text 28"/>
          <p:cNvSpPr/>
          <p:nvPr/>
        </p:nvSpPr>
        <p:spPr>
          <a:xfrm>
            <a:off x="8645763" y="2423164"/>
            <a:ext cx="260614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Users told not to enter restricted data</a:t>
            </a:r>
            <a:endParaRPr lang="en-US" sz="1200" dirty="0"/>
          </a:p>
        </p:txBody>
      </p:sp>
      <p:pic>
        <p:nvPicPr>
          <p:cNvPr id="32" name="Image 1" descr="CheckCircle">    </p:cNvPr>
          <p:cNvPicPr>
            <a:picLocks noChangeAspect="1"/>
          </p:cNvPicPr>
          <p:nvPr/>
        </p:nvPicPr>
        <p:blipFill>
          <a:blip r:embed="rId2"/>
          <a:srcRect l="0" r="0" t="-410" b="-410"/>
          <a:stretch/>
        </p:blipFill>
        <p:spPr>
          <a:xfrm>
            <a:off x="8356600" y="2976879"/>
            <a:ext cx="125968" cy="203200"/>
          </a:xfrm>
          <a:prstGeom prst="rect">
            <a:avLst/>
          </a:prstGeom>
        </p:spPr>
      </p:pic>
      <p:sp>
        <p:nvSpPr>
          <p:cNvPr id="33" name="Text 29"/>
          <p:cNvSpPr/>
          <p:nvPr/>
        </p:nvSpPr>
        <p:spPr>
          <a:xfrm>
            <a:off x="8571468" y="2976879"/>
            <a:ext cx="268266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Reference content reviewed; redacted or excluded before use</a:t>
            </a:r>
            <a:endParaRPr lang="en-US" sz="1200" dirty="0"/>
          </a:p>
        </p:txBody>
      </p:sp>
      <p:pic>
        <p:nvPicPr>
          <p:cNvPr id="34" name="Image 2" descr="CheckCircle">    </p:cNvPr>
          <p:cNvPicPr>
            <a:picLocks noChangeAspect="1"/>
          </p:cNvPicPr>
          <p:nvPr/>
        </p:nvPicPr>
        <p:blipFill>
          <a:blip r:embed="rId3"/>
          <a:srcRect l="-326" r="-326" t="0" b="0"/>
          <a:stretch/>
        </p:blipFill>
        <p:spPr>
          <a:xfrm>
            <a:off x="8356600" y="3530600"/>
            <a:ext cx="147002" cy="203200"/>
          </a:xfrm>
          <a:prstGeom prst="rect">
            <a:avLst/>
          </a:prstGeom>
        </p:spPr>
      </p:pic>
      <p:sp>
        <p:nvSpPr>
          <p:cNvPr id="35" name="Text 30"/>
          <p:cNvSpPr/>
          <p:nvPr/>
        </p:nvSpPr>
        <p:spPr>
          <a:xfrm>
            <a:off x="8592503" y="3530600"/>
            <a:ext cx="26610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LLM calls only via AWS Bedrock; no public endpoints</a:t>
            </a:r>
            <a:endParaRPr lang="en-US" sz="1200" dirty="0"/>
          </a:p>
        </p:txBody>
      </p:sp>
      <p:pic>
        <p:nvPicPr>
          <p:cNvPr id="36" name="Image 3" descr="CheckCircle">    </p:cNvPr>
          <p:cNvPicPr>
            <a:picLocks noChangeAspect="1"/>
          </p:cNvPicPr>
          <p:nvPr/>
        </p:nvPicPr>
        <p:blipFill>
          <a:blip r:embed="rId4"/>
          <a:srcRect l="-469" r="-469" t="0" b="0"/>
          <a:stretch/>
        </p:blipFill>
        <p:spPr>
          <a:xfrm>
            <a:off x="8356600" y="4084321"/>
            <a:ext cx="128191" cy="203200"/>
          </a:xfrm>
          <a:prstGeom prst="rect">
            <a:avLst/>
          </a:prstGeom>
        </p:spPr>
      </p:pic>
      <p:sp>
        <p:nvSpPr>
          <p:cNvPr id="37" name="Text 31"/>
          <p:cNvSpPr/>
          <p:nvPr/>
        </p:nvSpPr>
        <p:spPr>
          <a:xfrm>
            <a:off x="8573691" y="4084321"/>
            <a:ext cx="26803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Sessions, learnings and artifacts stay in the dev environment</a:t>
            </a:r>
            <a:endParaRPr lang="en-US" sz="1200" dirty="0"/>
          </a:p>
        </p:txBody>
      </p:sp>
      <p:sp>
        <p:nvSpPr>
          <p:cNvPr id="38" name="Text 3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9" name="Text 3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15 / 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POLICY 6.55</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Policy CP6.55 compliance by design</a:t>
            </a:r>
            <a:endParaRPr lang="en-US" sz="3200" dirty="0"/>
          </a:p>
        </p:txBody>
      </p:sp>
      <p:sp>
        <p:nvSpPr>
          <p:cNvPr id="4" name="Shape 2"/>
          <p:cNvSpPr/>
          <p:nvPr/>
        </p:nvSpPr>
        <p:spPr>
          <a:xfrm>
            <a:off x="11376025" y="1879600"/>
            <a:ext cx="0" cy="3398520"/>
          </a:xfrm>
          <a:prstGeom prst="line">
            <a:avLst/>
          </a:prstGeom>
          <a:noFill/>
          <a:ln w="6350">
            <a:solidFill>
              <a:srgbClr val="DDD7CB"/>
            </a:solidFill>
            <a:prstDash val="solid"/>
          </a:ln>
        </p:spPr>
      </p:sp>
      <p:sp>
        <p:nvSpPr>
          <p:cNvPr id="5" name="Shape 3"/>
          <p:cNvSpPr/>
          <p:nvPr/>
        </p:nvSpPr>
        <p:spPr>
          <a:xfrm>
            <a:off x="812800" y="5274945"/>
            <a:ext cx="10566400" cy="0"/>
          </a:xfrm>
          <a:prstGeom prst="line">
            <a:avLst/>
          </a:prstGeom>
          <a:noFill/>
          <a:ln w="6350">
            <a:solidFill>
              <a:srgbClr val="DDD7C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1160" cy="3383280"/>
        </p:xfrm>
        <a:graphic>
          <a:graphicData uri="http://schemas.openxmlformats.org/drawingml/2006/table">
            <a:tbl>
              <a:tblPr/>
              <a:tblGrid>
                <a:gridCol w="2532278"/>
                <a:gridCol w="8018882"/>
              </a:tblGrid>
              <a:tr h="3759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Policy requirement</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How the proposed design complies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Bias &amp; discrimination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Technical specifications only; no credit, HR or customer-facing decisions about individuals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Privacy &amp; data protection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Personal Data, customer or production data; references reviewed and redacted before use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Confidentiality</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LLM calls only via approved AWS Bedrock; sessions, learnings and artifacts stay in dev</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Intellectual property</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Output derives from internal requirements only; no external IP consumed</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Misinformation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AI output labeled as proposals; deterministic checks, Red Team review, dual human approval</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Independent validation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Non-AI validation gates, separate IR Author and SME approval, offline evaluation harness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Disclosure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AI involvement visible throughout the UI: chat turns, Red Team panel, learnings page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Procurement</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AWS Bedrock is an existing TMCC-approved LLM channel; no new vendor contract needed</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7" name="Text 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16 / 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CONTROLS · RISK CLASSIFICATION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4EF"/>
                </a:solidFill>
                <a:latin typeface="Source Serif 4" pitchFamily="34" charset="0"/>
                <a:ea typeface="Source Serif 4" pitchFamily="34" charset="-122"/>
                <a:cs typeface="Source Serif 4" pitchFamily="34" charset="-120"/>
              </a:rPr>
              <a:t>Preliminary classification: </a:t>
            </a:r>
            <a:r>
              <a:rPr lang="en-US" sz="3200" b="1" dirty="0">
                <a:solidFill>
                  <a:srgbClr val="E8A48F"/>
                </a:solidFill>
                <a:latin typeface="Source Serif 4" pitchFamily="34" charset="0"/>
                <a:ea typeface="Source Serif 4" pitchFamily="34" charset="-122"/>
                <a:cs typeface="Source Serif 4" pitchFamily="34" charset="-120"/>
              </a:rPr>
              <a:t>Low Risk</a:t>
            </a:r>
            <a:endParaRPr lang="en-US" sz="3200" dirty="0"/>
          </a:p>
        </p:txBody>
      </p:sp>
      <p:sp>
        <p:nvSpPr>
          <p:cNvPr id="4" name="Text 2"/>
          <p:cNvSpPr/>
          <p:nvPr/>
        </p:nvSpPr>
        <p:spPr>
          <a:xfrm>
            <a:off x="812800" y="1676400"/>
            <a:ext cx="1088339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3E0"/>
                </a:solidFill>
                <a:latin typeface="IBM Plex Sans" pitchFamily="34" charset="0"/>
                <a:ea typeface="IBM Plex Sans" pitchFamily="34" charset="-122"/>
                <a:cs typeface="IBM Plex Sans" pitchFamily="34" charset="-120"/>
              </a:rPr>
              <a:t>Subject to Governance Panel confirmation, and only while these boundaries and controls hold.</a:t>
            </a:r>
            <a:endParaRPr lang="en-US" sz="1500" dirty="0"/>
          </a:p>
        </p:txBody>
      </p:sp>
      <p:sp>
        <p:nvSpPr>
          <p:cNvPr id="5" name="Shape 3"/>
          <p:cNvSpPr/>
          <p:nvPr/>
        </p:nvSpPr>
        <p:spPr>
          <a:xfrm>
            <a:off x="815975" y="2232025"/>
            <a:ext cx="5175250" cy="2433320"/>
          </a:xfrm>
          <a:prstGeom prst="roundRect">
            <a:avLst>
              <a:gd name="adj" fmla="val 4045"/>
            </a:avLst>
          </a:prstGeom>
          <a:solidFill>
            <a:srgbClr val="1E3350"/>
          </a:solidFill>
          <a:ln w="6350">
            <a:solidFill>
              <a:srgbClr val="2C4466"/>
            </a:solidFill>
            <a:prstDash val="solid"/>
          </a:ln>
        </p:spPr>
      </p:sp>
      <p:sp>
        <p:nvSpPr>
          <p:cNvPr id="6" name="Text 4"/>
          <p:cNvSpPr/>
          <p:nvPr/>
        </p:nvSpPr>
        <p:spPr>
          <a:xfrm>
            <a:off x="1046480" y="2462535"/>
            <a:ext cx="48556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Scope boundaries</a:t>
            </a:r>
            <a:endParaRPr lang="en-US" sz="1500" dirty="0"/>
          </a:p>
        </p:txBody>
      </p:sp>
      <p:pic>
        <p:nvPicPr>
          <p:cNvPr id="7" name="Image 0" descr="Lock">    </p:cNvPr>
          <p:cNvPicPr>
            <a:picLocks noChangeAspect="1"/>
          </p:cNvPicPr>
          <p:nvPr/>
        </p:nvPicPr>
        <p:blipFill>
          <a:blip r:embed="rId1"/>
          <a:srcRect l="0" r="0" t="-810" b="-810"/>
          <a:stretch/>
        </p:blipFill>
        <p:spPr>
          <a:xfrm>
            <a:off x="1046480" y="2799085"/>
            <a:ext cx="181213" cy="203200"/>
          </a:xfrm>
          <a:prstGeom prst="rect">
            <a:avLst/>
          </a:prstGeom>
        </p:spPr>
      </p:pic>
      <p:sp>
        <p:nvSpPr>
          <p:cNvPr id="8" name="Text 5"/>
          <p:cNvSpPr/>
          <p:nvPr/>
        </p:nvSpPr>
        <p:spPr>
          <a:xfrm>
            <a:off x="1316593" y="2799085"/>
            <a:ext cx="45774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Development environment only; no production deployment or integration</a:t>
            </a:r>
            <a:endParaRPr lang="en-US" sz="1200" dirty="0"/>
          </a:p>
        </p:txBody>
      </p:sp>
      <p:pic>
        <p:nvPicPr>
          <p:cNvPr id="9" name="Image 1" descr="Lock">    </p:cNvPr>
          <p:cNvPicPr>
            <a:picLocks noChangeAspect="1"/>
          </p:cNvPicPr>
          <p:nvPr/>
        </p:nvPicPr>
        <p:blipFill>
          <a:blip r:embed="rId2"/>
          <a:srcRect l="0" r="0" t="0" b="0"/>
          <a:stretch/>
        </p:blipFill>
        <p:spPr>
          <a:xfrm>
            <a:off x="1046480" y="3314700"/>
            <a:ext cx="203200" cy="203200"/>
          </a:xfrm>
          <a:prstGeom prst="rect">
            <a:avLst/>
          </a:prstGeom>
        </p:spPr>
      </p:pic>
      <p:sp>
        <p:nvSpPr>
          <p:cNvPr id="10" name="Text 6"/>
          <p:cNvSpPr/>
          <p:nvPr/>
        </p:nvSpPr>
        <p:spPr>
          <a:xfrm>
            <a:off x="1338580" y="3314700"/>
            <a:ext cx="4531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Internal and opt-in for one team; no user authentication planned</a:t>
            </a:r>
            <a:endParaRPr lang="en-US" sz="1200" dirty="0"/>
          </a:p>
        </p:txBody>
      </p:sp>
      <p:pic>
        <p:nvPicPr>
          <p:cNvPr id="11" name="Image 2" descr="Lock">    </p:cNvPr>
          <p:cNvPicPr>
            <a:picLocks noChangeAspect="1"/>
          </p:cNvPicPr>
          <p:nvPr/>
        </p:nvPicPr>
        <p:blipFill>
          <a:blip r:embed="rId3"/>
          <a:srcRect l="0" r="0" t="0" b="0"/>
          <a:stretch/>
        </p:blipFill>
        <p:spPr>
          <a:xfrm>
            <a:off x="1046480" y="3616958"/>
            <a:ext cx="203200" cy="203200"/>
          </a:xfrm>
          <a:prstGeom prst="rect">
            <a:avLst/>
          </a:prstGeom>
        </p:spPr>
      </p:pic>
      <p:sp>
        <p:nvSpPr>
          <p:cNvPr id="12" name="Text 7"/>
          <p:cNvSpPr/>
          <p:nvPr/>
        </p:nvSpPr>
        <p:spPr>
          <a:xfrm>
            <a:off x="1338580" y="3616958"/>
            <a:ext cx="40745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Personal, customer, production or SOX-controlled data</a:t>
            </a:r>
            <a:endParaRPr lang="en-US" sz="1200" dirty="0"/>
          </a:p>
        </p:txBody>
      </p:sp>
      <p:pic>
        <p:nvPicPr>
          <p:cNvPr id="13" name="Image 3" descr="Lock">    </p:cNvPr>
          <p:cNvPicPr>
            <a:picLocks noChangeAspect="1"/>
          </p:cNvPicPr>
          <p:nvPr/>
        </p:nvPicPr>
        <p:blipFill>
          <a:blip r:embed="rId4"/>
          <a:srcRect l="0" r="0" t="0" b="0"/>
          <a:stretch/>
        </p:blipFill>
        <p:spPr>
          <a:xfrm>
            <a:off x="1046480" y="3919227"/>
            <a:ext cx="203200" cy="203200"/>
          </a:xfrm>
          <a:prstGeom prst="rect">
            <a:avLst/>
          </a:prstGeom>
        </p:spPr>
      </p:pic>
      <p:sp>
        <p:nvSpPr>
          <p:cNvPr id="14" name="Text 8"/>
          <p:cNvSpPr/>
          <p:nvPr/>
        </p:nvSpPr>
        <p:spPr>
          <a:xfrm>
            <a:off x="1338580" y="3919227"/>
            <a:ext cx="39749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autonomous approval, publication or implementation</a:t>
            </a:r>
            <a:endParaRPr lang="en-US" sz="1200" dirty="0"/>
          </a:p>
        </p:txBody>
      </p:sp>
      <p:pic>
        <p:nvPicPr>
          <p:cNvPr id="15" name="Image 4" descr="Lock">    </p:cNvPr>
          <p:cNvPicPr>
            <a:picLocks noChangeAspect="1"/>
          </p:cNvPicPr>
          <p:nvPr/>
        </p:nvPicPr>
        <p:blipFill>
          <a:blip r:embed="rId5"/>
          <a:srcRect l="0" r="0" t="0" b="0"/>
          <a:stretch/>
        </p:blipFill>
        <p:spPr>
          <a:xfrm>
            <a:off x="1046480" y="4221485"/>
            <a:ext cx="203200" cy="203200"/>
          </a:xfrm>
          <a:prstGeom prst="rect">
            <a:avLst/>
          </a:prstGeom>
        </p:spPr>
      </p:pic>
      <p:sp>
        <p:nvSpPr>
          <p:cNvPr id="16" name="Text 9"/>
          <p:cNvSpPr/>
          <p:nvPr/>
        </p:nvSpPr>
        <p:spPr>
          <a:xfrm>
            <a:off x="1338580" y="4221485"/>
            <a:ext cx="39753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source-code generation; no CI/CD integration initially</a:t>
            </a:r>
            <a:endParaRPr lang="en-US" sz="1200" dirty="0"/>
          </a:p>
        </p:txBody>
      </p:sp>
      <p:sp>
        <p:nvSpPr>
          <p:cNvPr id="17" name="Shape 10"/>
          <p:cNvSpPr/>
          <p:nvPr/>
        </p:nvSpPr>
        <p:spPr>
          <a:xfrm>
            <a:off x="6200775" y="2232025"/>
            <a:ext cx="5175250" cy="2433320"/>
          </a:xfrm>
          <a:prstGeom prst="roundRect">
            <a:avLst>
              <a:gd name="adj" fmla="val 4045"/>
            </a:avLst>
          </a:prstGeom>
          <a:solidFill>
            <a:srgbClr val="1E3350"/>
          </a:solidFill>
          <a:ln w="6350">
            <a:solidFill>
              <a:srgbClr val="2C4466"/>
            </a:solidFill>
            <a:prstDash val="solid"/>
          </a:ln>
        </p:spPr>
      </p:sp>
      <p:sp>
        <p:nvSpPr>
          <p:cNvPr id="18" name="Text 11"/>
          <p:cNvSpPr/>
          <p:nvPr/>
        </p:nvSpPr>
        <p:spPr>
          <a:xfrm>
            <a:off x="6431280" y="2462535"/>
            <a:ext cx="48556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Required controls</a:t>
            </a:r>
            <a:endParaRPr lang="en-US" sz="1500" dirty="0"/>
          </a:p>
        </p:txBody>
      </p:sp>
      <p:pic>
        <p:nvPicPr>
          <p:cNvPr id="19" name="Image 5" descr="CheckCircle">    </p:cNvPr>
          <p:cNvPicPr>
            <a:picLocks noChangeAspect="1"/>
          </p:cNvPicPr>
          <p:nvPr/>
        </p:nvPicPr>
        <p:blipFill>
          <a:blip r:embed="rId6"/>
          <a:srcRect l="0" r="0" t="0" b="0"/>
          <a:stretch/>
        </p:blipFill>
        <p:spPr>
          <a:xfrm>
            <a:off x="6431280" y="2799085"/>
            <a:ext cx="203200" cy="203200"/>
          </a:xfrm>
          <a:prstGeom prst="rect">
            <a:avLst/>
          </a:prstGeom>
        </p:spPr>
      </p:pic>
      <p:sp>
        <p:nvSpPr>
          <p:cNvPr id="20" name="Text 12"/>
          <p:cNvSpPr/>
          <p:nvPr/>
        </p:nvSpPr>
        <p:spPr>
          <a:xfrm>
            <a:off x="6723380" y="2799085"/>
            <a:ext cx="3836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Deterministic validation gates on every modeling stage</a:t>
            </a:r>
            <a:endParaRPr lang="en-US" sz="1200" dirty="0"/>
          </a:p>
        </p:txBody>
      </p:sp>
      <p:pic>
        <p:nvPicPr>
          <p:cNvPr id="21" name="Image 6" descr="CheckCircle">    </p:cNvPr>
          <p:cNvPicPr>
            <a:picLocks noChangeAspect="1"/>
          </p:cNvPicPr>
          <p:nvPr/>
        </p:nvPicPr>
        <p:blipFill>
          <a:blip r:embed="rId7"/>
          <a:srcRect l="0" r="0" t="0" b="0"/>
          <a:stretch/>
        </p:blipFill>
        <p:spPr>
          <a:xfrm>
            <a:off x="6431280" y="3101342"/>
            <a:ext cx="203200" cy="203200"/>
          </a:xfrm>
          <a:prstGeom prst="rect">
            <a:avLst/>
          </a:prstGeom>
        </p:spPr>
      </p:pic>
      <p:sp>
        <p:nvSpPr>
          <p:cNvPr id="22" name="Text 13"/>
          <p:cNvSpPr/>
          <p:nvPr/>
        </p:nvSpPr>
        <p:spPr>
          <a:xfrm>
            <a:off x="6723380" y="3101342"/>
            <a:ext cx="36369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Retained review records and logged repair attempts</a:t>
            </a:r>
            <a:endParaRPr lang="en-US" sz="1200" dirty="0"/>
          </a:p>
        </p:txBody>
      </p:sp>
      <p:pic>
        <p:nvPicPr>
          <p:cNvPr id="23" name="Image 7" descr="CheckCircle">    </p:cNvPr>
          <p:cNvPicPr>
            <a:picLocks noChangeAspect="1"/>
          </p:cNvPicPr>
          <p:nvPr/>
        </p:nvPicPr>
        <p:blipFill>
          <a:blip r:embed="rId8"/>
          <a:srcRect l="0" r="0" t="0" b="0"/>
          <a:stretch/>
        </p:blipFill>
        <p:spPr>
          <a:xfrm>
            <a:off x="6431280" y="3403600"/>
            <a:ext cx="203200" cy="203200"/>
          </a:xfrm>
          <a:prstGeom prst="rect">
            <a:avLst/>
          </a:prstGeom>
        </p:spPr>
      </p:pic>
      <p:sp>
        <p:nvSpPr>
          <p:cNvPr id="24" name="Text 14"/>
          <p:cNvSpPr/>
          <p:nvPr/>
        </p:nvSpPr>
        <p:spPr>
          <a:xfrm>
            <a:off x="6723380" y="3403600"/>
            <a:ext cx="39283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Mandatory approval by the IR Author and a domain SME</a:t>
            </a:r>
            <a:endParaRPr lang="en-US" sz="1200" dirty="0"/>
          </a:p>
        </p:txBody>
      </p:sp>
      <p:pic>
        <p:nvPicPr>
          <p:cNvPr id="25" name="Image 8" descr="CheckCircle">    </p:cNvPr>
          <p:cNvPicPr>
            <a:picLocks noChangeAspect="1"/>
          </p:cNvPicPr>
          <p:nvPr/>
        </p:nvPicPr>
        <p:blipFill>
          <a:blip r:embed="rId9"/>
          <a:srcRect l="0" r="0" t="0" b="0"/>
          <a:stretch/>
        </p:blipFill>
        <p:spPr>
          <a:xfrm>
            <a:off x="6431280" y="3705858"/>
            <a:ext cx="203200" cy="203200"/>
          </a:xfrm>
          <a:prstGeom prst="rect">
            <a:avLst/>
          </a:prstGeom>
        </p:spPr>
      </p:pic>
      <p:sp>
        <p:nvSpPr>
          <p:cNvPr id="26" name="Text 15"/>
          <p:cNvSpPr/>
          <p:nvPr/>
        </p:nvSpPr>
        <p:spPr>
          <a:xfrm>
            <a:off x="6723380" y="3705858"/>
            <a:ext cx="43373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Red Team review supplements, never replaces, human review</a:t>
            </a:r>
            <a:endParaRPr lang="en-US" sz="1200" dirty="0"/>
          </a:p>
        </p:txBody>
      </p:sp>
      <p:pic>
        <p:nvPicPr>
          <p:cNvPr id="27" name="Image 9" descr="CheckCircle">    </p:cNvPr>
          <p:cNvPicPr>
            <a:picLocks noChangeAspect="1"/>
          </p:cNvPicPr>
          <p:nvPr/>
        </p:nvPicPr>
        <p:blipFill>
          <a:blip r:embed="rId10"/>
          <a:srcRect l="0" r="0" t="0" b="0"/>
          <a:stretch/>
        </p:blipFill>
        <p:spPr>
          <a:xfrm>
            <a:off x="6431280" y="4008127"/>
            <a:ext cx="203200" cy="203200"/>
          </a:xfrm>
          <a:prstGeom prst="rect">
            <a:avLst/>
          </a:prstGeom>
        </p:spPr>
      </p:pic>
      <p:sp>
        <p:nvSpPr>
          <p:cNvPr id="28" name="Text 16"/>
          <p:cNvSpPr/>
          <p:nvPr/>
        </p:nvSpPr>
        <p:spPr>
          <a:xfrm>
            <a:off x="6723380" y="4008127"/>
            <a:ext cx="37871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Offline evaluation before any prompt or model change</a:t>
            </a:r>
            <a:endParaRPr lang="en-US" sz="1200" dirty="0"/>
          </a:p>
        </p:txBody>
      </p:sp>
      <p:sp>
        <p:nvSpPr>
          <p:cNvPr id="29"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0" name="Text 1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Mono" pitchFamily="34" charset="0"/>
                <a:ea typeface="IBM Plex Mono" pitchFamily="34" charset="-122"/>
                <a:cs typeface="IBM Plex Mono" pitchFamily="34" charset="-120"/>
              </a:rPr>
              <a:t>17 / 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DECISION · SUCCESS MEASURES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How the PoC would be measured</a:t>
            </a:r>
            <a:endParaRPr lang="en-US" sz="3200" dirty="0"/>
          </a:p>
        </p:txBody>
      </p:sp>
      <p:sp>
        <p:nvSpPr>
          <p:cNvPr id="4" name="Shape 2"/>
          <p:cNvSpPr/>
          <p:nvPr/>
        </p:nvSpPr>
        <p:spPr>
          <a:xfrm>
            <a:off x="815975" y="1882775"/>
            <a:ext cx="3414157" cy="3255010"/>
          </a:xfrm>
          <a:prstGeom prst="roundRect">
            <a:avLst>
              <a:gd name="adj" fmla="val 2243"/>
            </a:avLst>
          </a:prstGeom>
          <a:solidFill>
            <a:srgbClr val="FDFCF9"/>
          </a:solidFill>
          <a:ln w="6350">
            <a:solidFill>
              <a:srgbClr val="DDD7CB"/>
            </a:solidFill>
            <a:prstDash val="solid"/>
          </a:ln>
        </p:spPr>
      </p:sp>
      <p:pic>
        <p:nvPicPr>
          <p:cNvPr id="5" name="Image 0" descr="Verified">    </p:cNvPr>
          <p:cNvPicPr>
            <a:picLocks noChangeAspect="1"/>
          </p:cNvPicPr>
          <p:nvPr/>
        </p:nvPicPr>
        <p:blipFill>
          <a:blip r:embed="rId1"/>
          <a:srcRect l="0" r="0" t="0" b="0"/>
          <a:stretch/>
        </p:blipFill>
        <p:spPr>
          <a:xfrm>
            <a:off x="1021080" y="2087885"/>
            <a:ext cx="254000" cy="254000"/>
          </a:xfrm>
          <a:prstGeom prst="rect">
            <a:avLst/>
          </a:prstGeom>
        </p:spPr>
      </p:pic>
      <p:sp>
        <p:nvSpPr>
          <p:cNvPr id="6" name="Text 3"/>
          <p:cNvSpPr/>
          <p:nvPr/>
        </p:nvSpPr>
        <p:spPr>
          <a:xfrm>
            <a:off x="1351280" y="2091060"/>
            <a:ext cx="18636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Specification quality</a:t>
            </a:r>
            <a:endParaRPr lang="en-US" sz="1500" dirty="0"/>
          </a:p>
        </p:txBody>
      </p:sp>
      <p:sp>
        <p:nvSpPr>
          <p:cNvPr id="7" name="Text 4"/>
          <p:cNvSpPr/>
          <p:nvPr/>
        </p:nvSpPr>
        <p:spPr>
          <a:xfrm>
            <a:off x="1021080" y="24688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Specification completeness</a:t>
            </a:r>
            <a:endParaRPr lang="en-US" sz="1200" dirty="0"/>
          </a:p>
        </p:txBody>
      </p:sp>
      <p:sp>
        <p:nvSpPr>
          <p:cNvPr id="8" name="Text 5"/>
          <p:cNvSpPr/>
          <p:nvPr/>
        </p:nvSpPr>
        <p:spPr>
          <a:xfrm>
            <a:off x="1021080" y="2707642"/>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 of intents with invariants, decision tables, failure codes and evidence all defined</a:t>
            </a:r>
            <a:endParaRPr lang="en-US" sz="1200" dirty="0"/>
          </a:p>
        </p:txBody>
      </p:sp>
      <p:sp>
        <p:nvSpPr>
          <p:cNvPr id="9" name="Text 6"/>
          <p:cNvSpPr/>
          <p:nvPr/>
        </p:nvSpPr>
        <p:spPr>
          <a:xfrm>
            <a:off x="1021080" y="3474727"/>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Decision-table coverage</a:t>
            </a:r>
            <a:endParaRPr lang="en-US" sz="1200" dirty="0"/>
          </a:p>
        </p:txBody>
      </p:sp>
      <p:sp>
        <p:nvSpPr>
          <p:cNvPr id="10" name="Text 7"/>
          <p:cNvSpPr/>
          <p:nvPr/>
        </p:nvSpPr>
        <p:spPr>
          <a:xfrm>
            <a:off x="1021080" y="3713485"/>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 of decision tables with combination-count completeness verified</a:t>
            </a:r>
            <a:endParaRPr lang="en-US" sz="1200" dirty="0"/>
          </a:p>
        </p:txBody>
      </p:sp>
      <p:sp>
        <p:nvSpPr>
          <p:cNvPr id="11" name="Text 8"/>
          <p:cNvSpPr/>
          <p:nvPr/>
        </p:nvSpPr>
        <p:spPr>
          <a:xfrm>
            <a:off x="1021080" y="42672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Test coverage quality</a:t>
            </a:r>
            <a:endParaRPr lang="en-US" sz="1200" dirty="0"/>
          </a:p>
        </p:txBody>
      </p:sp>
      <p:sp>
        <p:nvSpPr>
          <p:cNvPr id="12" name="Text 9"/>
          <p:cNvSpPr/>
          <p:nvPr/>
        </p:nvSpPr>
        <p:spPr>
          <a:xfrm>
            <a:off x="1021080" y="4505958"/>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 of acceptance criteria that map to executable verification evidence</a:t>
            </a:r>
            <a:endParaRPr lang="en-US" sz="1200" dirty="0"/>
          </a:p>
        </p:txBody>
      </p:sp>
      <p:sp>
        <p:nvSpPr>
          <p:cNvPr id="13" name="Shape 10"/>
          <p:cNvSpPr/>
          <p:nvPr/>
        </p:nvSpPr>
        <p:spPr>
          <a:xfrm>
            <a:off x="4388882" y="1882775"/>
            <a:ext cx="3414157" cy="3255010"/>
          </a:xfrm>
          <a:prstGeom prst="roundRect">
            <a:avLst>
              <a:gd name="adj" fmla="val 2243"/>
            </a:avLst>
          </a:prstGeom>
          <a:solidFill>
            <a:srgbClr val="FDFCF9"/>
          </a:solidFill>
          <a:ln w="6350">
            <a:solidFill>
              <a:srgbClr val="DDD7CB"/>
            </a:solidFill>
            <a:prstDash val="solid"/>
          </a:ln>
        </p:spPr>
      </p:sp>
      <p:pic>
        <p:nvPicPr>
          <p:cNvPr id="14" name="Image 1" descr="Clock">    </p:cNvPr>
          <p:cNvPicPr>
            <a:picLocks noChangeAspect="1"/>
          </p:cNvPicPr>
          <p:nvPr/>
        </p:nvPicPr>
        <p:blipFill>
          <a:blip r:embed="rId2"/>
          <a:srcRect l="0" r="0" t="0" b="0"/>
          <a:stretch/>
        </p:blipFill>
        <p:spPr>
          <a:xfrm>
            <a:off x="4593987" y="2087885"/>
            <a:ext cx="254000" cy="254000"/>
          </a:xfrm>
          <a:prstGeom prst="rect">
            <a:avLst/>
          </a:prstGeom>
        </p:spPr>
      </p:pic>
      <p:sp>
        <p:nvSpPr>
          <p:cNvPr id="15" name="Text 11"/>
          <p:cNvSpPr/>
          <p:nvPr/>
        </p:nvSpPr>
        <p:spPr>
          <a:xfrm>
            <a:off x="4924187" y="2091060"/>
            <a:ext cx="77755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Delivery</a:t>
            </a:r>
            <a:endParaRPr lang="en-US" sz="1500" dirty="0"/>
          </a:p>
        </p:txBody>
      </p:sp>
      <p:sp>
        <p:nvSpPr>
          <p:cNvPr id="16" name="Text 12"/>
          <p:cNvSpPr/>
          <p:nvPr/>
        </p:nvSpPr>
        <p:spPr>
          <a:xfrm>
            <a:off x="4593987" y="24688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Discovery rate</a:t>
            </a:r>
            <a:endParaRPr lang="en-US" sz="1200" dirty="0"/>
          </a:p>
        </p:txBody>
      </p:sp>
      <p:sp>
        <p:nvSpPr>
          <p:cNvPr id="17" name="Text 13"/>
          <p:cNvSpPr/>
          <p:nvPr/>
        </p:nvSpPr>
        <p:spPr>
          <a:xfrm>
            <a:off x="4593987" y="2707642"/>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Edge cases and missing requirements surfaced that were not in the original intake</a:t>
            </a:r>
            <a:endParaRPr lang="en-US" sz="1200" dirty="0"/>
          </a:p>
        </p:txBody>
      </p:sp>
      <p:sp>
        <p:nvSpPr>
          <p:cNvPr id="18" name="Text 14"/>
          <p:cNvSpPr/>
          <p:nvPr/>
        </p:nvSpPr>
        <p:spPr>
          <a:xfrm>
            <a:off x="4593987" y="3261358"/>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Rework reduction</a:t>
            </a:r>
            <a:endParaRPr lang="en-US" sz="1200" dirty="0"/>
          </a:p>
        </p:txBody>
      </p:sp>
      <p:sp>
        <p:nvSpPr>
          <p:cNvPr id="19" name="Text 15"/>
          <p:cNvSpPr/>
          <p:nvPr/>
        </p:nvSpPr>
        <p:spPr>
          <a:xfrm>
            <a:off x="4593987" y="3500127"/>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Fewer back-and-forth cycles between BSAs and engineering</a:t>
            </a:r>
            <a:endParaRPr lang="en-US" sz="1200" dirty="0"/>
          </a:p>
        </p:txBody>
      </p:sp>
      <p:sp>
        <p:nvSpPr>
          <p:cNvPr id="20" name="Text 16"/>
          <p:cNvSpPr/>
          <p:nvPr/>
        </p:nvSpPr>
        <p:spPr>
          <a:xfrm>
            <a:off x="4593987" y="4053842"/>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Time to decidable</a:t>
            </a:r>
            <a:endParaRPr lang="en-US" sz="1200" dirty="0"/>
          </a:p>
        </p:txBody>
      </p:sp>
      <p:sp>
        <p:nvSpPr>
          <p:cNvPr id="21" name="Text 17"/>
          <p:cNvSpPr/>
          <p:nvPr/>
        </p:nvSpPr>
        <p:spPr>
          <a:xfrm>
            <a:off x="4593987" y="429260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Intake to fully decidable spec, compared with the current manual process</a:t>
            </a:r>
            <a:endParaRPr lang="en-US" sz="1200" dirty="0"/>
          </a:p>
        </p:txBody>
      </p:sp>
      <p:sp>
        <p:nvSpPr>
          <p:cNvPr id="22" name="Shape 18"/>
          <p:cNvSpPr/>
          <p:nvPr/>
        </p:nvSpPr>
        <p:spPr>
          <a:xfrm>
            <a:off x="7961789" y="1882775"/>
            <a:ext cx="3414157" cy="3255010"/>
          </a:xfrm>
          <a:prstGeom prst="roundRect">
            <a:avLst>
              <a:gd name="adj" fmla="val 2243"/>
            </a:avLst>
          </a:prstGeom>
          <a:solidFill>
            <a:srgbClr val="FDFCF9"/>
          </a:solidFill>
          <a:ln w="6350">
            <a:solidFill>
              <a:srgbClr val="DDD7CB"/>
            </a:solidFill>
            <a:prstDash val="solid"/>
          </a:ln>
        </p:spPr>
      </p:sp>
      <p:pic>
        <p:nvPicPr>
          <p:cNvPr id="23" name="Image 2" descr="Activity">    </p:cNvPr>
          <p:cNvPicPr>
            <a:picLocks noChangeAspect="1"/>
          </p:cNvPicPr>
          <p:nvPr/>
        </p:nvPicPr>
        <p:blipFill>
          <a:blip r:embed="rId3"/>
          <a:srcRect l="0" r="0" t="0" b="0"/>
          <a:stretch/>
        </p:blipFill>
        <p:spPr>
          <a:xfrm>
            <a:off x="8166894" y="2087885"/>
            <a:ext cx="254000" cy="254000"/>
          </a:xfrm>
          <a:prstGeom prst="rect">
            <a:avLst/>
          </a:prstGeom>
        </p:spPr>
      </p:pic>
      <p:sp>
        <p:nvSpPr>
          <p:cNvPr id="24" name="Text 19"/>
          <p:cNvSpPr/>
          <p:nvPr/>
        </p:nvSpPr>
        <p:spPr>
          <a:xfrm>
            <a:off x="8497094" y="2091060"/>
            <a:ext cx="15497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AI output quality</a:t>
            </a:r>
            <a:endParaRPr lang="en-US" sz="1500" dirty="0"/>
          </a:p>
        </p:txBody>
      </p:sp>
      <p:sp>
        <p:nvSpPr>
          <p:cNvPr id="25" name="Text 20"/>
          <p:cNvSpPr/>
          <p:nvPr/>
        </p:nvSpPr>
        <p:spPr>
          <a:xfrm>
            <a:off x="8166894" y="24688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Gate pass rate</a:t>
            </a:r>
            <a:endParaRPr lang="en-US" sz="1200" dirty="0"/>
          </a:p>
        </p:txBody>
      </p:sp>
      <p:sp>
        <p:nvSpPr>
          <p:cNvPr id="26" name="Text 21"/>
          <p:cNvSpPr/>
          <p:nvPr/>
        </p:nvSpPr>
        <p:spPr>
          <a:xfrm>
            <a:off x="8166894" y="2707642"/>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 of ESML, DMML and IR artifacts that pass validation without the repair loop</a:t>
            </a:r>
            <a:endParaRPr lang="en-US" sz="1200" dirty="0"/>
          </a:p>
        </p:txBody>
      </p:sp>
      <p:sp>
        <p:nvSpPr>
          <p:cNvPr id="27" name="Text 22"/>
          <p:cNvSpPr/>
          <p:nvPr/>
        </p:nvSpPr>
        <p:spPr>
          <a:xfrm>
            <a:off x="8166894" y="3261358"/>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Model accuracy</a:t>
            </a:r>
            <a:endParaRPr lang="en-US" sz="1200" dirty="0"/>
          </a:p>
        </p:txBody>
      </p:sp>
      <p:sp>
        <p:nvSpPr>
          <p:cNvPr id="28" name="Text 23"/>
          <p:cNvSpPr/>
          <p:nvPr/>
        </p:nvSpPr>
        <p:spPr>
          <a:xfrm>
            <a:off x="8166894" y="3500127"/>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Invented, omitted and misclassified elements per prompt version, from the offline evaluation harness</a:t>
            </a:r>
            <a:endParaRPr lang="en-US" sz="1200" dirty="0"/>
          </a:p>
        </p:txBody>
      </p:sp>
      <p:sp>
        <p:nvSpPr>
          <p:cNvPr id="29" name="Text 2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0" name="Text 2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18 /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DECISION · ACCOUNTABILITY</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Accountability and change control</a:t>
            </a:r>
            <a:endParaRPr lang="en-US" sz="3200" dirty="0"/>
          </a:p>
        </p:txBody>
      </p:sp>
      <p:sp>
        <p:nvSpPr>
          <p:cNvPr id="4" name="Shape 2"/>
          <p:cNvSpPr/>
          <p:nvPr/>
        </p:nvSpPr>
        <p:spPr>
          <a:xfrm>
            <a:off x="812800" y="1879600"/>
            <a:ext cx="4272995" cy="1883410"/>
          </a:xfrm>
          <a:prstGeom prst="roundRect">
            <a:avLst>
              <a:gd name="adj" fmla="val 4046"/>
            </a:avLst>
          </a:prstGeom>
          <a:solidFill>
            <a:srgbClr val="13233A"/>
          </a:solidFill>
          <a:ln/>
        </p:spPr>
      </p:sp>
      <p:sp>
        <p:nvSpPr>
          <p:cNvPr id="5" name="Text 3"/>
          <p:cNvSpPr/>
          <p:nvPr/>
        </p:nvSpPr>
        <p:spPr>
          <a:xfrm>
            <a:off x="1016000" y="2082800"/>
            <a:ext cx="39825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USE CASE OWNERS · CX ENGINEERING</a:t>
            </a:r>
            <a:endParaRPr lang="en-US" sz="1200" dirty="0"/>
          </a:p>
        </p:txBody>
      </p:sp>
      <p:sp>
        <p:nvSpPr>
          <p:cNvPr id="6" name="Text 4"/>
          <p:cNvSpPr/>
          <p:nvPr/>
        </p:nvSpPr>
        <p:spPr>
          <a:xfrm>
            <a:off x="1016000" y="2372358"/>
            <a:ext cx="398259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Ankur Bhakta · Pavan Kumar Goli</a:t>
            </a:r>
            <a:endParaRPr lang="en-US" sz="1500" dirty="0"/>
          </a:p>
        </p:txBody>
      </p:sp>
      <p:sp>
        <p:nvSpPr>
          <p:cNvPr id="7" name="Text 5"/>
          <p:cNvSpPr/>
          <p:nvPr/>
        </p:nvSpPr>
        <p:spPr>
          <a:xfrm>
            <a:off x="1016000" y="2696208"/>
            <a:ext cx="3982592"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Responsible for PoC delivery and operation, access and data-handling guidance, model configuration, evaluation reviews, audit records, user onboarding and compliance reporting.</a:t>
            </a:r>
            <a:endParaRPr lang="en-US" sz="1200" dirty="0"/>
          </a:p>
        </p:txBody>
      </p:sp>
      <p:sp>
        <p:nvSpPr>
          <p:cNvPr id="8" name="Shape 6"/>
          <p:cNvSpPr/>
          <p:nvPr/>
        </p:nvSpPr>
        <p:spPr>
          <a:xfrm>
            <a:off x="5241370" y="1882775"/>
            <a:ext cx="2987993" cy="1877060"/>
          </a:xfrm>
          <a:prstGeom prst="roundRect">
            <a:avLst>
              <a:gd name="adj" fmla="val 3890"/>
            </a:avLst>
          </a:prstGeom>
          <a:solidFill>
            <a:srgbClr val="FDFCF9"/>
          </a:solidFill>
          <a:ln w="6350">
            <a:solidFill>
              <a:srgbClr val="DDD7CB"/>
            </a:solidFill>
            <a:prstDash val="solid"/>
          </a:ln>
        </p:spPr>
      </p:sp>
      <p:sp>
        <p:nvSpPr>
          <p:cNvPr id="9" name="Text 7"/>
          <p:cNvSpPr/>
          <p:nvPr/>
        </p:nvSpPr>
        <p:spPr>
          <a:xfrm>
            <a:off x="5446475" y="2087885"/>
            <a:ext cx="265511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IR AUTHOR</a:t>
            </a:r>
            <a:endParaRPr lang="en-US" sz="1200" dirty="0"/>
          </a:p>
        </p:txBody>
      </p:sp>
      <p:sp>
        <p:nvSpPr>
          <p:cNvPr id="10" name="Text 8"/>
          <p:cNvSpPr/>
          <p:nvPr/>
        </p:nvSpPr>
        <p:spPr>
          <a:xfrm>
            <a:off x="5446475" y="2377442"/>
            <a:ext cx="26551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Specification owner</a:t>
            </a:r>
            <a:endParaRPr lang="en-US" sz="1500" dirty="0"/>
          </a:p>
        </p:txBody>
      </p:sp>
      <p:sp>
        <p:nvSpPr>
          <p:cNvPr id="11" name="Text 9"/>
          <p:cNvSpPr/>
          <p:nvPr/>
        </p:nvSpPr>
        <p:spPr>
          <a:xfrm>
            <a:off x="5446475" y="2701292"/>
            <a:ext cx="265511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Reviews, corrects and approves each specification before finalization.</a:t>
            </a:r>
            <a:endParaRPr lang="en-US" sz="1200" dirty="0"/>
          </a:p>
        </p:txBody>
      </p:sp>
      <p:sp>
        <p:nvSpPr>
          <p:cNvPr id="12" name="Shape 10"/>
          <p:cNvSpPr/>
          <p:nvPr/>
        </p:nvSpPr>
        <p:spPr>
          <a:xfrm>
            <a:off x="8388112" y="1882775"/>
            <a:ext cx="2987913" cy="1877060"/>
          </a:xfrm>
          <a:prstGeom prst="roundRect">
            <a:avLst>
              <a:gd name="adj" fmla="val 3890"/>
            </a:avLst>
          </a:prstGeom>
          <a:solidFill>
            <a:srgbClr val="FDFCF9"/>
          </a:solidFill>
          <a:ln w="6350">
            <a:solidFill>
              <a:srgbClr val="DDD7CB"/>
            </a:solidFill>
            <a:prstDash val="solid"/>
          </a:ln>
        </p:spPr>
      </p:sp>
      <p:sp>
        <p:nvSpPr>
          <p:cNvPr id="13" name="Text 11"/>
          <p:cNvSpPr/>
          <p:nvPr/>
        </p:nvSpPr>
        <p:spPr>
          <a:xfrm>
            <a:off x="8593217" y="2087885"/>
            <a:ext cx="265503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DOMAIN SME</a:t>
            </a:r>
            <a:endParaRPr lang="en-US" sz="1200" dirty="0"/>
          </a:p>
        </p:txBody>
      </p:sp>
      <p:sp>
        <p:nvSpPr>
          <p:cNvPr id="14" name="Text 12"/>
          <p:cNvSpPr/>
          <p:nvPr/>
        </p:nvSpPr>
        <p:spPr>
          <a:xfrm>
            <a:off x="8593217" y="2377442"/>
            <a:ext cx="26550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Correctness attestor</a:t>
            </a:r>
            <a:endParaRPr lang="en-US" sz="1500" dirty="0"/>
          </a:p>
        </p:txBody>
      </p:sp>
      <p:sp>
        <p:nvSpPr>
          <p:cNvPr id="15" name="Text 13"/>
          <p:cNvSpPr/>
          <p:nvPr/>
        </p:nvSpPr>
        <p:spPr>
          <a:xfrm>
            <a:off x="8593217" y="2701292"/>
            <a:ext cx="265503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Independently attests that language, contexts, Aggregates, rules, decisions and non-goals reflect the intended outcome.</a:t>
            </a:r>
            <a:endParaRPr lang="en-US" sz="1200" dirty="0"/>
          </a:p>
        </p:txBody>
      </p:sp>
      <p:sp>
        <p:nvSpPr>
          <p:cNvPr id="16" name="Shape 14"/>
          <p:cNvSpPr/>
          <p:nvPr/>
        </p:nvSpPr>
        <p:spPr>
          <a:xfrm>
            <a:off x="815975" y="3918583"/>
            <a:ext cx="5200650" cy="1374140"/>
          </a:xfrm>
          <a:prstGeom prst="roundRect">
            <a:avLst>
              <a:gd name="adj" fmla="val 5314"/>
            </a:avLst>
          </a:prstGeom>
          <a:solidFill>
            <a:srgbClr val="FDFCF9"/>
          </a:solidFill>
          <a:ln w="6350">
            <a:solidFill>
              <a:srgbClr val="DDD7CB"/>
            </a:solidFill>
            <a:prstDash val="solid"/>
          </a:ln>
        </p:spPr>
      </p:sp>
      <p:sp>
        <p:nvSpPr>
          <p:cNvPr id="17" name="Text 15"/>
          <p:cNvSpPr/>
          <p:nvPr/>
        </p:nvSpPr>
        <p:spPr>
          <a:xfrm>
            <a:off x="1021080" y="412369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Coordination</a:t>
            </a:r>
            <a:endParaRPr lang="en-US" sz="1500" dirty="0"/>
          </a:p>
        </p:txBody>
      </p:sp>
      <p:sp>
        <p:nvSpPr>
          <p:cNvPr id="18" name="Text 16"/>
          <p:cNvSpPr/>
          <p:nvPr/>
        </p:nvSpPr>
        <p:spPr>
          <a:xfrm>
            <a:off x="1021080" y="444754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Owners coordinate with the Domain Architect, BISO, DRL and the GenAI Governance Panel on any material change to scope, data, provider or deployment.</a:t>
            </a:r>
            <a:endParaRPr lang="en-US" sz="1200" dirty="0"/>
          </a:p>
        </p:txBody>
      </p:sp>
      <p:sp>
        <p:nvSpPr>
          <p:cNvPr id="19" name="Shape 17"/>
          <p:cNvSpPr/>
          <p:nvPr/>
        </p:nvSpPr>
        <p:spPr>
          <a:xfrm>
            <a:off x="6175375" y="3918583"/>
            <a:ext cx="5200650" cy="1374140"/>
          </a:xfrm>
          <a:prstGeom prst="roundRect">
            <a:avLst>
              <a:gd name="adj" fmla="val 5314"/>
            </a:avLst>
          </a:prstGeom>
          <a:solidFill>
            <a:srgbClr val="FDFCF9"/>
          </a:solidFill>
          <a:ln w="6350">
            <a:solidFill>
              <a:srgbClr val="DDD7CB"/>
            </a:solidFill>
            <a:prstDash val="solid"/>
          </a:ln>
        </p:spPr>
      </p:sp>
      <p:sp>
        <p:nvSpPr>
          <p:cNvPr id="20" name="Text 18"/>
          <p:cNvSpPr/>
          <p:nvPr/>
        </p:nvSpPr>
        <p:spPr>
          <a:xfrm>
            <a:off x="6380480" y="412369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Change control</a:t>
            </a:r>
            <a:endParaRPr lang="en-US" sz="1500" dirty="0"/>
          </a:p>
        </p:txBody>
      </p:sp>
      <p:sp>
        <p:nvSpPr>
          <p:cNvPr id="21" name="Text 19"/>
          <p:cNvSpPr/>
          <p:nvPr/>
        </p:nvSpPr>
        <p:spPr>
          <a:xfrm>
            <a:off x="6380480" y="444754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Changes to the ladder, prompts, schemas, validation rules or evaluation criteria are versioned and reviewed by the Use Case Owners and Domain Architect before release.</a:t>
            </a:r>
            <a:endParaRPr lang="en-US" sz="1200" dirty="0"/>
          </a:p>
        </p:txBody>
      </p:sp>
      <p:sp>
        <p:nvSpPr>
          <p:cNvPr id="22" name="Text 2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3" name="Text 2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19 / 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DECISION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4EF"/>
                </a:solidFill>
                <a:latin typeface="Source Serif 4" pitchFamily="34" charset="0"/>
                <a:ea typeface="Source Serif 4" pitchFamily="34" charset="-122"/>
                <a:cs typeface="Source Serif 4" pitchFamily="34" charset="-120"/>
              </a:rPr>
              <a:t>Decision requested from the Panel</a:t>
            </a:r>
            <a:endParaRPr lang="en-US" sz="3200" dirty="0"/>
          </a:p>
        </p:txBody>
      </p:sp>
      <p:sp>
        <p:nvSpPr>
          <p:cNvPr id="4" name="Shape 2"/>
          <p:cNvSpPr/>
          <p:nvPr/>
        </p:nvSpPr>
        <p:spPr>
          <a:xfrm>
            <a:off x="815975" y="1882775"/>
            <a:ext cx="10560050" cy="979170"/>
          </a:xfrm>
          <a:prstGeom prst="roundRect">
            <a:avLst>
              <a:gd name="adj" fmla="val 10052"/>
            </a:avLst>
          </a:prstGeom>
          <a:solidFill>
            <a:srgbClr val="1E3350"/>
          </a:solidFill>
          <a:ln w="6350">
            <a:solidFill>
              <a:srgbClr val="2C4466"/>
            </a:solidFill>
            <a:prstDash val="solid"/>
          </a:ln>
        </p:spPr>
      </p:sp>
      <p:sp>
        <p:nvSpPr>
          <p:cNvPr id="5" name="Text 3"/>
          <p:cNvSpPr/>
          <p:nvPr/>
        </p:nvSpPr>
        <p:spPr>
          <a:xfrm>
            <a:off x="1071880" y="2087885"/>
            <a:ext cx="457200"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8A48F"/>
                </a:solidFill>
                <a:latin typeface="Source Serif 4" pitchFamily="34" charset="0"/>
                <a:ea typeface="Source Serif 4" pitchFamily="34" charset="-122"/>
                <a:cs typeface="Source Serif 4" pitchFamily="34" charset="-120"/>
              </a:rPr>
              <a:t>1</a:t>
            </a:r>
            <a:endParaRPr lang="en-US" sz="3200" dirty="0"/>
          </a:p>
        </p:txBody>
      </p:sp>
      <p:sp>
        <p:nvSpPr>
          <p:cNvPr id="6" name="Text 4"/>
          <p:cNvSpPr/>
          <p:nvPr/>
        </p:nvSpPr>
        <p:spPr>
          <a:xfrm>
            <a:off x="1681480" y="2087885"/>
            <a:ext cx="97217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Approve the proof of concept</a:t>
            </a:r>
            <a:endParaRPr lang="en-US" sz="2000" dirty="0"/>
          </a:p>
        </p:txBody>
      </p:sp>
      <p:sp>
        <p:nvSpPr>
          <p:cNvPr id="7" name="Text 5"/>
          <p:cNvSpPr/>
          <p:nvPr/>
        </p:nvSpPr>
        <p:spPr>
          <a:xfrm>
            <a:off x="1681480" y="2443485"/>
            <a:ext cx="97217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Build and evaluate the Intent Discovery Service in the development environment, as described in this submission.</a:t>
            </a:r>
            <a:endParaRPr lang="en-US" sz="1200" dirty="0"/>
          </a:p>
        </p:txBody>
      </p:sp>
      <p:sp>
        <p:nvSpPr>
          <p:cNvPr id="8" name="Shape 6"/>
          <p:cNvSpPr/>
          <p:nvPr/>
        </p:nvSpPr>
        <p:spPr>
          <a:xfrm>
            <a:off x="815975" y="3020702"/>
            <a:ext cx="10560050" cy="979170"/>
          </a:xfrm>
          <a:prstGeom prst="roundRect">
            <a:avLst>
              <a:gd name="adj" fmla="val 10052"/>
            </a:avLst>
          </a:prstGeom>
          <a:solidFill>
            <a:srgbClr val="1E3350"/>
          </a:solidFill>
          <a:ln w="6350">
            <a:solidFill>
              <a:srgbClr val="2C4466"/>
            </a:solidFill>
            <a:prstDash val="solid"/>
          </a:ln>
        </p:spPr>
      </p:sp>
      <p:sp>
        <p:nvSpPr>
          <p:cNvPr id="9" name="Text 7"/>
          <p:cNvSpPr/>
          <p:nvPr/>
        </p:nvSpPr>
        <p:spPr>
          <a:xfrm>
            <a:off x="1071880" y="3225800"/>
            <a:ext cx="457200"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8A48F"/>
                </a:solidFill>
                <a:latin typeface="Source Serif 4" pitchFamily="34" charset="0"/>
                <a:ea typeface="Source Serif 4" pitchFamily="34" charset="-122"/>
                <a:cs typeface="Source Serif 4" pitchFamily="34" charset="-120"/>
              </a:rPr>
              <a:t>2</a:t>
            </a:r>
            <a:endParaRPr lang="en-US" sz="3200" dirty="0"/>
          </a:p>
        </p:txBody>
      </p:sp>
      <p:sp>
        <p:nvSpPr>
          <p:cNvPr id="10" name="Text 8"/>
          <p:cNvSpPr/>
          <p:nvPr/>
        </p:nvSpPr>
        <p:spPr>
          <a:xfrm>
            <a:off x="1681480" y="3225800"/>
            <a:ext cx="97217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Confirm the preliminary Low Risk classification</a:t>
            </a:r>
            <a:endParaRPr lang="en-US" sz="2000" dirty="0"/>
          </a:p>
        </p:txBody>
      </p:sp>
      <p:sp>
        <p:nvSpPr>
          <p:cNvPr id="11" name="Text 9"/>
          <p:cNvSpPr/>
          <p:nvPr/>
        </p:nvSpPr>
        <p:spPr>
          <a:xfrm>
            <a:off x="1681480" y="3581400"/>
            <a:ext cx="97217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Under Policy CP6.55, conditional on the scope boundaries and controls presented.</a:t>
            </a:r>
            <a:endParaRPr lang="en-US" sz="1200" dirty="0"/>
          </a:p>
        </p:txBody>
      </p:sp>
      <p:sp>
        <p:nvSpPr>
          <p:cNvPr id="12" name="Text 10"/>
          <p:cNvSpPr/>
          <p:nvPr/>
        </p:nvSpPr>
        <p:spPr>
          <a:xfrm>
            <a:off x="812800" y="4307842"/>
            <a:ext cx="341847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CONTACTS</a:t>
            </a:r>
            <a:endParaRPr lang="en-US" sz="1200" dirty="0"/>
          </a:p>
        </p:txBody>
      </p:sp>
      <p:sp>
        <p:nvSpPr>
          <p:cNvPr id="13" name="Text 11"/>
          <p:cNvSpPr/>
          <p:nvPr/>
        </p:nvSpPr>
        <p:spPr>
          <a:xfrm>
            <a:off x="812800" y="4572000"/>
            <a:ext cx="34184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Ankur Bhakta</a:t>
            </a:r>
            <a:endParaRPr lang="en-US" sz="1200" dirty="0"/>
          </a:p>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ankur.bhakta@toyota.com</a:t>
            </a:r>
            <a:endParaRPr lang="en-US" sz="1200" dirty="0"/>
          </a:p>
        </p:txBody>
      </p:sp>
      <p:sp>
        <p:nvSpPr>
          <p:cNvPr id="14" name="Text 12"/>
          <p:cNvSpPr/>
          <p:nvPr/>
        </p:nvSpPr>
        <p:spPr>
          <a:xfrm>
            <a:off x="812800" y="5049527"/>
            <a:ext cx="34184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Pavan Kumar Goli</a:t>
            </a:r>
            <a:endParaRPr lang="en-US" sz="1200" dirty="0"/>
          </a:p>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pavankumar.goli@toyota.com</a:t>
            </a:r>
            <a:endParaRPr lang="en-US" sz="1200" dirty="0"/>
          </a:p>
        </p:txBody>
      </p:sp>
      <p:sp>
        <p:nvSpPr>
          <p:cNvPr id="15" name="Text 13"/>
          <p:cNvSpPr/>
          <p:nvPr/>
        </p:nvSpPr>
        <p:spPr>
          <a:xfrm>
            <a:off x="4436507" y="4307842"/>
            <a:ext cx="341855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PROPOSED TIMELINE</a:t>
            </a:r>
            <a:endParaRPr lang="en-US" sz="1200" dirty="0"/>
          </a:p>
        </p:txBody>
      </p:sp>
      <p:sp>
        <p:nvSpPr>
          <p:cNvPr id="16" name="Text 14"/>
          <p:cNvSpPr/>
          <p:nvPr/>
        </p:nvSpPr>
        <p:spPr>
          <a:xfrm>
            <a:off x="4436507" y="4572000"/>
            <a:ext cx="34185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[PoC duration and Panel check-in date]</a:t>
            </a:r>
            <a:endParaRPr lang="en-US" sz="1200" dirty="0"/>
          </a:p>
        </p:txBody>
      </p:sp>
      <p:sp>
        <p:nvSpPr>
          <p:cNvPr id="17" name="Text 15"/>
          <p:cNvSpPr/>
          <p:nvPr/>
        </p:nvSpPr>
        <p:spPr>
          <a:xfrm>
            <a:off x="8060293" y="4307842"/>
            <a:ext cx="341847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MATERIAL CHANGES</a:t>
            </a:r>
            <a:endParaRPr lang="en-US" sz="1200" dirty="0"/>
          </a:p>
        </p:txBody>
      </p:sp>
      <p:sp>
        <p:nvSpPr>
          <p:cNvPr id="18" name="Text 16"/>
          <p:cNvSpPr/>
          <p:nvPr/>
        </p:nvSpPr>
        <p:spPr>
          <a:xfrm>
            <a:off x="8060293" y="4572000"/>
            <a:ext cx="341847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Scope, data, provider or deployment changes are coordinated with the Domain Architect, BISO, DRL and this Panel.</a:t>
            </a:r>
            <a:endParaRPr lang="en-US" sz="12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Mono" pitchFamily="34" charset="0"/>
                <a:ea typeface="IBM Plex Mono" pitchFamily="34" charset="-122"/>
                <a:cs typeface="IBM Plex Mono" pitchFamily="34" charset="-120"/>
              </a:rPr>
              <a:t>20 / 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Intent Discovery Service — GenAI Council v2</dc:title>
  <dc:subject>PptxGenJS Presentation</dc:subject>
  <dc:creator>PptxGenJS</dc:creator>
  <cp:lastModifiedBy>PptxGenJS</cp:lastModifiedBy>
  <cp:revision>1</cp:revision>
  <dcterms:created xsi:type="dcterms:W3CDTF">2026-09-30T17:12:01Z</dcterms:created>
  <dcterms:modified xsi:type="dcterms:W3CDTF">2026-09-30T17:12:01Z</dcterms:modified>
</cp:coreProperties>
</file>