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replaces a list of features with five outcomes, one for each problem on slide 3, so the Panel can trace every claimed benefit back to a problem we showed them and forward to how we will measure it. Vague language: requirements are restated as business outcomes rather than technology, measured by the number of clarification loops between BSAs and engineering per feature. Inconsistent terminology: one Ubiquitous Language shared by business and engineering, measured by term conflicts found and resolved before handoff rather than discovered during build. Hidden exceptions: every exception is enumerated and decision tables are proven complete by deterministic code, measured as the share of decision tables with verified coverage. Weak acceptance criteria: every rule is mapped to the test evidence that proves it, measured as the share of acceptance criteria tied to executable tests. Fragmented scope: features are specified end to end across teams and systems, measured by rework cycles traced back to requirement gaps. We are not claiming numbers today. Baselines will be measured on current Titles features before the PoC starts, and we propose agreeing targets with the Panel as a condition of approval. The same measures appear on the success-measures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6408"/>
            <a:ext cx="10566401" cy="402325"/>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13534"/>
            <a:ext cx="10566400" cy="4231666"/>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6408"/>
            <a:ext cx="10566401" cy="402325"/>
          </a:xfrm>
          <a:prstGeom prst="rect">
            <a:avLst/>
          </a:prstGeom>
          <a:noFill/>
          <a:ln/>
        </p:spPr>
        <p:txBody>
          <a:bodyPr wrap="square" lIns="0" tIns="0" rIns="0" bIns="0" rtlCol="0" anchor="t"/>
          <a:lstStyle>
            <a:lvl1pPr algn="l" indent="0" marL="0">
              <a:lnSpc>
                <a:spcPct val="115000"/>
              </a:lnSpc>
              <a:buNone/>
              <a:defRPr lang="en-US" sz="3200" dirty="0">
                <a:solidFill>
                  <a:srgbClr val="1A1A1A"/>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13534"/>
            <a:ext cx="10566400" cy="4231666"/>
          </a:xfrm>
          <a:prstGeom prst="rect">
            <a:avLst/>
          </a:prstGeom>
          <a:noFill/>
          <a:ln/>
        </p:spPr>
        <p:txBody>
          <a:bodyPr wrap="square" lIns="0" tIns="0" rIns="0" bIns="0" rtlCol="0" anchor="t"/>
          <a:lstStyle>
            <a:lvl1pPr algn="l" indent="0" marL="0">
              <a:lnSpc>
                <a:spcPct val="140000"/>
              </a:lnSpc>
              <a:buNone/>
              <a:defRPr lang="en-US" sz="1600" dirty="0">
                <a:solidFill>
                  <a:srgbClr val="1A1A1A"/>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896091"/>
            <a:ext cx="304800" cy="25400"/>
          </a:xfrm>
          <a:prstGeom prst="rect">
            <a:avLst/>
          </a:prstGeom>
          <a:solidFill>
            <a:srgbClr val="EB0A1E"/>
          </a:solidFill>
          <a:ln/>
        </p:spPr>
      </p:sp>
      <p:sp>
        <p:nvSpPr>
          <p:cNvPr id="3" name="Text 1"/>
          <p:cNvSpPr/>
          <p:nvPr/>
        </p:nvSpPr>
        <p:spPr>
          <a:xfrm>
            <a:off x="1219200" y="812800"/>
            <a:ext cx="3384296" cy="21740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B0A1E"/>
                </a:solidFill>
                <a:latin typeface="Inter" pitchFamily="34" charset="0"/>
                <a:ea typeface="Inter" pitchFamily="34" charset="-122"/>
                <a:cs typeface="Inter" pitchFamily="34" charset="-120"/>
              </a:rPr>
              <a:t>SOLUTION · ANTICIPATED BENEFITS</a:t>
            </a:r>
            <a:endParaRPr lang="en-US" sz="1200" dirty="0"/>
          </a:p>
        </p:txBody>
      </p:sp>
      <p:sp>
        <p:nvSpPr>
          <p:cNvPr id="4" name="Text 2"/>
          <p:cNvSpPr/>
          <p:nvPr>
            <p:ph type="title"/>
          </p:nvPr>
        </p:nvSpPr>
        <p:spPr>
          <a:xfrm>
            <a:off x="812800" y="1106408"/>
            <a:ext cx="10883393" cy="427725"/>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A1A1A"/>
                </a:solidFill>
                <a:latin typeface="Inter" pitchFamily="34" charset="0"/>
                <a:ea typeface="Inter" pitchFamily="34" charset="-122"/>
                <a:cs typeface="Inter" pitchFamily="34" charset="-120"/>
              </a:rPr>
              <a:t>Five problems, five measurable outcomes</a:t>
            </a:r>
            <a:endParaRPr lang="en-US" sz="3200" dirty="0"/>
          </a:p>
        </p:txBody>
      </p:sp>
      <p:sp>
        <p:nvSpPr>
          <p:cNvPr id="5" name="Text 3"/>
          <p:cNvSpPr/>
          <p:nvPr/>
        </p:nvSpPr>
        <p:spPr>
          <a:xfrm>
            <a:off x="1028700" y="1788134"/>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PROBLEM TODAY</a:t>
            </a:r>
            <a:endParaRPr lang="en-US" sz="1200" dirty="0"/>
          </a:p>
        </p:txBody>
      </p:sp>
      <p:sp>
        <p:nvSpPr>
          <p:cNvPr id="6" name="Text 4"/>
          <p:cNvSpPr/>
          <p:nvPr/>
        </p:nvSpPr>
        <p:spPr>
          <a:xfrm>
            <a:off x="3314700" y="1788134"/>
            <a:ext cx="4329811" cy="21740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OUTCOME</a:t>
            </a:r>
            <a:endParaRPr lang="en-US" sz="1200" dirty="0"/>
          </a:p>
        </p:txBody>
      </p:sp>
      <p:sp>
        <p:nvSpPr>
          <p:cNvPr id="7" name="Text 5"/>
          <p:cNvSpPr/>
          <p:nvPr/>
        </p:nvSpPr>
        <p:spPr>
          <a:xfrm>
            <a:off x="7645401" y="1788134"/>
            <a:ext cx="3662680" cy="21740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8595B"/>
                </a:solidFill>
                <a:latin typeface="Inter" pitchFamily="34" charset="0"/>
                <a:ea typeface="Inter" pitchFamily="34" charset="-122"/>
                <a:cs typeface="Inter" pitchFamily="34" charset="-120"/>
              </a:rPr>
              <a:t>HOW WE WILL MEASURE IT</a:t>
            </a:r>
            <a:endParaRPr lang="en-US" sz="1200" dirty="0"/>
          </a:p>
        </p:txBody>
      </p:sp>
      <p:sp>
        <p:nvSpPr>
          <p:cNvPr id="8" name="Shape 6"/>
          <p:cNvSpPr/>
          <p:nvPr/>
        </p:nvSpPr>
        <p:spPr>
          <a:xfrm>
            <a:off x="815975" y="2046817"/>
            <a:ext cx="10560051" cy="565626"/>
          </a:xfrm>
          <a:prstGeom prst="roundRect">
            <a:avLst>
              <a:gd name="adj" fmla="val 842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9" name="Text 7"/>
          <p:cNvSpPr/>
          <p:nvPr/>
        </p:nvSpPr>
        <p:spPr>
          <a:xfrm>
            <a:off x="995680" y="2233613"/>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0A1E"/>
                </a:solidFill>
                <a:latin typeface="Inter" pitchFamily="34" charset="0"/>
                <a:ea typeface="Inter" pitchFamily="34" charset="-122"/>
                <a:cs typeface="Inter" pitchFamily="34" charset="-120"/>
              </a:rPr>
              <a:t>Vague language</a:t>
            </a:r>
            <a:endParaRPr lang="en-US" sz="1200" dirty="0"/>
          </a:p>
        </p:txBody>
      </p:sp>
      <p:pic>
        <p:nvPicPr>
          <p:cNvPr id="10" name="Image 0" descr="arrow-right">    </p:cNvPr>
          <p:cNvPicPr>
            <a:picLocks noChangeAspect="1"/>
          </p:cNvPicPr>
          <p:nvPr/>
        </p:nvPicPr>
        <p:blipFill>
          <a:blip r:embed="rId1"/>
          <a:srcRect l="0" r="0" t="0" b="0"/>
          <a:stretch/>
        </p:blipFill>
        <p:spPr>
          <a:xfrm>
            <a:off x="3281680" y="2266130"/>
            <a:ext cx="254000" cy="127000"/>
          </a:xfrm>
          <a:prstGeom prst="rect">
            <a:avLst/>
          </a:prstGeom>
        </p:spPr>
      </p:pic>
      <p:sp>
        <p:nvSpPr>
          <p:cNvPr id="11" name="Text 8"/>
          <p:cNvSpPr/>
          <p:nvPr/>
        </p:nvSpPr>
        <p:spPr>
          <a:xfrm>
            <a:off x="3662680" y="2137622"/>
            <a:ext cx="3966159" cy="40941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Requirements stated as business outcomes, not technology</a:t>
            </a:r>
            <a:endParaRPr lang="en-US" sz="1200" dirty="0"/>
          </a:p>
        </p:txBody>
      </p:sp>
      <p:pic>
        <p:nvPicPr>
          <p:cNvPr id="12" name="Image 1" descr="Activity">    </p:cNvPr>
          <p:cNvPicPr>
            <a:picLocks noChangeAspect="1"/>
          </p:cNvPicPr>
          <p:nvPr/>
        </p:nvPicPr>
        <p:blipFill>
          <a:blip r:embed="rId2"/>
          <a:srcRect l="0" r="0" t="0" b="0"/>
          <a:stretch/>
        </p:blipFill>
        <p:spPr>
          <a:xfrm>
            <a:off x="7640320" y="2240730"/>
            <a:ext cx="177800" cy="177800"/>
          </a:xfrm>
          <a:prstGeom prst="rect">
            <a:avLst/>
          </a:prstGeom>
        </p:spPr>
      </p:pic>
      <p:sp>
        <p:nvSpPr>
          <p:cNvPr id="13" name="Text 9"/>
          <p:cNvSpPr/>
          <p:nvPr/>
        </p:nvSpPr>
        <p:spPr>
          <a:xfrm>
            <a:off x="7894320" y="2137622"/>
            <a:ext cx="3401060" cy="40941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Clarification loops per feature between BSAs and engineering</a:t>
            </a:r>
            <a:endParaRPr lang="en-US" sz="1200" dirty="0"/>
          </a:p>
        </p:txBody>
      </p:sp>
      <p:sp>
        <p:nvSpPr>
          <p:cNvPr id="14" name="Shape 10"/>
          <p:cNvSpPr/>
          <p:nvPr/>
        </p:nvSpPr>
        <p:spPr>
          <a:xfrm>
            <a:off x="815975" y="2682293"/>
            <a:ext cx="10560051" cy="565626"/>
          </a:xfrm>
          <a:prstGeom prst="roundRect">
            <a:avLst>
              <a:gd name="adj" fmla="val 842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15" name="Text 11"/>
          <p:cNvSpPr/>
          <p:nvPr/>
        </p:nvSpPr>
        <p:spPr>
          <a:xfrm>
            <a:off x="995680" y="2869089"/>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0A1E"/>
                </a:solidFill>
                <a:latin typeface="Inter" pitchFamily="34" charset="0"/>
                <a:ea typeface="Inter" pitchFamily="34" charset="-122"/>
                <a:cs typeface="Inter" pitchFamily="34" charset="-120"/>
              </a:rPr>
              <a:t>Inconsistent terminology</a:t>
            </a:r>
            <a:endParaRPr lang="en-US" sz="1200" dirty="0"/>
          </a:p>
        </p:txBody>
      </p:sp>
      <p:pic>
        <p:nvPicPr>
          <p:cNvPr id="16" name="Image 2" descr="arrow-right">    </p:cNvPr>
          <p:cNvPicPr>
            <a:picLocks noChangeAspect="1"/>
          </p:cNvPicPr>
          <p:nvPr/>
        </p:nvPicPr>
        <p:blipFill>
          <a:blip r:embed="rId3"/>
          <a:srcRect l="0" r="0" t="0" b="0"/>
          <a:stretch/>
        </p:blipFill>
        <p:spPr>
          <a:xfrm>
            <a:off x="3281680" y="2901606"/>
            <a:ext cx="254000" cy="127000"/>
          </a:xfrm>
          <a:prstGeom prst="rect">
            <a:avLst/>
          </a:prstGeom>
        </p:spPr>
      </p:pic>
      <p:sp>
        <p:nvSpPr>
          <p:cNvPr id="17" name="Text 12"/>
          <p:cNvSpPr/>
          <p:nvPr/>
        </p:nvSpPr>
        <p:spPr>
          <a:xfrm>
            <a:off x="3662680" y="2773098"/>
            <a:ext cx="3966159" cy="40941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One Ubiquitous Language shared by business and engineering</a:t>
            </a:r>
            <a:endParaRPr lang="en-US" sz="1200" dirty="0"/>
          </a:p>
        </p:txBody>
      </p:sp>
      <p:pic>
        <p:nvPicPr>
          <p:cNvPr id="18" name="Image 3" descr="Activity">    </p:cNvPr>
          <p:cNvPicPr>
            <a:picLocks noChangeAspect="1"/>
          </p:cNvPicPr>
          <p:nvPr/>
        </p:nvPicPr>
        <p:blipFill>
          <a:blip r:embed="rId4"/>
          <a:srcRect l="0" r="0" t="0" b="0"/>
          <a:stretch/>
        </p:blipFill>
        <p:spPr>
          <a:xfrm>
            <a:off x="7640320" y="2876180"/>
            <a:ext cx="177800" cy="177800"/>
          </a:xfrm>
          <a:prstGeom prst="rect">
            <a:avLst/>
          </a:prstGeom>
        </p:spPr>
      </p:pic>
      <p:sp>
        <p:nvSpPr>
          <p:cNvPr id="19" name="Text 13"/>
          <p:cNvSpPr/>
          <p:nvPr/>
        </p:nvSpPr>
        <p:spPr>
          <a:xfrm>
            <a:off x="7894320" y="2869089"/>
            <a:ext cx="3478530"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Term conflicts found and resolved before handoff</a:t>
            </a:r>
            <a:endParaRPr lang="en-US" sz="1200" dirty="0"/>
          </a:p>
        </p:txBody>
      </p:sp>
      <p:sp>
        <p:nvSpPr>
          <p:cNvPr id="20" name="Shape 14"/>
          <p:cNvSpPr/>
          <p:nvPr/>
        </p:nvSpPr>
        <p:spPr>
          <a:xfrm>
            <a:off x="815975" y="3317769"/>
            <a:ext cx="10560051" cy="565626"/>
          </a:xfrm>
          <a:prstGeom prst="roundRect">
            <a:avLst>
              <a:gd name="adj" fmla="val 8420"/>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1" name="Text 15"/>
          <p:cNvSpPr/>
          <p:nvPr/>
        </p:nvSpPr>
        <p:spPr>
          <a:xfrm>
            <a:off x="995680" y="3504565"/>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0A1E"/>
                </a:solidFill>
                <a:latin typeface="Inter" pitchFamily="34" charset="0"/>
                <a:ea typeface="Inter" pitchFamily="34" charset="-122"/>
                <a:cs typeface="Inter" pitchFamily="34" charset="-120"/>
              </a:rPr>
              <a:t>Hidden exceptions</a:t>
            </a:r>
            <a:endParaRPr lang="en-US" sz="1200" dirty="0"/>
          </a:p>
        </p:txBody>
      </p:sp>
      <p:pic>
        <p:nvPicPr>
          <p:cNvPr id="22" name="Image 4" descr="arrow-right">    </p:cNvPr>
          <p:cNvPicPr>
            <a:picLocks noChangeAspect="1"/>
          </p:cNvPicPr>
          <p:nvPr/>
        </p:nvPicPr>
        <p:blipFill>
          <a:blip r:embed="rId5"/>
          <a:srcRect l="0" r="0" t="0" b="0"/>
          <a:stretch/>
        </p:blipFill>
        <p:spPr>
          <a:xfrm>
            <a:off x="3281680" y="3537083"/>
            <a:ext cx="254000" cy="127000"/>
          </a:xfrm>
          <a:prstGeom prst="rect">
            <a:avLst/>
          </a:prstGeom>
        </p:spPr>
      </p:pic>
      <p:sp>
        <p:nvSpPr>
          <p:cNvPr id="23" name="Text 16"/>
          <p:cNvSpPr/>
          <p:nvPr/>
        </p:nvSpPr>
        <p:spPr>
          <a:xfrm>
            <a:off x="3662680" y="3408575"/>
            <a:ext cx="3966159" cy="409416"/>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Every exception enumerated; decision tables proven complete</a:t>
            </a:r>
            <a:endParaRPr lang="en-US" sz="1200" dirty="0"/>
          </a:p>
        </p:txBody>
      </p:sp>
      <p:pic>
        <p:nvPicPr>
          <p:cNvPr id="24" name="Image 5" descr="Activity">    </p:cNvPr>
          <p:cNvPicPr>
            <a:picLocks noChangeAspect="1"/>
          </p:cNvPicPr>
          <p:nvPr/>
        </p:nvPicPr>
        <p:blipFill>
          <a:blip r:embed="rId6"/>
          <a:srcRect l="0" r="0" t="0" b="0"/>
          <a:stretch/>
        </p:blipFill>
        <p:spPr>
          <a:xfrm>
            <a:off x="7640320" y="3511656"/>
            <a:ext cx="177800" cy="177800"/>
          </a:xfrm>
          <a:prstGeom prst="rect">
            <a:avLst/>
          </a:prstGeom>
        </p:spPr>
      </p:pic>
      <p:sp>
        <p:nvSpPr>
          <p:cNvPr id="25" name="Text 17"/>
          <p:cNvSpPr/>
          <p:nvPr/>
        </p:nvSpPr>
        <p:spPr>
          <a:xfrm>
            <a:off x="7894320" y="3504565"/>
            <a:ext cx="3401060"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decision tables with verified coverage</a:t>
            </a:r>
            <a:endParaRPr lang="en-US" sz="1200" dirty="0"/>
          </a:p>
        </p:txBody>
      </p:sp>
      <p:sp>
        <p:nvSpPr>
          <p:cNvPr id="26" name="Shape 18"/>
          <p:cNvSpPr/>
          <p:nvPr/>
        </p:nvSpPr>
        <p:spPr>
          <a:xfrm>
            <a:off x="815975" y="3953246"/>
            <a:ext cx="10560051" cy="373618"/>
          </a:xfrm>
          <a:prstGeom prst="roundRect">
            <a:avLst>
              <a:gd name="adj" fmla="val 1274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27" name="Text 19"/>
          <p:cNvSpPr/>
          <p:nvPr/>
        </p:nvSpPr>
        <p:spPr>
          <a:xfrm>
            <a:off x="995680" y="4044050"/>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0A1E"/>
                </a:solidFill>
                <a:latin typeface="Inter" pitchFamily="34" charset="0"/>
                <a:ea typeface="Inter" pitchFamily="34" charset="-122"/>
                <a:cs typeface="Inter" pitchFamily="34" charset="-120"/>
              </a:rPr>
              <a:t>Weak acceptance criteria</a:t>
            </a:r>
            <a:endParaRPr lang="en-US" sz="1200" dirty="0"/>
          </a:p>
        </p:txBody>
      </p:sp>
      <p:pic>
        <p:nvPicPr>
          <p:cNvPr id="28" name="Image 6" descr="arrow-right">    </p:cNvPr>
          <p:cNvPicPr>
            <a:picLocks noChangeAspect="1"/>
          </p:cNvPicPr>
          <p:nvPr/>
        </p:nvPicPr>
        <p:blipFill>
          <a:blip r:embed="rId7"/>
          <a:srcRect l="0" r="0" t="0" b="0"/>
          <a:stretch/>
        </p:blipFill>
        <p:spPr>
          <a:xfrm>
            <a:off x="3281680" y="4076541"/>
            <a:ext cx="254000" cy="127000"/>
          </a:xfrm>
          <a:prstGeom prst="rect">
            <a:avLst/>
          </a:prstGeom>
        </p:spPr>
      </p:pic>
      <p:sp>
        <p:nvSpPr>
          <p:cNvPr id="29" name="Text 20"/>
          <p:cNvSpPr/>
          <p:nvPr/>
        </p:nvSpPr>
        <p:spPr>
          <a:xfrm>
            <a:off x="3662680" y="4044050"/>
            <a:ext cx="3966159"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Every rule mapped to the test evidence that proves it</a:t>
            </a:r>
            <a:endParaRPr lang="en-US" sz="1200" dirty="0"/>
          </a:p>
        </p:txBody>
      </p:sp>
      <p:pic>
        <p:nvPicPr>
          <p:cNvPr id="30" name="Image 7" descr="Activity">    </p:cNvPr>
          <p:cNvPicPr>
            <a:picLocks noChangeAspect="1"/>
          </p:cNvPicPr>
          <p:nvPr/>
        </p:nvPicPr>
        <p:blipFill>
          <a:blip r:embed="rId8"/>
          <a:srcRect l="0" r="0" t="0" b="0"/>
          <a:stretch/>
        </p:blipFill>
        <p:spPr>
          <a:xfrm>
            <a:off x="7640320" y="4051141"/>
            <a:ext cx="177800" cy="177800"/>
          </a:xfrm>
          <a:prstGeom prst="rect">
            <a:avLst/>
          </a:prstGeom>
        </p:spPr>
      </p:pic>
      <p:sp>
        <p:nvSpPr>
          <p:cNvPr id="31" name="Text 21"/>
          <p:cNvSpPr/>
          <p:nvPr/>
        </p:nvSpPr>
        <p:spPr>
          <a:xfrm>
            <a:off x="7894320" y="4044050"/>
            <a:ext cx="3401060"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 of acceptance criteria tied to executable tests</a:t>
            </a:r>
            <a:endParaRPr lang="en-US" sz="1200" dirty="0"/>
          </a:p>
        </p:txBody>
      </p:sp>
      <p:sp>
        <p:nvSpPr>
          <p:cNvPr id="32" name="Shape 22"/>
          <p:cNvSpPr/>
          <p:nvPr/>
        </p:nvSpPr>
        <p:spPr>
          <a:xfrm>
            <a:off x="815975" y="4396714"/>
            <a:ext cx="10560051" cy="373618"/>
          </a:xfrm>
          <a:prstGeom prst="roundRect">
            <a:avLst>
              <a:gd name="adj" fmla="val 12747"/>
            </a:avLst>
          </a:prstGeom>
          <a:solidFill>
            <a:srgbClr val="FFFFFF"/>
          </a:solidFill>
          <a:ln w="6350">
            <a:solidFill>
              <a:srgbClr val="E6E6E6"/>
            </a:solidFill>
            <a:prstDash val="solid"/>
          </a:ln>
          <a:effectLst>
            <a:outerShdw sx="100000" sy="100000" kx="0" ky="0" algn="bl" rotWithShape="0" blurRad="88900" dist="25400" dir="5400000">
              <a:srgbClr val="000000">
                <a:alpha val="8000"/>
              </a:srgbClr>
            </a:outerShdw>
          </a:effectLst>
        </p:spPr>
      </p:sp>
      <p:sp>
        <p:nvSpPr>
          <p:cNvPr id="33" name="Text 23"/>
          <p:cNvSpPr/>
          <p:nvPr/>
        </p:nvSpPr>
        <p:spPr>
          <a:xfrm>
            <a:off x="995680" y="4487519"/>
            <a:ext cx="222377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B0A1E"/>
                </a:solidFill>
                <a:latin typeface="Inter" pitchFamily="34" charset="0"/>
                <a:ea typeface="Inter" pitchFamily="34" charset="-122"/>
                <a:cs typeface="Inter" pitchFamily="34" charset="-120"/>
              </a:rPr>
              <a:t>Fragmented scope</a:t>
            </a:r>
            <a:endParaRPr lang="en-US" sz="1200" dirty="0"/>
          </a:p>
        </p:txBody>
      </p:sp>
      <p:pic>
        <p:nvPicPr>
          <p:cNvPr id="34" name="Image 8" descr="arrow-right">    </p:cNvPr>
          <p:cNvPicPr>
            <a:picLocks noChangeAspect="1"/>
          </p:cNvPicPr>
          <p:nvPr/>
        </p:nvPicPr>
        <p:blipFill>
          <a:blip r:embed="rId9"/>
          <a:srcRect l="0" r="0" t="0" b="0"/>
          <a:stretch/>
        </p:blipFill>
        <p:spPr>
          <a:xfrm>
            <a:off x="3281680" y="4520010"/>
            <a:ext cx="254000" cy="127000"/>
          </a:xfrm>
          <a:prstGeom prst="rect">
            <a:avLst/>
          </a:prstGeom>
        </p:spPr>
      </p:pic>
      <p:sp>
        <p:nvSpPr>
          <p:cNvPr id="35" name="Text 24"/>
          <p:cNvSpPr/>
          <p:nvPr/>
        </p:nvSpPr>
        <p:spPr>
          <a:xfrm>
            <a:off x="3662680" y="4487519"/>
            <a:ext cx="397764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A1A1A"/>
                </a:solidFill>
                <a:latin typeface="Inter" pitchFamily="34" charset="0"/>
                <a:ea typeface="Inter" pitchFamily="34" charset="-122"/>
                <a:cs typeface="Inter" pitchFamily="34" charset="-120"/>
              </a:rPr>
              <a:t>Features specified end to end across teams and systems</a:t>
            </a:r>
            <a:endParaRPr lang="en-US" sz="1200" dirty="0"/>
          </a:p>
        </p:txBody>
      </p:sp>
      <p:pic>
        <p:nvPicPr>
          <p:cNvPr id="36" name="Image 9" descr="Activity">    </p:cNvPr>
          <p:cNvPicPr>
            <a:picLocks noChangeAspect="1"/>
          </p:cNvPicPr>
          <p:nvPr/>
        </p:nvPicPr>
        <p:blipFill>
          <a:blip r:embed="rId10"/>
          <a:srcRect l="0" r="0" t="0" b="0"/>
          <a:stretch/>
        </p:blipFill>
        <p:spPr>
          <a:xfrm>
            <a:off x="7640320" y="4494610"/>
            <a:ext cx="177800" cy="177800"/>
          </a:xfrm>
          <a:prstGeom prst="rect">
            <a:avLst/>
          </a:prstGeom>
        </p:spPr>
      </p:pic>
      <p:sp>
        <p:nvSpPr>
          <p:cNvPr id="37" name="Text 25"/>
          <p:cNvSpPr/>
          <p:nvPr/>
        </p:nvSpPr>
        <p:spPr>
          <a:xfrm>
            <a:off x="7894320" y="4487519"/>
            <a:ext cx="3401060"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8595B"/>
                </a:solidFill>
                <a:latin typeface="Inter" pitchFamily="34" charset="0"/>
                <a:ea typeface="Inter" pitchFamily="34" charset="-122"/>
                <a:cs typeface="Inter" pitchFamily="34" charset="-120"/>
              </a:rPr>
              <a:t>Rework cycles traced to requirement gaps</a:t>
            </a:r>
            <a:endParaRPr lang="en-US" sz="1200" dirty="0"/>
          </a:p>
        </p:txBody>
      </p:sp>
      <p:sp>
        <p:nvSpPr>
          <p:cNvPr id="38" name="Shape 26"/>
          <p:cNvSpPr/>
          <p:nvPr/>
        </p:nvSpPr>
        <p:spPr>
          <a:xfrm>
            <a:off x="812800" y="5052907"/>
            <a:ext cx="10566401" cy="369808"/>
          </a:xfrm>
          <a:prstGeom prst="roundRect">
            <a:avLst>
              <a:gd name="adj" fmla="val 13737"/>
            </a:avLst>
          </a:prstGeom>
          <a:solidFill>
            <a:srgbClr val="1A1A1A"/>
          </a:solidFill>
          <a:ln/>
        </p:spPr>
      </p:sp>
      <p:sp>
        <p:nvSpPr>
          <p:cNvPr id="39" name="Text 27"/>
          <p:cNvSpPr/>
          <p:nvPr/>
        </p:nvSpPr>
        <p:spPr>
          <a:xfrm>
            <a:off x="1016000" y="5141807"/>
            <a:ext cx="1313868" cy="217408"/>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FF5A67"/>
                </a:solidFill>
                <a:latin typeface="Inter" pitchFamily="34" charset="0"/>
                <a:ea typeface="Inter" pitchFamily="34" charset="-122"/>
                <a:cs typeface="Inter" pitchFamily="34" charset="-120"/>
              </a:rPr>
              <a:t>BASELINE FIRST</a:t>
            </a:r>
            <a:endParaRPr lang="en-US" sz="1200" dirty="0"/>
          </a:p>
        </p:txBody>
      </p:sp>
      <p:sp>
        <p:nvSpPr>
          <p:cNvPr id="40" name="Text 28"/>
          <p:cNvSpPr/>
          <p:nvPr/>
        </p:nvSpPr>
        <p:spPr>
          <a:xfrm>
            <a:off x="2456868" y="5141807"/>
            <a:ext cx="7331107"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Measured on current Titles features before the PoC; targets agreed with the Panel at approval.</a:t>
            </a:r>
            <a:endParaRPr lang="en-US" sz="1200" dirty="0"/>
          </a:p>
        </p:txBody>
      </p:sp>
      <p:sp>
        <p:nvSpPr>
          <p:cNvPr id="41" name="Text 29"/>
          <p:cNvSpPr/>
          <p:nvPr/>
        </p:nvSpPr>
        <p:spPr>
          <a:xfrm>
            <a:off x="812800" y="6259592"/>
            <a:ext cx="7848601" cy="21740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Proof of concept proposal · Policy CP6.55</a:t>
            </a:r>
            <a:endParaRPr lang="en-US" sz="1200" dirty="0"/>
          </a:p>
        </p:txBody>
      </p:sp>
      <p:sp>
        <p:nvSpPr>
          <p:cNvPr id="42" name="Text 30"/>
          <p:cNvSpPr/>
          <p:nvPr/>
        </p:nvSpPr>
        <p:spPr>
          <a:xfrm>
            <a:off x="10058401" y="6259592"/>
            <a:ext cx="1320800" cy="21740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BM Plex Mono" pitchFamily="49" charset="0"/>
                <a:ea typeface="IBM Plex Mono" pitchFamily="49" charset="-122"/>
                <a:cs typeface="IBM Plex Mono" pitchFamily="49" charset="-120"/>
              </a:rPr>
              <a:t>09 / 23</a:t>
            </a:r>
            <a:endParaRPr lang="en-US" sz="1200" dirty="0"/>
          </a:p>
        </p:txBody>
      </p:sp>
      <p:sp>
        <p:nvSpPr>
          <p:cNvPr id="43" name="Text 31"/>
          <p:cNvSpPr/>
          <p:nvPr/>
        </p:nvSpPr>
        <p:spPr>
          <a:xfrm>
            <a:off x="812800" y="177800"/>
            <a:ext cx="5886450" cy="217408"/>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111"/>
                </a:solidFill>
                <a:latin typeface="Inter" pitchFamily="34" charset="0"/>
                <a:ea typeface="Inter" pitchFamily="34" charset="-122"/>
                <a:cs typeface="Inter" pitchFamily="34" charset="-120"/>
              </a:rPr>
              <a:t>Intent Discovery Service</a:t>
            </a:r>
            <a:endParaRPr lang="en-US" sz="1200" dirty="0"/>
          </a:p>
        </p:txBody>
      </p:sp>
      <p:sp>
        <p:nvSpPr>
          <p:cNvPr id="44" name="Text 32"/>
          <p:cNvSpPr/>
          <p:nvPr/>
        </p:nvSpPr>
        <p:spPr>
          <a:xfrm>
            <a:off x="6800850" y="177800"/>
            <a:ext cx="4578350" cy="217408"/>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6B6B"/>
                </a:solidFill>
                <a:latin typeface="Inter" pitchFamily="34" charset="0"/>
                <a:ea typeface="Inter" pitchFamily="34" charset="-122"/>
                <a:cs typeface="Inter" pitchFamily="34" charset="-120"/>
              </a:rPr>
              <a:t>GenAI Governance Panel</a:t>
            </a:r>
            <a:endParaRPr lang="en-US" sz="1200" dirty="0"/>
          </a:p>
        </p:txBody>
      </p:sp>
      <p:pic>
        <p:nvPicPr>
          <p:cNvPr id="45" name="Image 10" descr="line">    </p:cNvPr>
          <p:cNvPicPr>
            <a:picLocks noChangeAspect="1"/>
          </p:cNvPicPr>
          <p:nvPr/>
        </p:nvPicPr>
        <p:blipFill>
          <a:blip r:embed="rId11"/>
          <a:srcRect l="-1137" r="-1137" t="0" b="0"/>
          <a:stretch/>
        </p:blipFill>
        <p:spPr>
          <a:xfrm>
            <a:off x="0" y="533400"/>
            <a:ext cx="12192001" cy="37253"/>
          </a:xfrm>
          <a:prstGeom prst="rect">
            <a:avLst/>
          </a:prstGeom>
        </p:spPr>
      </p:pic>
    </p:spTree>
  </p:cSld>
  <p:clrMapOvr>
    <a:masterClrMapping/>
  </p:clrMapOvr>
</p:sld>
</file>

<file path=ppt/theme/theme1.xml><?xml version="1.0" encoding="utf-8"?>
<a:theme xmlns:a="http://schemas.openxmlformats.org/drawingml/2006/main" name="Intent Discovery Service — Benefits slide (redesign)">
  <a:themeElements>
    <a:clrScheme name="Intent Discovery Service — Benefits slide (redesign)">
      <a:dk1>
        <a:srgbClr val="1A1A1A"/>
      </a:dk1>
      <a:lt1>
        <a:srgbClr val="FFFFFF"/>
      </a:lt1>
      <a:dk2>
        <a:srgbClr val="535353"/>
      </a:dk2>
      <a:lt2>
        <a:srgbClr val="E8E8E8"/>
      </a:lt2>
      <a:accent1>
        <a:srgbClr val="EB0A1E"/>
      </a:accent1>
      <a:accent2>
        <a:srgbClr val="FF5A67"/>
      </a:accent2>
      <a:accent3>
        <a:srgbClr val="58595B"/>
      </a:accent3>
      <a:accent4>
        <a:srgbClr val="6B6B6B"/>
      </a:accent4>
      <a:accent5>
        <a:srgbClr val="9AA0A6"/>
      </a:accent5>
      <a:accent6>
        <a:srgbClr val="767676"/>
      </a:accent6>
      <a:hlink>
        <a:srgbClr val="0563C1"/>
      </a:hlink>
      <a:folHlink>
        <a:srgbClr val="954F72"/>
      </a:folHlink>
    </a:clrScheme>
    <a:fontScheme name="Intent Discovery Service — Benefits slide (redesig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Intent Discovery Service — Benefits slide (redesign)</dc:title>
  <dc:subject/>
  <dc:creator/>
  <cp:lastModifiedBy/>
  <cp:revision>1</cp:revision>
  <dcterms:created xsi:type="dcterms:W3CDTF">2026-10-02T02:02:26Z</dcterms:created>
  <dcterms:modified xsi:type="dcterms:W3CDTF">2026-10-02T02:02:26Z</dcterms:modified>
</cp:coreProperties>
</file>